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8580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6CEF35-E87D-44F1-B121-F5B6ACD7697A}">
  <a:tblStyle styleId="{726CEF35-E87D-44F1-B121-F5B6ACD7697A}" styleName="Table_0">
    <a:wholeTbl>
      <a:tcTxStyle b="off" i="off">
        <a:font>
          <a:latin typeface="Arial"/>
          <a:ea typeface="Arial"/>
          <a:cs typeface="Arial"/>
        </a:font>
        <a:srgbClr val="000000"/>
      </a:tcTxStyle>
      <a:tcStyle>
        <a:tcBdr>
          <a:left>
            <a:ln cap="flat" cmpd="sng" w="12700">
              <a:solidFill>
                <a:srgbClr val="A32020"/>
              </a:solidFill>
              <a:prstDash val="solid"/>
              <a:round/>
              <a:headEnd len="sm" w="sm" type="none"/>
              <a:tailEnd len="sm" w="sm" type="none"/>
            </a:ln>
          </a:left>
          <a:right>
            <a:ln cap="flat" cmpd="sng" w="12700">
              <a:solidFill>
                <a:srgbClr val="A32020"/>
              </a:solidFill>
              <a:prstDash val="solid"/>
              <a:round/>
              <a:headEnd len="sm" w="sm" type="none"/>
              <a:tailEnd len="sm" w="sm" type="none"/>
            </a:ln>
          </a:right>
          <a:top>
            <a:ln cap="flat" cmpd="sng" w="12700">
              <a:solidFill>
                <a:srgbClr val="A32020"/>
              </a:solidFill>
              <a:prstDash val="solid"/>
              <a:round/>
              <a:headEnd len="sm" w="sm" type="none"/>
              <a:tailEnd len="sm" w="sm" type="none"/>
            </a:ln>
          </a:top>
          <a:bottom>
            <a:ln cap="flat" cmpd="sng" w="12700">
              <a:solidFill>
                <a:srgbClr val="A32020"/>
              </a:solidFill>
              <a:prstDash val="solid"/>
              <a:round/>
              <a:headEnd len="sm" w="sm" type="none"/>
              <a:tailEnd len="sm" w="sm" type="none"/>
            </a:ln>
          </a:bottom>
          <a:insideH>
            <a:ln cap="flat" cmpd="sng" w="12700">
              <a:solidFill>
                <a:srgbClr val="A32020"/>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solidFill>
        </a:fill>
      </a:tcStyle>
    </a:wholeTbl>
    <a:band1H>
      <a:tcTxStyle/>
      <a:tcStyle>
        <a:fill>
          <a:solidFill>
            <a:srgbClr val="F0E7E7"/>
          </a:solidFill>
        </a:fill>
      </a:tcStyle>
    </a:band1H>
    <a:band2H>
      <a:tcTxStyle/>
    </a:band2H>
    <a:band1V>
      <a:tcTxStyle/>
      <a:tcStyle>
        <a:fill>
          <a:solidFill>
            <a:srgbClr val="F0E7E7"/>
          </a:solidFill>
        </a:fill>
      </a:tcStyle>
    </a:band1V>
    <a:band2V>
      <a:tcTxStyle/>
    </a:band2V>
    <a:lastCol>
      <a:tcTxStyle b="on" i="off"/>
    </a:lastCol>
    <a:firstCol>
      <a:tcTxStyle b="on" i="off"/>
    </a:firstCol>
    <a:lastRow>
      <a:tcTxStyle b="on" i="off"/>
      <a:tcStyle>
        <a:tcBdr>
          <a:top>
            <a:ln cap="flat" cmpd="sng" w="50800">
              <a:solidFill>
                <a:srgbClr val="A32020"/>
              </a:solidFill>
              <a:prstDash val="solid"/>
              <a:round/>
              <a:headEnd len="sm" w="sm" type="none"/>
              <a:tailEnd len="sm" w="sm" type="none"/>
            </a:ln>
          </a:top>
        </a:tcBdr>
        <a:fill>
          <a:solidFill>
            <a:srgbClr val="FFFFFF"/>
          </a:solidFill>
        </a:fill>
      </a:tcStyle>
    </a:lastRow>
    <a:seCell>
      <a:tcTxStyle/>
    </a:seCell>
    <a:swCell>
      <a:tcTxStyle/>
    </a:swCell>
    <a:firstRow>
      <a:tcTxStyle b="on" i="off">
        <a:font>
          <a:latin typeface="Arial"/>
          <a:ea typeface="Arial"/>
          <a:cs typeface="Arial"/>
        </a:font>
        <a:srgbClr val="FFFFFF"/>
      </a:tcTxStyle>
      <a:tcStyle>
        <a:fill>
          <a:solidFill>
            <a:srgbClr val="A32020"/>
          </a:solidFill>
        </a:fill>
      </a:tcStyle>
    </a:firstRow>
    <a:neCell>
      <a:tcTxStyle/>
    </a:neCell>
    <a:nwCell>
      <a:tcTxStyle/>
    </a:nwCell>
  </a:tblStyle>
  <a:tblStyle styleId="{63073775-0C0F-4C1C-ADCE-2F534EA4507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482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6482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15790"/>
            <a:ext cx="5486400" cy="418338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2971800" cy="46482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829967"/>
            <a:ext cx="2971800" cy="46482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7308f39e49_0_0: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Deals (where is deals going to go)</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Revenue optimization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Account Pe</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GEP needs to speak to it</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FInTech and Deal pieple FDD/CFT</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Current client</a:t>
            </a:r>
            <a:endParaRPr i="1" sz="700">
              <a:highlight>
                <a:schemeClr val="lt1"/>
              </a:highlight>
              <a:latin typeface="Georgia"/>
              <a:ea typeface="Georgia"/>
              <a:cs typeface="Georgia"/>
              <a:sym typeface="Georgia"/>
            </a:endParaRPr>
          </a:p>
        </p:txBody>
      </p:sp>
      <p:sp>
        <p:nvSpPr>
          <p:cNvPr id="247" name="Google Shape;247;g7308f39e49_0_0: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5fb3ff44ce_0_0: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5fb3ff44ce_0_0: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72048f4005_1_32: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72048f4005_1_32: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72048f4005_1_32:notes"/>
          <p:cNvSpPr txBox="1"/>
          <p:nvPr>
            <p:ph idx="12" type="sldNum"/>
          </p:nvPr>
        </p:nvSpPr>
        <p:spPr>
          <a:xfrm>
            <a:off x="3884613" y="8829967"/>
            <a:ext cx="2971800" cy="464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7fbb534ae7_0_0: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Deals (where is deals going to go)</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Revenue optimization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Account Pe</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GEP needs to speak to it</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FInTech and Deal pieple FDD/CFT</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Current client</a:t>
            </a:r>
            <a:endParaRPr i="1" sz="700">
              <a:highlight>
                <a:schemeClr val="lt1"/>
              </a:highlight>
              <a:latin typeface="Georgia"/>
              <a:ea typeface="Georgia"/>
              <a:cs typeface="Georgia"/>
              <a:sym typeface="Georgia"/>
            </a:endParaRPr>
          </a:p>
        </p:txBody>
      </p:sp>
      <p:sp>
        <p:nvSpPr>
          <p:cNvPr id="270" name="Google Shape;270;g7fbb534ae7_0_0: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72048f4005_1_7: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Deals (where is deals going to go)</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Revenue optimization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Account Pe</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GEP needs to speak to it</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Current client</a:t>
            </a:r>
            <a:endParaRPr i="1" sz="700">
              <a:highlight>
                <a:schemeClr val="lt1"/>
              </a:highlight>
              <a:latin typeface="Georgia"/>
              <a:ea typeface="Georgia"/>
              <a:cs typeface="Georgia"/>
              <a:sym typeface="Georgia"/>
            </a:endParaRPr>
          </a:p>
        </p:txBody>
      </p:sp>
      <p:sp>
        <p:nvSpPr>
          <p:cNvPr id="278" name="Google Shape;278;g72048f4005_1_7: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74ccd5fc3_0_0: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Deals (where is deals going to go)</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Revenue optimization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Account Pe</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GEP needs to speak to it</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Current client</a:t>
            </a:r>
            <a:endParaRPr i="1" sz="700">
              <a:highlight>
                <a:schemeClr val="lt1"/>
              </a:highlight>
              <a:latin typeface="Georgia"/>
              <a:ea typeface="Georgia"/>
              <a:cs typeface="Georgia"/>
              <a:sym typeface="Georgia"/>
            </a:endParaRPr>
          </a:p>
        </p:txBody>
      </p:sp>
      <p:sp>
        <p:nvSpPr>
          <p:cNvPr id="286" name="Google Shape;286;g274ccd5fc3_0_0: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72048f4005_1_0: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Deals (where is deals going to go)</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Revenue optimization (</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rPr i="1" lang="en-GB" sz="700">
                <a:highlight>
                  <a:schemeClr val="lt1"/>
                </a:highlight>
                <a:latin typeface="Georgia"/>
                <a:ea typeface="Georgia"/>
                <a:cs typeface="Georgia"/>
                <a:sym typeface="Georgia"/>
              </a:rPr>
              <a:t>Account Pe</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GEP needs to speak to it</a:t>
            </a:r>
            <a:endParaRPr i="1" sz="700">
              <a:highlight>
                <a:schemeClr val="lt1"/>
              </a:highlight>
              <a:latin typeface="Georgia"/>
              <a:ea typeface="Georgia"/>
              <a:cs typeface="Georgia"/>
              <a:sym typeface="Georgia"/>
            </a:endParaRPr>
          </a:p>
          <a:p>
            <a:pPr indent="-273050" lvl="0" marL="457200" rtl="0" algn="l">
              <a:spcBef>
                <a:spcPts val="0"/>
              </a:spcBef>
              <a:spcAft>
                <a:spcPts val="0"/>
              </a:spcAft>
              <a:buSzPts val="700"/>
              <a:buFont typeface="Georgia"/>
              <a:buChar char="-"/>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t/>
            </a:r>
            <a:endParaRPr i="1" sz="700">
              <a:highlight>
                <a:schemeClr val="lt1"/>
              </a:highlight>
              <a:latin typeface="Georgia"/>
              <a:ea typeface="Georgia"/>
              <a:cs typeface="Georgia"/>
              <a:sym typeface="Georgia"/>
            </a:endParaRPr>
          </a:p>
          <a:p>
            <a:pPr indent="0" lvl="0" marL="0" rtl="0" algn="l">
              <a:spcBef>
                <a:spcPts val="0"/>
              </a:spcBef>
              <a:spcAft>
                <a:spcPts val="0"/>
              </a:spcAft>
              <a:buNone/>
            </a:pPr>
            <a:r>
              <a:rPr i="1" lang="en-GB" sz="700">
                <a:highlight>
                  <a:schemeClr val="lt1"/>
                </a:highlight>
                <a:latin typeface="Georgia"/>
                <a:ea typeface="Georgia"/>
                <a:cs typeface="Georgia"/>
                <a:sym typeface="Georgia"/>
              </a:rPr>
              <a:t>Current client</a:t>
            </a:r>
            <a:endParaRPr i="1" sz="700">
              <a:highlight>
                <a:schemeClr val="lt1"/>
              </a:highlight>
              <a:latin typeface="Georgia"/>
              <a:ea typeface="Georgia"/>
              <a:cs typeface="Georgia"/>
              <a:sym typeface="Georgia"/>
            </a:endParaRPr>
          </a:p>
        </p:txBody>
      </p:sp>
      <p:sp>
        <p:nvSpPr>
          <p:cNvPr id="294" name="Google Shape;294;g72048f4005_1_0: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72048f4005_1_22: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72048f4005_1_22: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72048f4005_1_22:notes"/>
          <p:cNvSpPr txBox="1"/>
          <p:nvPr>
            <p:ph idx="12" type="sldNum"/>
          </p:nvPr>
        </p:nvSpPr>
        <p:spPr>
          <a:xfrm>
            <a:off x="3884613" y="8829967"/>
            <a:ext cx="2971800" cy="464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72048f4005_1_14:notes"/>
          <p:cNvSpPr/>
          <p:nvPr>
            <p:ph idx="2" type="sldImg"/>
          </p:nvPr>
        </p:nvSpPr>
        <p:spPr>
          <a:xfrm>
            <a:off x="1104900" y="696913"/>
            <a:ext cx="4648200" cy="34863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72048f4005_1_14:notes"/>
          <p:cNvSpPr txBox="1"/>
          <p:nvPr>
            <p:ph idx="1" type="body"/>
          </p:nvPr>
        </p:nvSpPr>
        <p:spPr>
          <a:xfrm>
            <a:off x="685800" y="4415790"/>
            <a:ext cx="54864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72048f4005_1_14:notes"/>
          <p:cNvSpPr txBox="1"/>
          <p:nvPr>
            <p:ph idx="12" type="sldNum"/>
          </p:nvPr>
        </p:nvSpPr>
        <p:spPr>
          <a:xfrm>
            <a:off x="3884613" y="8829967"/>
            <a:ext cx="2971800" cy="464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e">
  <p:cSld name="Content: One">
    <p:spTree>
      <p:nvGrpSpPr>
        <p:cNvPr id="15" name="Shape 15"/>
        <p:cNvGrpSpPr/>
        <p:nvPr/>
      </p:nvGrpSpPr>
      <p:grpSpPr>
        <a:xfrm>
          <a:off x="0" y="0"/>
          <a:ext cx="0" cy="0"/>
          <a:chOff x="0" y="0"/>
          <a:chExt cx="0" cy="0"/>
        </a:xfrm>
      </p:grpSpPr>
      <p:sp>
        <p:nvSpPr>
          <p:cNvPr id="16" name="Google Shape;16;p2"/>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body"/>
          </p:nvPr>
        </p:nvSpPr>
        <p:spPr>
          <a:xfrm>
            <a:off x="533400" y="1752600"/>
            <a:ext cx="8077200"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18" name="Google Shape;18;p2"/>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 name="Google Shape;19;p2"/>
          <p:cNvSpPr txBox="1"/>
          <p:nvPr/>
        </p:nvSpPr>
        <p:spPr>
          <a:xfrm>
            <a:off x="533400" y="6477000"/>
            <a:ext cx="2590800" cy="1524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000" u="none" cap="none" strike="noStrike">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20" name="Google Shape;20;p2"/>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21" name="Google Shape;21;p2"/>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sz="1000" u="none">
                <a:solidFill>
                  <a:schemeClr val="dk1"/>
                </a:solidFill>
                <a:latin typeface="Arial"/>
                <a:ea typeface="Arial"/>
                <a:cs typeface="Arial"/>
                <a:sym typeface="Arial"/>
              </a:defRPr>
            </a:lvl1pPr>
            <a:lvl2pPr indent="0" lvl="1" marL="0" marR="0" rtl="0" algn="r">
              <a:spcBef>
                <a:spcPts val="0"/>
              </a:spcBef>
              <a:buNone/>
              <a:defRPr b="0" sz="1000" u="none">
                <a:solidFill>
                  <a:schemeClr val="dk1"/>
                </a:solidFill>
                <a:latin typeface="Arial"/>
                <a:ea typeface="Arial"/>
                <a:cs typeface="Arial"/>
                <a:sym typeface="Arial"/>
              </a:defRPr>
            </a:lvl2pPr>
            <a:lvl3pPr indent="0" lvl="2" marL="0" marR="0" rtl="0" algn="r">
              <a:spcBef>
                <a:spcPts val="0"/>
              </a:spcBef>
              <a:buNone/>
              <a:defRPr b="0" sz="1000" u="none">
                <a:solidFill>
                  <a:schemeClr val="dk1"/>
                </a:solidFill>
                <a:latin typeface="Arial"/>
                <a:ea typeface="Arial"/>
                <a:cs typeface="Arial"/>
                <a:sym typeface="Arial"/>
              </a:defRPr>
            </a:lvl3pPr>
            <a:lvl4pPr indent="0" lvl="3" marL="0" marR="0" rtl="0" algn="r">
              <a:spcBef>
                <a:spcPts val="0"/>
              </a:spcBef>
              <a:buNone/>
              <a:defRPr b="0" sz="1000" u="none">
                <a:solidFill>
                  <a:schemeClr val="dk1"/>
                </a:solidFill>
                <a:latin typeface="Arial"/>
                <a:ea typeface="Arial"/>
                <a:cs typeface="Arial"/>
                <a:sym typeface="Arial"/>
              </a:defRPr>
            </a:lvl4pPr>
            <a:lvl5pPr indent="0" lvl="4" marL="0" marR="0" rtl="0" algn="r">
              <a:spcBef>
                <a:spcPts val="0"/>
              </a:spcBef>
              <a:buNone/>
              <a:defRPr b="0" sz="1000" u="none">
                <a:solidFill>
                  <a:schemeClr val="dk1"/>
                </a:solidFill>
                <a:latin typeface="Arial"/>
                <a:ea typeface="Arial"/>
                <a:cs typeface="Arial"/>
                <a:sym typeface="Arial"/>
              </a:defRPr>
            </a:lvl5pPr>
            <a:lvl6pPr indent="0" lvl="5" marL="0" marR="0" rtl="0" algn="r">
              <a:spcBef>
                <a:spcPts val="0"/>
              </a:spcBef>
              <a:buNone/>
              <a:defRPr b="0" sz="1000" u="none">
                <a:solidFill>
                  <a:schemeClr val="dk1"/>
                </a:solidFill>
                <a:latin typeface="Arial"/>
                <a:ea typeface="Arial"/>
                <a:cs typeface="Arial"/>
                <a:sym typeface="Arial"/>
              </a:defRPr>
            </a:lvl6pPr>
            <a:lvl7pPr indent="0" lvl="6" marL="0" marR="0" rtl="0" algn="r">
              <a:spcBef>
                <a:spcPts val="0"/>
              </a:spcBef>
              <a:buNone/>
              <a:defRPr b="0" sz="1000" u="none">
                <a:solidFill>
                  <a:schemeClr val="dk1"/>
                </a:solidFill>
                <a:latin typeface="Arial"/>
                <a:ea typeface="Arial"/>
                <a:cs typeface="Arial"/>
                <a:sym typeface="Arial"/>
              </a:defRPr>
            </a:lvl7pPr>
            <a:lvl8pPr indent="0" lvl="7" marL="0" marR="0" rtl="0" algn="r">
              <a:spcBef>
                <a:spcPts val="0"/>
              </a:spcBef>
              <a:buNone/>
              <a:defRPr b="0" sz="1000" u="none">
                <a:solidFill>
                  <a:schemeClr val="dk1"/>
                </a:solidFill>
                <a:latin typeface="Arial"/>
                <a:ea typeface="Arial"/>
                <a:cs typeface="Arial"/>
                <a:sym typeface="Arial"/>
              </a:defRPr>
            </a:lvl8pPr>
            <a:lvl9pPr indent="0" lvl="8" marL="0" marR="0" rtl="0" algn="r">
              <a:spcBef>
                <a:spcPts val="0"/>
              </a:spcBef>
              <a:buNone/>
              <a:defRPr b="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2" name="Google Shape;22;p2"/>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spTree>
      <p:nvGrpSpPr>
        <p:cNvPr id="23" name="Shape 23"/>
        <p:cNvGrpSpPr/>
        <p:nvPr/>
      </p:nvGrpSpPr>
      <p:grpSpPr>
        <a:xfrm>
          <a:off x="0" y="0"/>
          <a:ext cx="0" cy="0"/>
          <a:chOff x="0" y="0"/>
          <a:chExt cx="0" cy="0"/>
        </a:xfrm>
      </p:grpSpPr>
      <p:grpSp>
        <p:nvGrpSpPr>
          <p:cNvPr id="24" name="Google Shape;24;p3"/>
          <p:cNvGrpSpPr/>
          <p:nvPr/>
        </p:nvGrpSpPr>
        <p:grpSpPr>
          <a:xfrm>
            <a:off x="1752600" y="1"/>
            <a:ext cx="7391401" cy="6176009"/>
            <a:chOff x="19140488" y="13674"/>
            <a:chExt cx="7443799" cy="6145827"/>
          </a:xfrm>
        </p:grpSpPr>
        <p:sp>
          <p:nvSpPr>
            <p:cNvPr id="25" name="Google Shape;25;p3"/>
            <p:cNvSpPr/>
            <p:nvPr/>
          </p:nvSpPr>
          <p:spPr>
            <a:xfrm>
              <a:off x="19140488" y="4188799"/>
              <a:ext cx="2302206" cy="1970702"/>
            </a:xfrm>
            <a:prstGeom prst="rect">
              <a:avLst/>
            </a:prstGeom>
            <a:solidFill>
              <a:srgbClr val="9A170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3"/>
            <p:cNvSpPr/>
            <p:nvPr/>
          </p:nvSpPr>
          <p:spPr>
            <a:xfrm>
              <a:off x="25663403" y="4032250"/>
              <a:ext cx="920883" cy="2127250"/>
            </a:xfrm>
            <a:prstGeom prst="rect">
              <a:avLst/>
            </a:prstGeom>
            <a:solidFill>
              <a:srgbClr val="F3BE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3"/>
            <p:cNvSpPr/>
            <p:nvPr/>
          </p:nvSpPr>
          <p:spPr>
            <a:xfrm>
              <a:off x="25049481" y="2899477"/>
              <a:ext cx="734694" cy="1289321"/>
            </a:xfrm>
            <a:prstGeom prst="rect">
              <a:avLst/>
            </a:prstGeom>
            <a:solidFill>
              <a:srgbClr val="F3BC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3"/>
            <p:cNvSpPr/>
            <p:nvPr/>
          </p:nvSpPr>
          <p:spPr>
            <a:xfrm>
              <a:off x="25049481" y="4032250"/>
              <a:ext cx="734693" cy="2127250"/>
            </a:xfrm>
            <a:prstGeom prst="rect">
              <a:avLst/>
            </a:prstGeom>
            <a:solidFill>
              <a:srgbClr val="E88C1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3"/>
            <p:cNvSpPr/>
            <p:nvPr/>
          </p:nvSpPr>
          <p:spPr>
            <a:xfrm>
              <a:off x="24665780" y="706365"/>
              <a:ext cx="477045" cy="2263848"/>
            </a:xfrm>
            <a:prstGeom prst="rect">
              <a:avLst/>
            </a:prstGeom>
            <a:solidFill>
              <a:srgbClr val="E669A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3"/>
            <p:cNvSpPr/>
            <p:nvPr/>
          </p:nvSpPr>
          <p:spPr>
            <a:xfrm>
              <a:off x="24665780" y="2899478"/>
              <a:ext cx="477045" cy="1289321"/>
            </a:xfrm>
            <a:prstGeom prst="rect">
              <a:avLst/>
            </a:prstGeom>
            <a:solidFill>
              <a:srgbClr val="DB4D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3"/>
            <p:cNvSpPr/>
            <p:nvPr/>
          </p:nvSpPr>
          <p:spPr>
            <a:xfrm>
              <a:off x="24665780" y="4032250"/>
              <a:ext cx="477045" cy="2127250"/>
            </a:xfrm>
            <a:prstGeom prst="rect">
              <a:avLst/>
            </a:prstGeom>
            <a:solidFill>
              <a:srgbClr val="D13A0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3"/>
            <p:cNvSpPr/>
            <p:nvPr/>
          </p:nvSpPr>
          <p:spPr>
            <a:xfrm>
              <a:off x="19140488" y="669925"/>
              <a:ext cx="5662612" cy="2300288"/>
            </a:xfrm>
            <a:prstGeom prst="rect">
              <a:avLst/>
            </a:prstGeom>
            <a:solidFill>
              <a:srgbClr val="D7402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3"/>
            <p:cNvSpPr/>
            <p:nvPr/>
          </p:nvSpPr>
          <p:spPr>
            <a:xfrm>
              <a:off x="19140488" y="2899478"/>
              <a:ext cx="5662612" cy="1289321"/>
            </a:xfrm>
            <a:prstGeom prst="rect">
              <a:avLst/>
            </a:prstGeom>
            <a:solidFill>
              <a:srgbClr val="CD2F1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3"/>
            <p:cNvSpPr/>
            <p:nvPr/>
          </p:nvSpPr>
          <p:spPr>
            <a:xfrm>
              <a:off x="19140488" y="4032250"/>
              <a:ext cx="5662612" cy="2127250"/>
            </a:xfrm>
            <a:custGeom>
              <a:rect b="b" l="l" r="r" t="t"/>
              <a:pathLst>
                <a:path extrusionOk="0" h="120000" w="120000">
                  <a:moveTo>
                    <a:pt x="0" y="0"/>
                  </a:moveTo>
                  <a:lnTo>
                    <a:pt x="120000" y="0"/>
                  </a:lnTo>
                  <a:lnTo>
                    <a:pt x="120000" y="120000"/>
                  </a:lnTo>
                  <a:lnTo>
                    <a:pt x="46156" y="120000"/>
                  </a:lnTo>
                  <a:lnTo>
                    <a:pt x="46156" y="16208"/>
                  </a:lnTo>
                  <a:lnTo>
                    <a:pt x="0" y="16208"/>
                  </a:lnTo>
                  <a:lnTo>
                    <a:pt x="0" y="0"/>
                  </a:lnTo>
                  <a:close/>
                </a:path>
              </a:pathLst>
            </a:custGeom>
            <a:solidFill>
              <a:srgbClr val="C4230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3"/>
            <p:cNvSpPr/>
            <p:nvPr/>
          </p:nvSpPr>
          <p:spPr>
            <a:xfrm>
              <a:off x="19140488" y="13674"/>
              <a:ext cx="5662612" cy="692692"/>
            </a:xfrm>
            <a:prstGeom prst="rect">
              <a:avLst/>
            </a:prstGeom>
            <a:solidFill>
              <a:srgbClr val="EE9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6" name="Google Shape;36;p3"/>
          <p:cNvSpPr txBox="1"/>
          <p:nvPr>
            <p:ph type="ctrTitle"/>
          </p:nvPr>
        </p:nvSpPr>
        <p:spPr>
          <a:xfrm>
            <a:off x="1895475" y="838200"/>
            <a:ext cx="5343525" cy="9144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Georgia"/>
              <a:buNone/>
              <a:defRPr b="1" i="1" sz="32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7" name="Google Shape;37;p3"/>
          <p:cNvSpPr txBox="1"/>
          <p:nvPr>
            <p:ph idx="1" type="subTitle"/>
          </p:nvPr>
        </p:nvSpPr>
        <p:spPr>
          <a:xfrm>
            <a:off x="1895475" y="1828799"/>
            <a:ext cx="5343525" cy="914401"/>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0" lvl="1" marL="0" marR="0" rtl="0" algn="l">
              <a:lnSpc>
                <a:spcPct val="100000"/>
              </a:lnSpc>
              <a:spcBef>
                <a:spcPts val="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38" name="Google Shape;38;p3"/>
          <p:cNvSpPr txBox="1"/>
          <p:nvPr>
            <p:ph idx="2" type="body"/>
          </p:nvPr>
        </p:nvSpPr>
        <p:spPr>
          <a:xfrm>
            <a:off x="1895475" y="374904"/>
            <a:ext cx="4105656" cy="146304"/>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Arial"/>
              <a:buNone/>
              <a:defRPr b="0" i="0" sz="1100" u="none" cap="none" strike="noStrike">
                <a:solidFill>
                  <a:schemeClr val="lt1"/>
                </a:solidFill>
                <a:latin typeface="Arial"/>
                <a:ea typeface="Arial"/>
                <a:cs typeface="Arial"/>
                <a:sym typeface="Arial"/>
              </a:defRPr>
            </a:lvl1pPr>
            <a:lvl2pPr indent="-292100" lvl="1" marL="9144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2pPr>
            <a:lvl3pPr indent="-292100" lvl="2" marL="13716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3pPr>
            <a:lvl4pPr indent="-292100" lvl="3" marL="18288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4pPr>
            <a:lvl5pPr indent="-292100" lvl="4" marL="22860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grpSp>
        <p:nvGrpSpPr>
          <p:cNvPr id="39" name="Google Shape;39;p3"/>
          <p:cNvGrpSpPr/>
          <p:nvPr/>
        </p:nvGrpSpPr>
        <p:grpSpPr>
          <a:xfrm>
            <a:off x="968592" y="6170991"/>
            <a:ext cx="914400" cy="533479"/>
            <a:chOff x="518032" y="978681"/>
            <a:chExt cx="4572000" cy="2667393"/>
          </a:xfrm>
        </p:grpSpPr>
        <p:sp>
          <p:nvSpPr>
            <p:cNvPr id="40" name="Google Shape;40;p3"/>
            <p:cNvSpPr/>
            <p:nvPr/>
          </p:nvSpPr>
          <p:spPr>
            <a:xfrm>
              <a:off x="3295650" y="978681"/>
              <a:ext cx="1143000" cy="263229"/>
            </a:xfrm>
            <a:prstGeom prst="rect">
              <a:avLst/>
            </a:prstGeom>
            <a:solidFill>
              <a:srgbClr val="A1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3"/>
            <p:cNvSpPr/>
            <p:nvPr/>
          </p:nvSpPr>
          <p:spPr>
            <a:xfrm>
              <a:off x="518032" y="1922794"/>
              <a:ext cx="4572000" cy="1723280"/>
            </a:xfrm>
            <a:custGeom>
              <a:rect b="b" l="l" r="r" t="t"/>
              <a:pathLst>
                <a:path extrusionOk="0" h="120000" w="120000">
                  <a:moveTo>
                    <a:pt x="18609" y="17797"/>
                  </a:moveTo>
                  <a:lnTo>
                    <a:pt x="18085" y="17797"/>
                  </a:lnTo>
                  <a:lnTo>
                    <a:pt x="17533" y="17875"/>
                  </a:lnTo>
                  <a:lnTo>
                    <a:pt x="16893" y="18108"/>
                  </a:lnTo>
                  <a:lnTo>
                    <a:pt x="16079" y="18264"/>
                  </a:lnTo>
                  <a:lnTo>
                    <a:pt x="15149" y="18730"/>
                  </a:lnTo>
                  <a:lnTo>
                    <a:pt x="15149" y="73601"/>
                  </a:lnTo>
                  <a:lnTo>
                    <a:pt x="15643" y="73756"/>
                  </a:lnTo>
                  <a:lnTo>
                    <a:pt x="16079" y="73756"/>
                  </a:lnTo>
                  <a:lnTo>
                    <a:pt x="16457" y="73756"/>
                  </a:lnTo>
                  <a:lnTo>
                    <a:pt x="16806" y="73756"/>
                  </a:lnTo>
                  <a:lnTo>
                    <a:pt x="18318" y="73523"/>
                  </a:lnTo>
                  <a:lnTo>
                    <a:pt x="19685" y="72823"/>
                  </a:lnTo>
                  <a:lnTo>
                    <a:pt x="20935" y="71813"/>
                  </a:lnTo>
                  <a:lnTo>
                    <a:pt x="22040" y="70336"/>
                  </a:lnTo>
                  <a:lnTo>
                    <a:pt x="23057" y="68393"/>
                  </a:lnTo>
                  <a:lnTo>
                    <a:pt x="23959" y="66062"/>
                  </a:lnTo>
                  <a:lnTo>
                    <a:pt x="24686" y="63341"/>
                  </a:lnTo>
                  <a:lnTo>
                    <a:pt x="25296" y="60233"/>
                  </a:lnTo>
                  <a:lnTo>
                    <a:pt x="25762" y="56580"/>
                  </a:lnTo>
                  <a:lnTo>
                    <a:pt x="26081" y="52694"/>
                  </a:lnTo>
                  <a:lnTo>
                    <a:pt x="26314" y="48341"/>
                  </a:lnTo>
                  <a:lnTo>
                    <a:pt x="26372" y="43601"/>
                  </a:lnTo>
                  <a:lnTo>
                    <a:pt x="26314" y="39248"/>
                  </a:lnTo>
                  <a:lnTo>
                    <a:pt x="26081" y="35129"/>
                  </a:lnTo>
                  <a:lnTo>
                    <a:pt x="25762" y="31632"/>
                  </a:lnTo>
                  <a:lnTo>
                    <a:pt x="25296" y="28445"/>
                  </a:lnTo>
                  <a:lnTo>
                    <a:pt x="24715" y="25569"/>
                  </a:lnTo>
                  <a:lnTo>
                    <a:pt x="24017" y="23238"/>
                  </a:lnTo>
                  <a:lnTo>
                    <a:pt x="23174" y="21295"/>
                  </a:lnTo>
                  <a:lnTo>
                    <a:pt x="22185" y="19740"/>
                  </a:lnTo>
                  <a:lnTo>
                    <a:pt x="21138" y="18730"/>
                  </a:lnTo>
                  <a:lnTo>
                    <a:pt x="19946" y="18031"/>
                  </a:lnTo>
                  <a:lnTo>
                    <a:pt x="18609" y="17797"/>
                  </a:lnTo>
                  <a:close/>
                  <a:moveTo>
                    <a:pt x="12008" y="233"/>
                  </a:moveTo>
                  <a:lnTo>
                    <a:pt x="15149" y="233"/>
                  </a:lnTo>
                  <a:lnTo>
                    <a:pt x="15149" y="11113"/>
                  </a:lnTo>
                  <a:lnTo>
                    <a:pt x="16457" y="9093"/>
                  </a:lnTo>
                  <a:lnTo>
                    <a:pt x="17649" y="7227"/>
                  </a:lnTo>
                  <a:lnTo>
                    <a:pt x="18696" y="5751"/>
                  </a:lnTo>
                  <a:lnTo>
                    <a:pt x="19685" y="4430"/>
                  </a:lnTo>
                  <a:lnTo>
                    <a:pt x="20557" y="3419"/>
                  </a:lnTo>
                  <a:lnTo>
                    <a:pt x="21371" y="2564"/>
                  </a:lnTo>
                  <a:lnTo>
                    <a:pt x="22127" y="1865"/>
                  </a:lnTo>
                  <a:lnTo>
                    <a:pt x="22825" y="1398"/>
                  </a:lnTo>
                  <a:lnTo>
                    <a:pt x="23523" y="1010"/>
                  </a:lnTo>
                  <a:lnTo>
                    <a:pt x="24162" y="777"/>
                  </a:lnTo>
                  <a:lnTo>
                    <a:pt x="24860" y="699"/>
                  </a:lnTo>
                  <a:lnTo>
                    <a:pt x="25558" y="621"/>
                  </a:lnTo>
                  <a:lnTo>
                    <a:pt x="27070" y="932"/>
                  </a:lnTo>
                  <a:lnTo>
                    <a:pt x="28495" y="1787"/>
                  </a:lnTo>
                  <a:lnTo>
                    <a:pt x="29832" y="3108"/>
                  </a:lnTo>
                  <a:lnTo>
                    <a:pt x="31112" y="4974"/>
                  </a:lnTo>
                  <a:lnTo>
                    <a:pt x="32275" y="7305"/>
                  </a:lnTo>
                  <a:lnTo>
                    <a:pt x="33380" y="10103"/>
                  </a:lnTo>
                  <a:lnTo>
                    <a:pt x="34310" y="13367"/>
                  </a:lnTo>
                  <a:lnTo>
                    <a:pt x="35153" y="16943"/>
                  </a:lnTo>
                  <a:lnTo>
                    <a:pt x="35851" y="20829"/>
                  </a:lnTo>
                  <a:lnTo>
                    <a:pt x="36404" y="25181"/>
                  </a:lnTo>
                  <a:lnTo>
                    <a:pt x="36782" y="29766"/>
                  </a:lnTo>
                  <a:lnTo>
                    <a:pt x="37043" y="34663"/>
                  </a:lnTo>
                  <a:lnTo>
                    <a:pt x="37160" y="39792"/>
                  </a:lnTo>
                  <a:lnTo>
                    <a:pt x="37043" y="44922"/>
                  </a:lnTo>
                  <a:lnTo>
                    <a:pt x="36782" y="49818"/>
                  </a:lnTo>
                  <a:lnTo>
                    <a:pt x="36404" y="54481"/>
                  </a:lnTo>
                  <a:lnTo>
                    <a:pt x="35822" y="58756"/>
                  </a:lnTo>
                  <a:lnTo>
                    <a:pt x="35037" y="62875"/>
                  </a:lnTo>
                  <a:lnTo>
                    <a:pt x="34165" y="66606"/>
                  </a:lnTo>
                  <a:lnTo>
                    <a:pt x="33147" y="70025"/>
                  </a:lnTo>
                  <a:lnTo>
                    <a:pt x="31955" y="73134"/>
                  </a:lnTo>
                  <a:lnTo>
                    <a:pt x="30646" y="75854"/>
                  </a:lnTo>
                  <a:lnTo>
                    <a:pt x="29222" y="78186"/>
                  </a:lnTo>
                  <a:lnTo>
                    <a:pt x="27652" y="80129"/>
                  </a:lnTo>
                  <a:lnTo>
                    <a:pt x="25994" y="81683"/>
                  </a:lnTo>
                  <a:lnTo>
                    <a:pt x="24162" y="82772"/>
                  </a:lnTo>
                  <a:lnTo>
                    <a:pt x="22272" y="83471"/>
                  </a:lnTo>
                  <a:lnTo>
                    <a:pt x="20237" y="83782"/>
                  </a:lnTo>
                  <a:lnTo>
                    <a:pt x="19481" y="83782"/>
                  </a:lnTo>
                  <a:lnTo>
                    <a:pt x="18521" y="83626"/>
                  </a:lnTo>
                  <a:lnTo>
                    <a:pt x="17475" y="83471"/>
                  </a:lnTo>
                  <a:lnTo>
                    <a:pt x="16312" y="83238"/>
                  </a:lnTo>
                  <a:lnTo>
                    <a:pt x="15149" y="83005"/>
                  </a:lnTo>
                  <a:lnTo>
                    <a:pt x="15149" y="109430"/>
                  </a:lnTo>
                  <a:lnTo>
                    <a:pt x="20121" y="112461"/>
                  </a:lnTo>
                  <a:lnTo>
                    <a:pt x="20121" y="120000"/>
                  </a:lnTo>
                  <a:lnTo>
                    <a:pt x="523" y="120000"/>
                  </a:lnTo>
                  <a:lnTo>
                    <a:pt x="523" y="112461"/>
                  </a:lnTo>
                  <a:lnTo>
                    <a:pt x="4972" y="109430"/>
                  </a:lnTo>
                  <a:lnTo>
                    <a:pt x="4972" y="17797"/>
                  </a:lnTo>
                  <a:lnTo>
                    <a:pt x="0" y="17797"/>
                  </a:lnTo>
                  <a:lnTo>
                    <a:pt x="0" y="9948"/>
                  </a:lnTo>
                  <a:lnTo>
                    <a:pt x="12008" y="233"/>
                  </a:lnTo>
                  <a:close/>
                  <a:moveTo>
                    <a:pt x="107904" y="0"/>
                  </a:moveTo>
                  <a:lnTo>
                    <a:pt x="109619" y="233"/>
                  </a:lnTo>
                  <a:lnTo>
                    <a:pt x="111218" y="699"/>
                  </a:lnTo>
                  <a:lnTo>
                    <a:pt x="112701" y="1554"/>
                  </a:lnTo>
                  <a:lnTo>
                    <a:pt x="114068" y="2642"/>
                  </a:lnTo>
                  <a:lnTo>
                    <a:pt x="115289" y="4119"/>
                  </a:lnTo>
                  <a:lnTo>
                    <a:pt x="116423" y="5829"/>
                  </a:lnTo>
                  <a:lnTo>
                    <a:pt x="117354" y="7772"/>
                  </a:lnTo>
                  <a:lnTo>
                    <a:pt x="118168" y="10025"/>
                  </a:lnTo>
                  <a:lnTo>
                    <a:pt x="118807" y="12435"/>
                  </a:lnTo>
                  <a:lnTo>
                    <a:pt x="119302" y="15077"/>
                  </a:lnTo>
                  <a:lnTo>
                    <a:pt x="119592" y="18031"/>
                  </a:lnTo>
                  <a:lnTo>
                    <a:pt x="119709" y="21062"/>
                  </a:lnTo>
                  <a:lnTo>
                    <a:pt x="119622" y="23626"/>
                  </a:lnTo>
                  <a:lnTo>
                    <a:pt x="119360" y="25958"/>
                  </a:lnTo>
                  <a:lnTo>
                    <a:pt x="118953" y="28134"/>
                  </a:lnTo>
                  <a:lnTo>
                    <a:pt x="118458" y="30077"/>
                  </a:lnTo>
                  <a:lnTo>
                    <a:pt x="117790" y="31632"/>
                  </a:lnTo>
                  <a:lnTo>
                    <a:pt x="117034" y="32875"/>
                  </a:lnTo>
                  <a:lnTo>
                    <a:pt x="116161" y="33886"/>
                  </a:lnTo>
                  <a:lnTo>
                    <a:pt x="115173" y="34430"/>
                  </a:lnTo>
                  <a:lnTo>
                    <a:pt x="114126" y="34663"/>
                  </a:lnTo>
                  <a:lnTo>
                    <a:pt x="113137" y="34507"/>
                  </a:lnTo>
                  <a:lnTo>
                    <a:pt x="112207" y="34041"/>
                  </a:lnTo>
                  <a:lnTo>
                    <a:pt x="111247" y="33264"/>
                  </a:lnTo>
                  <a:lnTo>
                    <a:pt x="110259" y="32098"/>
                  </a:lnTo>
                  <a:lnTo>
                    <a:pt x="109241" y="30621"/>
                  </a:lnTo>
                  <a:lnTo>
                    <a:pt x="109241" y="8860"/>
                  </a:lnTo>
                  <a:lnTo>
                    <a:pt x="107904" y="9715"/>
                  </a:lnTo>
                  <a:lnTo>
                    <a:pt x="106653" y="10880"/>
                  </a:lnTo>
                  <a:lnTo>
                    <a:pt x="105577" y="12590"/>
                  </a:lnTo>
                  <a:lnTo>
                    <a:pt x="104589" y="14533"/>
                  </a:lnTo>
                  <a:lnTo>
                    <a:pt x="103746" y="16943"/>
                  </a:lnTo>
                  <a:lnTo>
                    <a:pt x="103019" y="19663"/>
                  </a:lnTo>
                  <a:lnTo>
                    <a:pt x="102437" y="22849"/>
                  </a:lnTo>
                  <a:lnTo>
                    <a:pt x="102001" y="26347"/>
                  </a:lnTo>
                  <a:lnTo>
                    <a:pt x="101681" y="30388"/>
                  </a:lnTo>
                  <a:lnTo>
                    <a:pt x="101448" y="34740"/>
                  </a:lnTo>
                  <a:lnTo>
                    <a:pt x="101390" y="39404"/>
                  </a:lnTo>
                  <a:lnTo>
                    <a:pt x="101448" y="43911"/>
                  </a:lnTo>
                  <a:lnTo>
                    <a:pt x="101681" y="47953"/>
                  </a:lnTo>
                  <a:lnTo>
                    <a:pt x="102030" y="51839"/>
                  </a:lnTo>
                  <a:lnTo>
                    <a:pt x="102524" y="55336"/>
                  </a:lnTo>
                  <a:lnTo>
                    <a:pt x="103135" y="58523"/>
                  </a:lnTo>
                  <a:lnTo>
                    <a:pt x="103833" y="61398"/>
                  </a:lnTo>
                  <a:lnTo>
                    <a:pt x="104676" y="63808"/>
                  </a:lnTo>
                  <a:lnTo>
                    <a:pt x="105606" y="65829"/>
                  </a:lnTo>
                  <a:lnTo>
                    <a:pt x="106653" y="67538"/>
                  </a:lnTo>
                  <a:lnTo>
                    <a:pt x="107787" y="68782"/>
                  </a:lnTo>
                  <a:lnTo>
                    <a:pt x="109038" y="69481"/>
                  </a:lnTo>
                  <a:lnTo>
                    <a:pt x="110346" y="69715"/>
                  </a:lnTo>
                  <a:lnTo>
                    <a:pt x="111102" y="69637"/>
                  </a:lnTo>
                  <a:lnTo>
                    <a:pt x="111858" y="69481"/>
                  </a:lnTo>
                  <a:lnTo>
                    <a:pt x="112643" y="69093"/>
                  </a:lnTo>
                  <a:lnTo>
                    <a:pt x="113428" y="68471"/>
                  </a:lnTo>
                  <a:lnTo>
                    <a:pt x="114300" y="67772"/>
                  </a:lnTo>
                  <a:lnTo>
                    <a:pt x="115260" y="66917"/>
                  </a:lnTo>
                  <a:lnTo>
                    <a:pt x="116278" y="65751"/>
                  </a:lnTo>
                  <a:lnTo>
                    <a:pt x="117354" y="64507"/>
                  </a:lnTo>
                  <a:lnTo>
                    <a:pt x="118604" y="62953"/>
                  </a:lnTo>
                  <a:lnTo>
                    <a:pt x="120000" y="61165"/>
                  </a:lnTo>
                  <a:lnTo>
                    <a:pt x="120000" y="75854"/>
                  </a:lnTo>
                  <a:lnTo>
                    <a:pt x="118313" y="77797"/>
                  </a:lnTo>
                  <a:lnTo>
                    <a:pt x="116772" y="79585"/>
                  </a:lnTo>
                  <a:lnTo>
                    <a:pt x="115318" y="80906"/>
                  </a:lnTo>
                  <a:lnTo>
                    <a:pt x="113952" y="82227"/>
                  </a:lnTo>
                  <a:lnTo>
                    <a:pt x="112643" y="83160"/>
                  </a:lnTo>
                  <a:lnTo>
                    <a:pt x="111364" y="83937"/>
                  </a:lnTo>
                  <a:lnTo>
                    <a:pt x="110084" y="84404"/>
                  </a:lnTo>
                  <a:lnTo>
                    <a:pt x="108805" y="84792"/>
                  </a:lnTo>
                  <a:lnTo>
                    <a:pt x="107496" y="85025"/>
                  </a:lnTo>
                  <a:lnTo>
                    <a:pt x="106159" y="85103"/>
                  </a:lnTo>
                  <a:lnTo>
                    <a:pt x="104327" y="84948"/>
                  </a:lnTo>
                  <a:lnTo>
                    <a:pt x="102641" y="84404"/>
                  </a:lnTo>
                  <a:lnTo>
                    <a:pt x="101070" y="83549"/>
                  </a:lnTo>
                  <a:lnTo>
                    <a:pt x="99617" y="82383"/>
                  </a:lnTo>
                  <a:lnTo>
                    <a:pt x="98221" y="80751"/>
                  </a:lnTo>
                  <a:lnTo>
                    <a:pt x="96942" y="78808"/>
                  </a:lnTo>
                  <a:lnTo>
                    <a:pt x="95779" y="76476"/>
                  </a:lnTo>
                  <a:lnTo>
                    <a:pt x="94645" y="73601"/>
                  </a:lnTo>
                  <a:lnTo>
                    <a:pt x="93598" y="70492"/>
                  </a:lnTo>
                  <a:lnTo>
                    <a:pt x="92696" y="67227"/>
                  </a:lnTo>
                  <a:lnTo>
                    <a:pt x="91940" y="63730"/>
                  </a:lnTo>
                  <a:lnTo>
                    <a:pt x="91301" y="60000"/>
                  </a:lnTo>
                  <a:lnTo>
                    <a:pt x="90835" y="56113"/>
                  </a:lnTo>
                  <a:lnTo>
                    <a:pt x="90457" y="52072"/>
                  </a:lnTo>
                  <a:lnTo>
                    <a:pt x="90254" y="47875"/>
                  </a:lnTo>
                  <a:lnTo>
                    <a:pt x="90167" y="43601"/>
                  </a:lnTo>
                  <a:lnTo>
                    <a:pt x="90283" y="38393"/>
                  </a:lnTo>
                  <a:lnTo>
                    <a:pt x="90574" y="33652"/>
                  </a:lnTo>
                  <a:lnTo>
                    <a:pt x="91010" y="28989"/>
                  </a:lnTo>
                  <a:lnTo>
                    <a:pt x="91679" y="24715"/>
                  </a:lnTo>
                  <a:lnTo>
                    <a:pt x="92435" y="20751"/>
                  </a:lnTo>
                  <a:lnTo>
                    <a:pt x="93423" y="17020"/>
                  </a:lnTo>
                  <a:lnTo>
                    <a:pt x="94499" y="13601"/>
                  </a:lnTo>
                  <a:lnTo>
                    <a:pt x="95749" y="10492"/>
                  </a:lnTo>
                  <a:lnTo>
                    <a:pt x="97145" y="7927"/>
                  </a:lnTo>
                  <a:lnTo>
                    <a:pt x="98628" y="5595"/>
                  </a:lnTo>
                  <a:lnTo>
                    <a:pt x="100256" y="3652"/>
                  </a:lnTo>
                  <a:lnTo>
                    <a:pt x="102001" y="2098"/>
                  </a:lnTo>
                  <a:lnTo>
                    <a:pt x="103891" y="932"/>
                  </a:lnTo>
                  <a:lnTo>
                    <a:pt x="105839" y="233"/>
                  </a:lnTo>
                  <a:lnTo>
                    <a:pt x="107904" y="0"/>
                  </a:lnTo>
                  <a:close/>
                  <a:moveTo>
                    <a:pt x="84613" y="0"/>
                  </a:moveTo>
                  <a:lnTo>
                    <a:pt x="85718" y="310"/>
                  </a:lnTo>
                  <a:lnTo>
                    <a:pt x="86736" y="1088"/>
                  </a:lnTo>
                  <a:lnTo>
                    <a:pt x="87637" y="2331"/>
                  </a:lnTo>
                  <a:lnTo>
                    <a:pt x="88393" y="4041"/>
                  </a:lnTo>
                  <a:lnTo>
                    <a:pt x="89062" y="6062"/>
                  </a:lnTo>
                  <a:lnTo>
                    <a:pt x="89527" y="8471"/>
                  </a:lnTo>
                  <a:lnTo>
                    <a:pt x="89818" y="11036"/>
                  </a:lnTo>
                  <a:lnTo>
                    <a:pt x="89934" y="13834"/>
                  </a:lnTo>
                  <a:lnTo>
                    <a:pt x="89876" y="15777"/>
                  </a:lnTo>
                  <a:lnTo>
                    <a:pt x="89789" y="17642"/>
                  </a:lnTo>
                  <a:lnTo>
                    <a:pt x="89585" y="19585"/>
                  </a:lnTo>
                  <a:lnTo>
                    <a:pt x="89294" y="21528"/>
                  </a:lnTo>
                  <a:lnTo>
                    <a:pt x="88975" y="23549"/>
                  </a:lnTo>
                  <a:lnTo>
                    <a:pt x="88509" y="25725"/>
                  </a:lnTo>
                  <a:lnTo>
                    <a:pt x="87957" y="28056"/>
                  </a:lnTo>
                  <a:lnTo>
                    <a:pt x="87346" y="30544"/>
                  </a:lnTo>
                  <a:lnTo>
                    <a:pt x="86590" y="33341"/>
                  </a:lnTo>
                  <a:lnTo>
                    <a:pt x="85718" y="36373"/>
                  </a:lnTo>
                  <a:lnTo>
                    <a:pt x="84729" y="39792"/>
                  </a:lnTo>
                  <a:lnTo>
                    <a:pt x="83624" y="43601"/>
                  </a:lnTo>
                  <a:lnTo>
                    <a:pt x="71877" y="83782"/>
                  </a:lnTo>
                  <a:lnTo>
                    <a:pt x="63445" y="83782"/>
                  </a:lnTo>
                  <a:lnTo>
                    <a:pt x="63445" y="32953"/>
                  </a:lnTo>
                  <a:lnTo>
                    <a:pt x="51873" y="83782"/>
                  </a:lnTo>
                  <a:lnTo>
                    <a:pt x="44138" y="83782"/>
                  </a:lnTo>
                  <a:lnTo>
                    <a:pt x="44138" y="18186"/>
                  </a:lnTo>
                  <a:lnTo>
                    <a:pt x="38177" y="16632"/>
                  </a:lnTo>
                  <a:lnTo>
                    <a:pt x="38177" y="9170"/>
                  </a:lnTo>
                  <a:lnTo>
                    <a:pt x="49139" y="1943"/>
                  </a:lnTo>
                  <a:lnTo>
                    <a:pt x="53268" y="1943"/>
                  </a:lnTo>
                  <a:lnTo>
                    <a:pt x="53268" y="55414"/>
                  </a:lnTo>
                  <a:lnTo>
                    <a:pt x="65335" y="1943"/>
                  </a:lnTo>
                  <a:lnTo>
                    <a:pt x="72604" y="1943"/>
                  </a:lnTo>
                  <a:lnTo>
                    <a:pt x="72604" y="63886"/>
                  </a:lnTo>
                  <a:lnTo>
                    <a:pt x="80222" y="36761"/>
                  </a:lnTo>
                  <a:lnTo>
                    <a:pt x="80222" y="4818"/>
                  </a:lnTo>
                  <a:lnTo>
                    <a:pt x="80804" y="3419"/>
                  </a:lnTo>
                  <a:lnTo>
                    <a:pt x="81589" y="2098"/>
                  </a:lnTo>
                  <a:lnTo>
                    <a:pt x="82490" y="1010"/>
                  </a:lnTo>
                  <a:lnTo>
                    <a:pt x="83508" y="310"/>
                  </a:lnTo>
                  <a:lnTo>
                    <a:pt x="846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p:cSld name="Content: Two">
    <p:spTree>
      <p:nvGrpSpPr>
        <p:cNvPr id="42" name="Shape 42"/>
        <p:cNvGrpSpPr/>
        <p:nvPr/>
      </p:nvGrpSpPr>
      <p:grpSpPr>
        <a:xfrm>
          <a:off x="0" y="0"/>
          <a:ext cx="0" cy="0"/>
          <a:chOff x="0" y="0"/>
          <a:chExt cx="0" cy="0"/>
        </a:xfrm>
      </p:grpSpPr>
      <p:sp>
        <p:nvSpPr>
          <p:cNvPr id="43" name="Google Shape;43;p4"/>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4" name="Google Shape;44;p4"/>
          <p:cNvSpPr txBox="1"/>
          <p:nvPr>
            <p:ph idx="1" type="body"/>
          </p:nvPr>
        </p:nvSpPr>
        <p:spPr>
          <a:xfrm>
            <a:off x="533400" y="1752601"/>
            <a:ext cx="3962400" cy="441959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45" name="Google Shape;45;p4"/>
          <p:cNvSpPr txBox="1"/>
          <p:nvPr>
            <p:ph idx="2" type="body"/>
          </p:nvPr>
        </p:nvSpPr>
        <p:spPr>
          <a:xfrm>
            <a:off x="4648201" y="1752600"/>
            <a:ext cx="3962399"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46" name="Google Shape;46;p4"/>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4"/>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48" name="Google Shape;48;p4"/>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49" name="Google Shape;49;p4"/>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0" name="Google Shape;50;p4"/>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hree">
  <p:cSld name="Content: Three">
    <p:spTree>
      <p:nvGrpSpPr>
        <p:cNvPr id="51" name="Shape 51"/>
        <p:cNvGrpSpPr/>
        <p:nvPr/>
      </p:nvGrpSpPr>
      <p:grpSpPr>
        <a:xfrm>
          <a:off x="0" y="0"/>
          <a:ext cx="0" cy="0"/>
          <a:chOff x="0" y="0"/>
          <a:chExt cx="0" cy="0"/>
        </a:xfrm>
      </p:grpSpPr>
      <p:sp>
        <p:nvSpPr>
          <p:cNvPr id="52" name="Google Shape;52;p5"/>
          <p:cNvSpPr txBox="1"/>
          <p:nvPr>
            <p:ph type="title"/>
          </p:nvPr>
        </p:nvSpPr>
        <p:spPr>
          <a:xfrm>
            <a:off x="533400" y="685801"/>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3" name="Google Shape;53;p5"/>
          <p:cNvSpPr txBox="1"/>
          <p:nvPr>
            <p:ph idx="1" type="body"/>
          </p:nvPr>
        </p:nvSpPr>
        <p:spPr>
          <a:xfrm>
            <a:off x="533400" y="1752601"/>
            <a:ext cx="2590800" cy="441959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54" name="Google Shape;54;p5"/>
          <p:cNvSpPr txBox="1"/>
          <p:nvPr>
            <p:ph idx="2" type="body"/>
          </p:nvPr>
        </p:nvSpPr>
        <p:spPr>
          <a:xfrm>
            <a:off x="3276601" y="1752601"/>
            <a:ext cx="2590799" cy="441959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55" name="Google Shape;55;p5"/>
          <p:cNvSpPr txBox="1"/>
          <p:nvPr>
            <p:ph idx="3" type="body"/>
          </p:nvPr>
        </p:nvSpPr>
        <p:spPr>
          <a:xfrm>
            <a:off x="6019800" y="1752601"/>
            <a:ext cx="2590800" cy="441959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56" name="Google Shape;56;p5"/>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5"/>
          <p:cNvSpPr txBox="1"/>
          <p:nvPr/>
        </p:nvSpPr>
        <p:spPr>
          <a:xfrm>
            <a:off x="533400" y="6477000"/>
            <a:ext cx="2590800" cy="1524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58" name="Google Shape;58;p5"/>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59" name="Google Shape;59;p5"/>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60" name="Google Shape;60;p5"/>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under Text">
  <p:cSld name="Content: Two under Text">
    <p:spTree>
      <p:nvGrpSpPr>
        <p:cNvPr id="61" name="Shape 61"/>
        <p:cNvGrpSpPr/>
        <p:nvPr/>
      </p:nvGrpSpPr>
      <p:grpSpPr>
        <a:xfrm>
          <a:off x="0" y="0"/>
          <a:ext cx="0" cy="0"/>
          <a:chOff x="0" y="0"/>
          <a:chExt cx="0" cy="0"/>
        </a:xfrm>
      </p:grpSpPr>
      <p:sp>
        <p:nvSpPr>
          <p:cNvPr id="62" name="Google Shape;62;p6"/>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3" name="Google Shape;63;p6"/>
          <p:cNvSpPr txBox="1"/>
          <p:nvPr>
            <p:ph idx="1" type="body"/>
          </p:nvPr>
        </p:nvSpPr>
        <p:spPr>
          <a:xfrm>
            <a:off x="533400" y="3352800"/>
            <a:ext cx="3962400" cy="2819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64" name="Google Shape;64;p6"/>
          <p:cNvSpPr txBox="1"/>
          <p:nvPr>
            <p:ph idx="2" type="body"/>
          </p:nvPr>
        </p:nvSpPr>
        <p:spPr>
          <a:xfrm>
            <a:off x="4648199" y="3352800"/>
            <a:ext cx="3962401" cy="2819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65" name="Google Shape;65;p6"/>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6"/>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sp>
        <p:nvSpPr>
          <p:cNvPr id="67" name="Google Shape;67;p6"/>
          <p:cNvSpPr txBox="1"/>
          <p:nvPr>
            <p:ph idx="3" type="body"/>
          </p:nvPr>
        </p:nvSpPr>
        <p:spPr>
          <a:xfrm>
            <a:off x="533400" y="1752600"/>
            <a:ext cx="8077200" cy="1447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cxnSp>
        <p:nvCxnSpPr>
          <p:cNvPr id="68" name="Google Shape;68;p6"/>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69" name="Google Shape;69;p6"/>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70" name="Google Shape;70;p6"/>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and Left Text">
  <p:cSld name="Content: Two and Left Text">
    <p:spTree>
      <p:nvGrpSpPr>
        <p:cNvPr id="71" name="Shape 71"/>
        <p:cNvGrpSpPr/>
        <p:nvPr/>
      </p:nvGrpSpPr>
      <p:grpSpPr>
        <a:xfrm>
          <a:off x="0" y="0"/>
          <a:ext cx="0" cy="0"/>
          <a:chOff x="0" y="0"/>
          <a:chExt cx="0" cy="0"/>
        </a:xfrm>
      </p:grpSpPr>
      <p:sp>
        <p:nvSpPr>
          <p:cNvPr id="72" name="Google Shape;72;p7"/>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3" name="Google Shape;73;p7"/>
          <p:cNvSpPr txBox="1"/>
          <p:nvPr>
            <p:ph idx="1" type="body"/>
          </p:nvPr>
        </p:nvSpPr>
        <p:spPr>
          <a:xfrm>
            <a:off x="6019800" y="1752600"/>
            <a:ext cx="2590800" cy="2133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74" name="Google Shape;74;p7"/>
          <p:cNvSpPr txBox="1"/>
          <p:nvPr>
            <p:ph idx="2" type="body"/>
          </p:nvPr>
        </p:nvSpPr>
        <p:spPr>
          <a:xfrm>
            <a:off x="6019800" y="4038600"/>
            <a:ext cx="2590800" cy="2133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75" name="Google Shape;75;p7"/>
          <p:cNvSpPr txBox="1"/>
          <p:nvPr>
            <p:ph idx="3" type="body"/>
          </p:nvPr>
        </p:nvSpPr>
        <p:spPr>
          <a:xfrm>
            <a:off x="533400" y="1752600"/>
            <a:ext cx="5334000"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76" name="Google Shape;76;p7"/>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7" name="Google Shape;77;p7"/>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78" name="Google Shape;78;p7"/>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79" name="Google Shape;79;p7"/>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80" name="Google Shape;80;p7"/>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and Right Text">
  <p:cSld name="Content: Two and Right Text">
    <p:spTree>
      <p:nvGrpSpPr>
        <p:cNvPr id="81" name="Shape 81"/>
        <p:cNvGrpSpPr/>
        <p:nvPr/>
      </p:nvGrpSpPr>
      <p:grpSpPr>
        <a:xfrm>
          <a:off x="0" y="0"/>
          <a:ext cx="0" cy="0"/>
          <a:chOff x="0" y="0"/>
          <a:chExt cx="0" cy="0"/>
        </a:xfrm>
      </p:grpSpPr>
      <p:sp>
        <p:nvSpPr>
          <p:cNvPr id="82" name="Google Shape;82;p8"/>
          <p:cNvSpPr txBox="1"/>
          <p:nvPr>
            <p:ph idx="1" type="body"/>
          </p:nvPr>
        </p:nvSpPr>
        <p:spPr>
          <a:xfrm>
            <a:off x="533400" y="1752600"/>
            <a:ext cx="2590800" cy="2133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83" name="Google Shape;83;p8"/>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4" name="Google Shape;84;p8"/>
          <p:cNvSpPr txBox="1"/>
          <p:nvPr>
            <p:ph idx="2" type="body"/>
          </p:nvPr>
        </p:nvSpPr>
        <p:spPr>
          <a:xfrm>
            <a:off x="533400" y="4038600"/>
            <a:ext cx="2590800" cy="2133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85" name="Google Shape;85;p8"/>
          <p:cNvSpPr txBox="1"/>
          <p:nvPr>
            <p:ph idx="3" type="body"/>
          </p:nvPr>
        </p:nvSpPr>
        <p:spPr>
          <a:xfrm>
            <a:off x="3276600" y="1752600"/>
            <a:ext cx="5334000"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86" name="Google Shape;86;p8"/>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7" name="Google Shape;87;p8"/>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88" name="Google Shape;88;p8"/>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89" name="Google Shape;89;p8"/>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8"/>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e with Impact">
  <p:cSld name="Content: One with Impact">
    <p:spTree>
      <p:nvGrpSpPr>
        <p:cNvPr id="91" name="Shape 91"/>
        <p:cNvGrpSpPr/>
        <p:nvPr/>
      </p:nvGrpSpPr>
      <p:grpSpPr>
        <a:xfrm>
          <a:off x="0" y="0"/>
          <a:ext cx="0" cy="0"/>
          <a:chOff x="0" y="0"/>
          <a:chExt cx="0" cy="0"/>
        </a:xfrm>
      </p:grpSpPr>
      <p:sp>
        <p:nvSpPr>
          <p:cNvPr id="92" name="Google Shape;92;p9"/>
          <p:cNvSpPr txBox="1"/>
          <p:nvPr>
            <p:ph type="title"/>
          </p:nvPr>
        </p:nvSpPr>
        <p:spPr>
          <a:xfrm>
            <a:off x="3276600" y="685800"/>
            <a:ext cx="53340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3" name="Google Shape;93;p9"/>
          <p:cNvSpPr txBox="1"/>
          <p:nvPr>
            <p:ph idx="1" type="body"/>
          </p:nvPr>
        </p:nvSpPr>
        <p:spPr>
          <a:xfrm>
            <a:off x="3276600" y="1752600"/>
            <a:ext cx="5334000"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94" name="Google Shape;94;p9"/>
          <p:cNvSpPr txBox="1"/>
          <p:nvPr>
            <p:ph idx="2" type="body"/>
          </p:nvPr>
        </p:nvSpPr>
        <p:spPr>
          <a:xfrm>
            <a:off x="533400" y="1752600"/>
            <a:ext cx="2590800" cy="2130552"/>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1" i="1" sz="2400" u="none" cap="none" strike="noStrike">
                <a:solidFill>
                  <a:schemeClr val="dk2"/>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95" name="Google Shape;95;p9"/>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9"/>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97" name="Google Shape;97;p9"/>
          <p:cNvCxnSpPr/>
          <p:nvPr/>
        </p:nvCxnSpPr>
        <p:spPr>
          <a:xfrm flipH="1" rot="10800000">
            <a:off x="3124201" y="609600"/>
            <a:ext cx="5486400" cy="152400"/>
          </a:xfrm>
          <a:prstGeom prst="bentConnector2">
            <a:avLst/>
          </a:prstGeom>
          <a:noFill/>
          <a:ln cap="flat" cmpd="sng" w="12700">
            <a:solidFill>
              <a:schemeClr val="dk2"/>
            </a:solidFill>
            <a:prstDash val="solid"/>
            <a:round/>
            <a:headEnd len="sm" w="sm" type="none"/>
            <a:tailEnd len="sm" w="sm" type="none"/>
          </a:ln>
        </p:spPr>
      </p:cxnSp>
      <p:sp>
        <p:nvSpPr>
          <p:cNvPr id="98" name="Google Shape;98;p9"/>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99" name="Google Shape;99;p9"/>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Only">
  <p:cSld name="Cover Only">
    <p:spTree>
      <p:nvGrpSpPr>
        <p:cNvPr id="100" name="Shape 100"/>
        <p:cNvGrpSpPr/>
        <p:nvPr/>
      </p:nvGrpSpPr>
      <p:grpSpPr>
        <a:xfrm>
          <a:off x="0" y="0"/>
          <a:ext cx="0" cy="0"/>
          <a:chOff x="0" y="0"/>
          <a:chExt cx="0" cy="0"/>
        </a:xfrm>
      </p:grpSpPr>
      <p:sp>
        <p:nvSpPr>
          <p:cNvPr id="101" name="Google Shape;101;p10"/>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02" name="Google Shape;102;p10"/>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3" name="Google Shape;103;p10"/>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104" name="Google Shape;104;p10"/>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105" name="Google Shape;105;p10"/>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06" name="Google Shape;106;p10"/>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no Footer">
  <p:cSld name="Empty no Footer">
    <p:spTree>
      <p:nvGrpSpPr>
        <p:cNvPr id="107" name="Shape 10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108" name="Shape 108"/>
        <p:cNvGrpSpPr/>
        <p:nvPr/>
      </p:nvGrpSpPr>
      <p:grpSpPr>
        <a:xfrm>
          <a:off x="0" y="0"/>
          <a:ext cx="0" cy="0"/>
          <a:chOff x="0" y="0"/>
          <a:chExt cx="0" cy="0"/>
        </a:xfrm>
      </p:grpSpPr>
      <p:sp>
        <p:nvSpPr>
          <p:cNvPr id="109" name="Google Shape;109;p12"/>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0" name="Google Shape;110;p12"/>
          <p:cNvSpPr txBox="1"/>
          <p:nvPr/>
        </p:nvSpPr>
        <p:spPr>
          <a:xfrm>
            <a:off x="533400" y="6477001"/>
            <a:ext cx="2590800" cy="1523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sp>
        <p:nvSpPr>
          <p:cNvPr id="111" name="Google Shape;111;p12"/>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12" name="Google Shape;112;p12"/>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point">
  <p:cSld name="Key point">
    <p:bg>
      <p:bgPr>
        <a:solidFill>
          <a:schemeClr val="lt1"/>
        </a:solidFill>
      </p:bgPr>
    </p:bg>
    <p:spTree>
      <p:nvGrpSpPr>
        <p:cNvPr id="113" name="Shape 113"/>
        <p:cNvGrpSpPr/>
        <p:nvPr/>
      </p:nvGrpSpPr>
      <p:grpSpPr>
        <a:xfrm>
          <a:off x="0" y="0"/>
          <a:ext cx="0" cy="0"/>
          <a:chOff x="0" y="0"/>
          <a:chExt cx="0" cy="0"/>
        </a:xfrm>
      </p:grpSpPr>
      <p:sp>
        <p:nvSpPr>
          <p:cNvPr id="114" name="Google Shape;114;p13"/>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cxnSp>
        <p:nvCxnSpPr>
          <p:cNvPr id="115" name="Google Shape;115;p13"/>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116" name="Google Shape;116;p13"/>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7" name="Google Shape;117;p13"/>
          <p:cNvSpPr txBox="1"/>
          <p:nvPr/>
        </p:nvSpPr>
        <p:spPr>
          <a:xfrm>
            <a:off x="533400" y="6477001"/>
            <a:ext cx="2590800" cy="1523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sp>
        <p:nvSpPr>
          <p:cNvPr id="118" name="Google Shape;118;p13"/>
          <p:cNvSpPr txBox="1"/>
          <p:nvPr>
            <p:ph idx="1" type="body"/>
          </p:nvPr>
        </p:nvSpPr>
        <p:spPr>
          <a:xfrm>
            <a:off x="533400" y="1752600"/>
            <a:ext cx="8077200"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3200" u="none" cap="none" strike="noStrike">
                <a:solidFill>
                  <a:schemeClr val="dk2"/>
                </a:solidFill>
                <a:latin typeface="Georgia"/>
                <a:ea typeface="Georgia"/>
                <a:cs typeface="Georgia"/>
                <a:sym typeface="Georgia"/>
              </a:defRPr>
            </a:lvl1pPr>
            <a:lvl2pPr indent="-431800" lvl="1" marL="914400" marR="0" rtl="0" algn="l">
              <a:lnSpc>
                <a:spcPct val="100000"/>
              </a:lnSpc>
              <a:spcBef>
                <a:spcPts val="900"/>
              </a:spcBef>
              <a:spcAft>
                <a:spcPts val="0"/>
              </a:spcAft>
              <a:buClr>
                <a:schemeClr val="dk2"/>
              </a:buClr>
              <a:buSzPts val="3200"/>
              <a:buFont typeface="Georgia"/>
              <a:buChar char="•"/>
              <a:defRPr b="0" i="0" sz="3200" u="none" cap="none" strike="noStrike">
                <a:solidFill>
                  <a:schemeClr val="dk2"/>
                </a:solidFill>
                <a:latin typeface="Georgia"/>
                <a:ea typeface="Georgia"/>
                <a:cs typeface="Georgia"/>
                <a:sym typeface="Georgia"/>
              </a:defRPr>
            </a:lvl2pPr>
            <a:lvl3pPr indent="-431800" lvl="2" marL="1371600" marR="0" rtl="0" algn="l">
              <a:lnSpc>
                <a:spcPct val="100000"/>
              </a:lnSpc>
              <a:spcBef>
                <a:spcPts val="900"/>
              </a:spcBef>
              <a:spcAft>
                <a:spcPts val="0"/>
              </a:spcAft>
              <a:buClr>
                <a:schemeClr val="dk2"/>
              </a:buClr>
              <a:buSzPts val="3200"/>
              <a:buFont typeface="Georgia"/>
              <a:buChar char="-"/>
              <a:defRPr b="0" i="0" sz="3200" u="none" cap="none" strike="noStrike">
                <a:solidFill>
                  <a:schemeClr val="dk2"/>
                </a:solidFill>
                <a:latin typeface="Georgia"/>
                <a:ea typeface="Georgia"/>
                <a:cs typeface="Georgia"/>
                <a:sym typeface="Georgia"/>
              </a:defRPr>
            </a:lvl3pPr>
            <a:lvl4pPr indent="-431800" lvl="3" marL="1828800" marR="0" rtl="0" algn="l">
              <a:lnSpc>
                <a:spcPct val="100000"/>
              </a:lnSpc>
              <a:spcBef>
                <a:spcPts val="900"/>
              </a:spcBef>
              <a:spcAft>
                <a:spcPts val="0"/>
              </a:spcAft>
              <a:buClr>
                <a:schemeClr val="dk2"/>
              </a:buClr>
              <a:buSzPts val="3200"/>
              <a:buFont typeface="Georgia"/>
              <a:buChar char="◦"/>
              <a:defRPr b="0" i="0" sz="3200" u="none" cap="none" strike="noStrike">
                <a:solidFill>
                  <a:schemeClr val="dk2"/>
                </a:solidFill>
                <a:latin typeface="Georgia"/>
                <a:ea typeface="Georgia"/>
                <a:cs typeface="Georgia"/>
                <a:sym typeface="Georgia"/>
              </a:defRPr>
            </a:lvl4pPr>
            <a:lvl5pPr indent="-431800" lvl="4" marL="2286000" marR="0" rtl="0" algn="l">
              <a:lnSpc>
                <a:spcPct val="100000"/>
              </a:lnSpc>
              <a:spcBef>
                <a:spcPts val="900"/>
              </a:spcBef>
              <a:spcAft>
                <a:spcPts val="0"/>
              </a:spcAft>
              <a:buClr>
                <a:schemeClr val="dk2"/>
              </a:buClr>
              <a:buSzPts val="3200"/>
              <a:buFont typeface="Georgia"/>
              <a:buChar char="›"/>
              <a:defRPr b="0" i="0" sz="3200" u="none" cap="none" strike="noStrike">
                <a:solidFill>
                  <a:schemeClr val="dk2"/>
                </a:solidFill>
                <a:latin typeface="Georgia"/>
                <a:ea typeface="Georgia"/>
                <a:cs typeface="Georgia"/>
                <a:sym typeface="Georgia"/>
              </a:defRPr>
            </a:lvl5pPr>
            <a:lvl6pPr indent="-431800" lvl="5" marL="2743200" marR="0" rtl="0" algn="l">
              <a:lnSpc>
                <a:spcPct val="100000"/>
              </a:lnSpc>
              <a:spcBef>
                <a:spcPts val="900"/>
              </a:spcBef>
              <a:spcAft>
                <a:spcPts val="0"/>
              </a:spcAft>
              <a:buClr>
                <a:schemeClr val="dk2"/>
              </a:buClr>
              <a:buSzPts val="3200"/>
              <a:buFont typeface="Georgia"/>
              <a:buAutoNum type="arabicPeriod"/>
              <a:defRPr b="0" i="0" sz="3200" u="none" cap="none" strike="noStrike">
                <a:solidFill>
                  <a:schemeClr val="dk2"/>
                </a:solidFill>
                <a:latin typeface="Georgia"/>
                <a:ea typeface="Georgia"/>
                <a:cs typeface="Georgia"/>
                <a:sym typeface="Georgia"/>
              </a:defRPr>
            </a:lvl6pPr>
            <a:lvl7pPr indent="-431800" lvl="6" marL="3200400" marR="0" rtl="0" algn="l">
              <a:lnSpc>
                <a:spcPct val="100000"/>
              </a:lnSpc>
              <a:spcBef>
                <a:spcPts val="900"/>
              </a:spcBef>
              <a:spcAft>
                <a:spcPts val="0"/>
              </a:spcAft>
              <a:buClr>
                <a:schemeClr val="dk2"/>
              </a:buClr>
              <a:buSzPts val="3200"/>
              <a:buFont typeface="Georgia"/>
              <a:buAutoNum type="alphaLcPeriod"/>
              <a:defRPr b="0" i="0" sz="3200" u="none" cap="none" strike="noStrike">
                <a:solidFill>
                  <a:schemeClr val="dk2"/>
                </a:solidFill>
                <a:latin typeface="Georgia"/>
                <a:ea typeface="Georgia"/>
                <a:cs typeface="Georgia"/>
                <a:sym typeface="Georgia"/>
              </a:defRPr>
            </a:lvl7pPr>
            <a:lvl8pPr indent="-228600" lvl="7" marL="3657600" marR="0" rtl="0" algn="l">
              <a:lnSpc>
                <a:spcPct val="100000"/>
              </a:lnSpc>
              <a:spcBef>
                <a:spcPts val="900"/>
              </a:spcBef>
              <a:spcAft>
                <a:spcPts val="0"/>
              </a:spcAft>
              <a:buClr>
                <a:schemeClr val="dk2"/>
              </a:buClr>
              <a:buSzPts val="2000"/>
              <a:buFont typeface="Georgia"/>
              <a:buNone/>
              <a:defRPr b="0" i="0" sz="3200" u="none" cap="none" strike="noStrike">
                <a:solidFill>
                  <a:schemeClr val="dk2"/>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3200" u="none" cap="none" strike="noStrike">
                <a:solidFill>
                  <a:schemeClr val="dk2"/>
                </a:solidFill>
                <a:latin typeface="Georgia"/>
                <a:ea typeface="Georgia"/>
                <a:cs typeface="Georgia"/>
                <a:sym typeface="Georgia"/>
              </a:defRPr>
            </a:lvl9pPr>
          </a:lstStyle>
          <a:p/>
        </p:txBody>
      </p:sp>
      <p:sp>
        <p:nvSpPr>
          <p:cNvPr id="119" name="Google Shape;119;p13"/>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20" name="Google Shape;120;p13"/>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point: Colour" type="obj">
  <p:cSld name="OBJECT">
    <p:bg>
      <p:bgPr>
        <a:solidFill>
          <a:schemeClr val="dk2"/>
        </a:solidFill>
      </p:bgPr>
    </p:bg>
    <p:spTree>
      <p:nvGrpSpPr>
        <p:cNvPr id="121" name="Shape 121"/>
        <p:cNvGrpSpPr/>
        <p:nvPr/>
      </p:nvGrpSpPr>
      <p:grpSpPr>
        <a:xfrm>
          <a:off x="0" y="0"/>
          <a:ext cx="0" cy="0"/>
          <a:chOff x="0" y="0"/>
          <a:chExt cx="0" cy="0"/>
        </a:xfrm>
      </p:grpSpPr>
      <p:sp>
        <p:nvSpPr>
          <p:cNvPr id="122" name="Google Shape;122;p14"/>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lt1"/>
              </a:buClr>
              <a:buSzPts val="1400"/>
              <a:buFont typeface="Georgia"/>
              <a:buNone/>
              <a:defRPr b="1" i="1" sz="24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23" name="Google Shape;123;p14"/>
          <p:cNvSpPr txBox="1"/>
          <p:nvPr>
            <p:ph idx="1" type="body"/>
          </p:nvPr>
        </p:nvSpPr>
        <p:spPr>
          <a:xfrm>
            <a:off x="533400" y="1752600"/>
            <a:ext cx="8077200"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25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431800" lvl="1" marL="914400" marR="0" rtl="0" algn="l">
              <a:lnSpc>
                <a:spcPct val="112500"/>
              </a:lnSpc>
              <a:spcBef>
                <a:spcPts val="600"/>
              </a:spcBef>
              <a:spcAft>
                <a:spcPts val="0"/>
              </a:spcAft>
              <a:buClr>
                <a:schemeClr val="lt1"/>
              </a:buClr>
              <a:buSzPts val="3200"/>
              <a:buFont typeface="Georgia"/>
              <a:buChar char="•"/>
              <a:defRPr b="0" i="0" sz="3200" u="none" cap="none" strike="noStrike">
                <a:solidFill>
                  <a:schemeClr val="lt1"/>
                </a:solidFill>
                <a:latin typeface="Georgia"/>
                <a:ea typeface="Georgia"/>
                <a:cs typeface="Georgia"/>
                <a:sym typeface="Georgia"/>
              </a:defRPr>
            </a:lvl2pPr>
            <a:lvl3pPr indent="-431800" lvl="2" marL="1371600" marR="0" rtl="0" algn="l">
              <a:lnSpc>
                <a:spcPct val="112500"/>
              </a:lnSpc>
              <a:spcBef>
                <a:spcPts val="600"/>
              </a:spcBef>
              <a:spcAft>
                <a:spcPts val="0"/>
              </a:spcAft>
              <a:buClr>
                <a:schemeClr val="lt1"/>
              </a:buClr>
              <a:buSzPts val="3200"/>
              <a:buFont typeface="Georgia"/>
              <a:buChar char="-"/>
              <a:defRPr b="0" i="0" sz="3200" u="none" cap="none" strike="noStrike">
                <a:solidFill>
                  <a:schemeClr val="lt1"/>
                </a:solidFill>
                <a:latin typeface="Georgia"/>
                <a:ea typeface="Georgia"/>
                <a:cs typeface="Georgia"/>
                <a:sym typeface="Georgia"/>
              </a:defRPr>
            </a:lvl3pPr>
            <a:lvl4pPr indent="-431800" lvl="3" marL="1828800" marR="0" rtl="0" algn="l">
              <a:lnSpc>
                <a:spcPct val="112500"/>
              </a:lnSpc>
              <a:spcBef>
                <a:spcPts val="600"/>
              </a:spcBef>
              <a:spcAft>
                <a:spcPts val="0"/>
              </a:spcAft>
              <a:buClr>
                <a:schemeClr val="lt1"/>
              </a:buClr>
              <a:buSzPts val="3200"/>
              <a:buFont typeface="Georgia"/>
              <a:buChar char="◦"/>
              <a:defRPr b="0" i="0" sz="3200" u="none" cap="none" strike="noStrike">
                <a:solidFill>
                  <a:schemeClr val="lt1"/>
                </a:solidFill>
                <a:latin typeface="Georgia"/>
                <a:ea typeface="Georgia"/>
                <a:cs typeface="Georgia"/>
                <a:sym typeface="Georgia"/>
              </a:defRPr>
            </a:lvl4pPr>
            <a:lvl5pPr indent="-431800" lvl="4" marL="2286000" marR="0" rtl="0" algn="l">
              <a:lnSpc>
                <a:spcPct val="112500"/>
              </a:lnSpc>
              <a:spcBef>
                <a:spcPts val="600"/>
              </a:spcBef>
              <a:spcAft>
                <a:spcPts val="0"/>
              </a:spcAft>
              <a:buClr>
                <a:schemeClr val="lt1"/>
              </a:buClr>
              <a:buSzPts val="3200"/>
              <a:buFont typeface="Georgia"/>
              <a:buChar char="›"/>
              <a:defRPr b="0" i="0" sz="3200" u="none" cap="none" strike="noStrike">
                <a:solidFill>
                  <a:schemeClr val="lt1"/>
                </a:solidFill>
                <a:latin typeface="Georgia"/>
                <a:ea typeface="Georgia"/>
                <a:cs typeface="Georgia"/>
                <a:sym typeface="Georgia"/>
              </a:defRPr>
            </a:lvl5pPr>
            <a:lvl6pPr indent="-228600" lvl="5" marL="2743200" marR="0" rtl="0" algn="l">
              <a:lnSpc>
                <a:spcPct val="128571"/>
              </a:lnSpc>
              <a:spcBef>
                <a:spcPts val="600"/>
              </a:spcBef>
              <a:spcAft>
                <a:spcPts val="0"/>
              </a:spcAft>
              <a:buClr>
                <a:schemeClr val="lt1"/>
              </a:buClr>
              <a:buSzPts val="2000"/>
              <a:buFont typeface="Arial"/>
              <a:buNone/>
              <a:defRPr b="0" i="0" sz="2800" u="none" cap="none" strike="noStrike">
                <a:solidFill>
                  <a:schemeClr val="lt1"/>
                </a:solidFill>
                <a:latin typeface="Georgia"/>
                <a:ea typeface="Georgia"/>
                <a:cs typeface="Georgia"/>
                <a:sym typeface="Georgia"/>
              </a:defRPr>
            </a:lvl6pPr>
            <a:lvl7pPr indent="-406400" lvl="6" marL="3200400" marR="0" rtl="0" algn="l">
              <a:lnSpc>
                <a:spcPct val="100000"/>
              </a:lnSpc>
              <a:spcBef>
                <a:spcPts val="60"/>
              </a:spcBef>
              <a:spcAft>
                <a:spcPts val="0"/>
              </a:spcAft>
              <a:buClr>
                <a:schemeClr val="lt1"/>
              </a:buClr>
              <a:buSzPts val="2800"/>
              <a:buFont typeface="Georgia"/>
              <a:buAutoNum type="alphaLcPeriod"/>
              <a:defRPr b="0" i="0" sz="2800" u="none" cap="none" strike="noStrike">
                <a:solidFill>
                  <a:schemeClr val="lt1"/>
                </a:solidFill>
                <a:latin typeface="Georgia"/>
                <a:ea typeface="Georgia"/>
                <a:cs typeface="Georgia"/>
                <a:sym typeface="Georgia"/>
              </a:defRPr>
            </a:lvl7pPr>
            <a:lvl8pPr indent="-406400" lvl="7" marL="3657600" marR="0" rtl="0" algn="l">
              <a:lnSpc>
                <a:spcPct val="128571"/>
              </a:lnSpc>
              <a:spcBef>
                <a:spcPts val="900"/>
              </a:spcBef>
              <a:spcAft>
                <a:spcPts val="0"/>
              </a:spcAft>
              <a:buClr>
                <a:schemeClr val="lt1"/>
              </a:buClr>
              <a:buSzPts val="2800"/>
              <a:buFont typeface="Georgia"/>
              <a:buAutoNum type="romanLcPeriod"/>
              <a:defRPr b="0" i="0" sz="2800" u="none" cap="none" strike="noStrike">
                <a:solidFill>
                  <a:schemeClr val="lt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lt1"/>
              </a:buClr>
              <a:buSzPts val="1400"/>
              <a:buFont typeface="Arial"/>
              <a:buNone/>
              <a:defRPr b="1" i="0" sz="2800" u="none" cap="none" strike="noStrike">
                <a:solidFill>
                  <a:schemeClr val="lt1"/>
                </a:solidFill>
                <a:latin typeface="Georgia"/>
                <a:ea typeface="Georgia"/>
                <a:cs typeface="Georgia"/>
                <a:sym typeface="Georgia"/>
              </a:defRPr>
            </a:lvl9pPr>
          </a:lstStyle>
          <a:p/>
        </p:txBody>
      </p:sp>
      <p:sp>
        <p:nvSpPr>
          <p:cNvPr id="124" name="Google Shape;124;p14"/>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lt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5" name="Google Shape;125;p14"/>
          <p:cNvSpPr txBox="1"/>
          <p:nvPr/>
        </p:nvSpPr>
        <p:spPr>
          <a:xfrm>
            <a:off x="533400" y="6477001"/>
            <a:ext cx="2590800" cy="1523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lt1"/>
                </a:solidFill>
                <a:latin typeface="Arial"/>
                <a:ea typeface="Arial"/>
                <a:cs typeface="Arial"/>
                <a:sym typeface="Arial"/>
              </a:rPr>
              <a:t>PwC</a:t>
            </a:r>
            <a:endParaRPr sz="1000">
              <a:solidFill>
                <a:schemeClr val="lt1"/>
              </a:solidFill>
              <a:latin typeface="Arial"/>
              <a:ea typeface="Arial"/>
              <a:cs typeface="Arial"/>
              <a:sym typeface="Arial"/>
            </a:endParaRPr>
          </a:p>
        </p:txBody>
      </p:sp>
      <p:cxnSp>
        <p:nvCxnSpPr>
          <p:cNvPr id="126" name="Google Shape;126;p14"/>
          <p:cNvCxnSpPr/>
          <p:nvPr/>
        </p:nvCxnSpPr>
        <p:spPr>
          <a:xfrm flipH="1" rot="10800000">
            <a:off x="381000" y="609600"/>
            <a:ext cx="8229600" cy="152400"/>
          </a:xfrm>
          <a:prstGeom prst="bentConnector2">
            <a:avLst/>
          </a:prstGeom>
          <a:noFill/>
          <a:ln cap="flat" cmpd="sng" w="12700">
            <a:solidFill>
              <a:schemeClr val="lt1"/>
            </a:solidFill>
            <a:prstDash val="solid"/>
            <a:round/>
            <a:headEnd len="sm" w="sm" type="none"/>
            <a:tailEnd len="sm" w="sm" type="none"/>
          </a:ln>
        </p:spPr>
      </p:cxnSp>
      <p:sp>
        <p:nvSpPr>
          <p:cNvPr id="127" name="Google Shape;127;p14"/>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lt1"/>
                </a:solidFill>
                <a:latin typeface="Arial"/>
                <a:ea typeface="Arial"/>
                <a:cs typeface="Arial"/>
                <a:sym typeface="Arial"/>
              </a:defRPr>
            </a:lvl1pPr>
            <a:lvl2pPr indent="0" lvl="1" marL="0" marR="0" rtl="0" algn="r">
              <a:spcBef>
                <a:spcPts val="0"/>
              </a:spcBef>
              <a:buNone/>
              <a:defRPr sz="1000">
                <a:solidFill>
                  <a:schemeClr val="lt1"/>
                </a:solidFill>
                <a:latin typeface="Arial"/>
                <a:ea typeface="Arial"/>
                <a:cs typeface="Arial"/>
                <a:sym typeface="Arial"/>
              </a:defRPr>
            </a:lvl2pPr>
            <a:lvl3pPr indent="0" lvl="2" marL="0" marR="0" rtl="0" algn="r">
              <a:spcBef>
                <a:spcPts val="0"/>
              </a:spcBef>
              <a:buNone/>
              <a:defRPr sz="1000">
                <a:solidFill>
                  <a:schemeClr val="lt1"/>
                </a:solidFill>
                <a:latin typeface="Arial"/>
                <a:ea typeface="Arial"/>
                <a:cs typeface="Arial"/>
                <a:sym typeface="Arial"/>
              </a:defRPr>
            </a:lvl3pPr>
            <a:lvl4pPr indent="0" lvl="3" marL="0" marR="0" rtl="0" algn="r">
              <a:spcBef>
                <a:spcPts val="0"/>
              </a:spcBef>
              <a:buNone/>
              <a:defRPr sz="1000">
                <a:solidFill>
                  <a:schemeClr val="lt1"/>
                </a:solidFill>
                <a:latin typeface="Arial"/>
                <a:ea typeface="Arial"/>
                <a:cs typeface="Arial"/>
                <a:sym typeface="Arial"/>
              </a:defRPr>
            </a:lvl4pPr>
            <a:lvl5pPr indent="0" lvl="4" marL="0" marR="0" rtl="0" algn="r">
              <a:spcBef>
                <a:spcPts val="0"/>
              </a:spcBef>
              <a:buNone/>
              <a:defRPr sz="1000">
                <a:solidFill>
                  <a:schemeClr val="lt1"/>
                </a:solidFill>
                <a:latin typeface="Arial"/>
                <a:ea typeface="Arial"/>
                <a:cs typeface="Arial"/>
                <a:sym typeface="Arial"/>
              </a:defRPr>
            </a:lvl5pPr>
            <a:lvl6pPr indent="0" lvl="5" marL="0" marR="0" rtl="0" algn="r">
              <a:spcBef>
                <a:spcPts val="0"/>
              </a:spcBef>
              <a:buNone/>
              <a:defRPr sz="1000">
                <a:solidFill>
                  <a:schemeClr val="lt1"/>
                </a:solidFill>
                <a:latin typeface="Arial"/>
                <a:ea typeface="Arial"/>
                <a:cs typeface="Arial"/>
                <a:sym typeface="Arial"/>
              </a:defRPr>
            </a:lvl6pPr>
            <a:lvl7pPr indent="0" lvl="6" marL="0" marR="0" rtl="0" algn="r">
              <a:spcBef>
                <a:spcPts val="0"/>
              </a:spcBef>
              <a:buNone/>
              <a:defRPr sz="1000">
                <a:solidFill>
                  <a:schemeClr val="lt1"/>
                </a:solidFill>
                <a:latin typeface="Arial"/>
                <a:ea typeface="Arial"/>
                <a:cs typeface="Arial"/>
                <a:sym typeface="Arial"/>
              </a:defRPr>
            </a:lvl7pPr>
            <a:lvl8pPr indent="0" lvl="7" marL="0" marR="0" rtl="0" algn="r">
              <a:spcBef>
                <a:spcPts val="0"/>
              </a:spcBef>
              <a:buNone/>
              <a:defRPr sz="1000">
                <a:solidFill>
                  <a:schemeClr val="lt1"/>
                </a:solidFill>
                <a:latin typeface="Arial"/>
                <a:ea typeface="Arial"/>
                <a:cs typeface="Arial"/>
                <a:sym typeface="Arial"/>
              </a:defRPr>
            </a:lvl8pPr>
            <a:lvl9pPr indent="0" lvl="8" marL="0" marR="0" rtl="0" algn="r">
              <a:spcBef>
                <a:spcPts val="0"/>
              </a:spcBef>
              <a:buNone/>
              <a:defRPr sz="10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28" name="Google Shape;128;p14"/>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lt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129" name="Shape 129"/>
        <p:cNvGrpSpPr/>
        <p:nvPr/>
      </p:nvGrpSpPr>
      <p:grpSpPr>
        <a:xfrm>
          <a:off x="0" y="0"/>
          <a:ext cx="0" cy="0"/>
          <a:chOff x="0" y="0"/>
          <a:chExt cx="0" cy="0"/>
        </a:xfrm>
      </p:grpSpPr>
      <p:sp>
        <p:nvSpPr>
          <p:cNvPr id="130" name="Google Shape;130;p15"/>
          <p:cNvSpPr txBox="1"/>
          <p:nvPr>
            <p:ph type="ctrTitle"/>
          </p:nvPr>
        </p:nvSpPr>
        <p:spPr>
          <a:xfrm>
            <a:off x="533400" y="685801"/>
            <a:ext cx="8077200" cy="1066799"/>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1" i="1" sz="32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31" name="Google Shape;131;p15"/>
          <p:cNvSpPr txBox="1"/>
          <p:nvPr>
            <p:ph idx="1" type="subTitle"/>
          </p:nvPr>
        </p:nvSpPr>
        <p:spPr>
          <a:xfrm>
            <a:off x="533400" y="1905001"/>
            <a:ext cx="8077200" cy="1371599"/>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dk1"/>
                </a:solidFill>
                <a:latin typeface="Georgia"/>
                <a:ea typeface="Georgia"/>
                <a:cs typeface="Georgia"/>
                <a:sym typeface="Georgia"/>
              </a:defRPr>
            </a:lvl1pPr>
            <a:lvl2pPr indent="0" lvl="1" marL="457200" marR="0" rtl="0" algn="ctr">
              <a:lnSpc>
                <a:spcPct val="100000"/>
              </a:lnSpc>
              <a:spcBef>
                <a:spcPts val="900"/>
              </a:spcBef>
              <a:spcAft>
                <a:spcPts val="0"/>
              </a:spcAft>
              <a:buClr>
                <a:schemeClr val="dk1"/>
              </a:buClr>
              <a:buSzPts val="2000"/>
              <a:buFont typeface="Georgia"/>
              <a:buNone/>
              <a:defRPr b="0" i="0" sz="2000" u="none" cap="none" strike="noStrike">
                <a:solidFill>
                  <a:srgbClr val="888888"/>
                </a:solidFill>
                <a:latin typeface="Georgia"/>
                <a:ea typeface="Georgia"/>
                <a:cs typeface="Georgia"/>
                <a:sym typeface="Georgia"/>
              </a:defRPr>
            </a:lvl2pPr>
            <a:lvl3pPr indent="0" lvl="2" marL="914400" marR="0" rtl="0" algn="ctr">
              <a:lnSpc>
                <a:spcPct val="100000"/>
              </a:lnSpc>
              <a:spcBef>
                <a:spcPts val="900"/>
              </a:spcBef>
              <a:spcAft>
                <a:spcPts val="0"/>
              </a:spcAft>
              <a:buClr>
                <a:schemeClr val="dk1"/>
              </a:buClr>
              <a:buSzPts val="2000"/>
              <a:buFont typeface="Georgia"/>
              <a:buNone/>
              <a:defRPr b="0" i="0" sz="2000" u="none" cap="none" strike="noStrike">
                <a:solidFill>
                  <a:srgbClr val="888888"/>
                </a:solidFill>
                <a:latin typeface="Georgia"/>
                <a:ea typeface="Georgia"/>
                <a:cs typeface="Georgia"/>
                <a:sym typeface="Georgia"/>
              </a:defRPr>
            </a:lvl3pPr>
            <a:lvl4pPr indent="0" lvl="3" marL="1371600" marR="0" rtl="0" algn="ctr">
              <a:lnSpc>
                <a:spcPct val="100000"/>
              </a:lnSpc>
              <a:spcBef>
                <a:spcPts val="900"/>
              </a:spcBef>
              <a:spcAft>
                <a:spcPts val="0"/>
              </a:spcAft>
              <a:buClr>
                <a:schemeClr val="dk1"/>
              </a:buClr>
              <a:buSzPts val="2000"/>
              <a:buFont typeface="Georgia"/>
              <a:buNone/>
              <a:defRPr b="0" i="0" sz="2000" u="none" cap="none" strike="noStrike">
                <a:solidFill>
                  <a:srgbClr val="888888"/>
                </a:solidFill>
                <a:latin typeface="Georgia"/>
                <a:ea typeface="Georgia"/>
                <a:cs typeface="Georgia"/>
                <a:sym typeface="Georgia"/>
              </a:defRPr>
            </a:lvl4pPr>
            <a:lvl5pPr indent="0" lvl="4" marL="1828800" marR="0" rtl="0" algn="ctr">
              <a:lnSpc>
                <a:spcPct val="100000"/>
              </a:lnSpc>
              <a:spcBef>
                <a:spcPts val="900"/>
              </a:spcBef>
              <a:spcAft>
                <a:spcPts val="0"/>
              </a:spcAft>
              <a:buClr>
                <a:schemeClr val="dk1"/>
              </a:buClr>
              <a:buSzPts val="2000"/>
              <a:buFont typeface="Georgia"/>
              <a:buNone/>
              <a:defRPr b="0" i="0" sz="2000" u="none" cap="none" strike="noStrike">
                <a:solidFill>
                  <a:srgbClr val="888888"/>
                </a:solidFill>
                <a:latin typeface="Georgia"/>
                <a:ea typeface="Georgia"/>
                <a:cs typeface="Georgia"/>
                <a:sym typeface="Georgia"/>
              </a:defRPr>
            </a:lvl5pPr>
            <a:lvl6pPr indent="0" lvl="5" marL="2286000" marR="0" rtl="0" algn="ctr">
              <a:lnSpc>
                <a:spcPct val="100000"/>
              </a:lnSpc>
              <a:spcBef>
                <a:spcPts val="900"/>
              </a:spcBef>
              <a:spcAft>
                <a:spcPts val="0"/>
              </a:spcAft>
              <a:buClr>
                <a:schemeClr val="dk1"/>
              </a:buClr>
              <a:buSzPts val="2000"/>
              <a:buFont typeface="Georgia"/>
              <a:buNone/>
              <a:defRPr b="0" i="0" sz="2000" u="none" cap="none" strike="noStrike">
                <a:solidFill>
                  <a:srgbClr val="888888"/>
                </a:solidFill>
                <a:latin typeface="Georgia"/>
                <a:ea typeface="Georgia"/>
                <a:cs typeface="Georgia"/>
                <a:sym typeface="Georgia"/>
              </a:defRPr>
            </a:lvl6pPr>
            <a:lvl7pPr indent="0" lvl="6" marL="2743200" marR="0" rtl="0" algn="ctr">
              <a:lnSpc>
                <a:spcPct val="100000"/>
              </a:lnSpc>
              <a:spcBef>
                <a:spcPts val="900"/>
              </a:spcBef>
              <a:spcAft>
                <a:spcPts val="0"/>
              </a:spcAft>
              <a:buClr>
                <a:srgbClr val="888888"/>
              </a:buClr>
              <a:buSzPts val="2000"/>
              <a:buFont typeface="Georgia"/>
              <a:buNone/>
              <a:defRPr b="0" i="0" sz="2000" u="none" cap="none" strike="noStrike">
                <a:solidFill>
                  <a:srgbClr val="888888"/>
                </a:solidFill>
                <a:latin typeface="Georgia"/>
                <a:ea typeface="Georgia"/>
                <a:cs typeface="Georgia"/>
                <a:sym typeface="Georgia"/>
              </a:defRPr>
            </a:lvl7pPr>
            <a:lvl8pPr indent="0" lvl="7" marL="3200400" marR="0" rtl="0" algn="ctr">
              <a:lnSpc>
                <a:spcPct val="100000"/>
              </a:lnSpc>
              <a:spcBef>
                <a:spcPts val="900"/>
              </a:spcBef>
              <a:spcAft>
                <a:spcPts val="0"/>
              </a:spcAft>
              <a:buClr>
                <a:srgbClr val="888888"/>
              </a:buClr>
              <a:buSzPts val="2000"/>
              <a:buFont typeface="Georgia"/>
              <a:buNone/>
              <a:defRPr b="0" i="0" sz="2000" u="none" cap="none" strike="noStrike">
                <a:solidFill>
                  <a:srgbClr val="888888"/>
                </a:solidFill>
                <a:latin typeface="Georgia"/>
                <a:ea typeface="Georgia"/>
                <a:cs typeface="Georgia"/>
                <a:sym typeface="Georgia"/>
              </a:defRPr>
            </a:lvl8pPr>
            <a:lvl9pPr indent="0" lvl="8" marL="3657600" marR="0" rtl="0" algn="ctr">
              <a:lnSpc>
                <a:spcPct val="100000"/>
              </a:lnSpc>
              <a:spcBef>
                <a:spcPts val="900"/>
              </a:spcBef>
              <a:spcAft>
                <a:spcPts val="900"/>
              </a:spcAft>
              <a:buClr>
                <a:srgbClr val="888888"/>
              </a:buClr>
              <a:buSzPts val="1400"/>
              <a:buFont typeface="Arial"/>
              <a:buNone/>
              <a:defRPr b="1" i="0" sz="2000" u="none" cap="none" strike="noStrike">
                <a:solidFill>
                  <a:srgbClr val="888888"/>
                </a:solidFill>
                <a:latin typeface="Georgia"/>
                <a:ea typeface="Georgia"/>
                <a:cs typeface="Georgia"/>
                <a:sym typeface="Georgia"/>
              </a:defRPr>
            </a:lvl9pPr>
          </a:lstStyle>
          <a:p/>
        </p:txBody>
      </p:sp>
      <p:sp>
        <p:nvSpPr>
          <p:cNvPr id="132" name="Google Shape;132;p15"/>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3" name="Google Shape;133;p15"/>
          <p:cNvSpPr txBox="1"/>
          <p:nvPr/>
        </p:nvSpPr>
        <p:spPr>
          <a:xfrm>
            <a:off x="533400" y="6477001"/>
            <a:ext cx="2590800" cy="1523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dk1"/>
                </a:solidFill>
                <a:latin typeface="Arial"/>
                <a:ea typeface="Arial"/>
                <a:cs typeface="Arial"/>
                <a:sym typeface="Arial"/>
              </a:rPr>
              <a:t>PwC</a:t>
            </a:r>
            <a:endParaRPr sz="1000">
              <a:solidFill>
                <a:schemeClr val="dk1"/>
              </a:solidFill>
              <a:latin typeface="Arial"/>
              <a:ea typeface="Arial"/>
              <a:cs typeface="Arial"/>
              <a:sym typeface="Arial"/>
            </a:endParaRPr>
          </a:p>
        </p:txBody>
      </p:sp>
      <p:cxnSp>
        <p:nvCxnSpPr>
          <p:cNvPr id="134" name="Google Shape;134;p15"/>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
        <p:nvSpPr>
          <p:cNvPr id="135" name="Google Shape;135;p15"/>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dk1"/>
                </a:solidFill>
                <a:latin typeface="Arial"/>
                <a:ea typeface="Arial"/>
                <a:cs typeface="Arial"/>
                <a:sym typeface="Arial"/>
              </a:defRPr>
            </a:lvl1pPr>
            <a:lvl2pPr indent="0" lvl="1" marL="0" marR="0" rtl="0" algn="r">
              <a:spcBef>
                <a:spcPts val="0"/>
              </a:spcBef>
              <a:buNone/>
              <a:defRPr sz="1000">
                <a:solidFill>
                  <a:schemeClr val="dk1"/>
                </a:solidFill>
                <a:latin typeface="Arial"/>
                <a:ea typeface="Arial"/>
                <a:cs typeface="Arial"/>
                <a:sym typeface="Arial"/>
              </a:defRPr>
            </a:lvl2pPr>
            <a:lvl3pPr indent="0" lvl="2" marL="0" marR="0" rtl="0" algn="r">
              <a:spcBef>
                <a:spcPts val="0"/>
              </a:spcBef>
              <a:buNone/>
              <a:defRPr sz="1000">
                <a:solidFill>
                  <a:schemeClr val="dk1"/>
                </a:solidFill>
                <a:latin typeface="Arial"/>
                <a:ea typeface="Arial"/>
                <a:cs typeface="Arial"/>
                <a:sym typeface="Arial"/>
              </a:defRPr>
            </a:lvl3pPr>
            <a:lvl4pPr indent="0" lvl="3" marL="0" marR="0" rtl="0" algn="r">
              <a:spcBef>
                <a:spcPts val="0"/>
              </a:spcBef>
              <a:buNone/>
              <a:defRPr sz="1000">
                <a:solidFill>
                  <a:schemeClr val="dk1"/>
                </a:solidFill>
                <a:latin typeface="Arial"/>
                <a:ea typeface="Arial"/>
                <a:cs typeface="Arial"/>
                <a:sym typeface="Arial"/>
              </a:defRPr>
            </a:lvl4pPr>
            <a:lvl5pPr indent="0" lvl="4" marL="0" marR="0" rtl="0" algn="r">
              <a:spcBef>
                <a:spcPts val="0"/>
              </a:spcBef>
              <a:buNone/>
              <a:defRPr sz="1000">
                <a:solidFill>
                  <a:schemeClr val="dk1"/>
                </a:solidFill>
                <a:latin typeface="Arial"/>
                <a:ea typeface="Arial"/>
                <a:cs typeface="Arial"/>
                <a:sym typeface="Arial"/>
              </a:defRPr>
            </a:lvl5pPr>
            <a:lvl6pPr indent="0" lvl="5" marL="0" marR="0" rtl="0" algn="r">
              <a:spcBef>
                <a:spcPts val="0"/>
              </a:spcBef>
              <a:buNone/>
              <a:defRPr sz="1000">
                <a:solidFill>
                  <a:schemeClr val="dk1"/>
                </a:solidFill>
                <a:latin typeface="Arial"/>
                <a:ea typeface="Arial"/>
                <a:cs typeface="Arial"/>
                <a:sym typeface="Arial"/>
              </a:defRPr>
            </a:lvl6pPr>
            <a:lvl7pPr indent="0" lvl="6" marL="0" marR="0" rtl="0" algn="r">
              <a:spcBef>
                <a:spcPts val="0"/>
              </a:spcBef>
              <a:buNone/>
              <a:defRPr sz="1000">
                <a:solidFill>
                  <a:schemeClr val="dk1"/>
                </a:solidFill>
                <a:latin typeface="Arial"/>
                <a:ea typeface="Arial"/>
                <a:cs typeface="Arial"/>
                <a:sym typeface="Arial"/>
              </a:defRPr>
            </a:lvl7pPr>
            <a:lvl8pPr indent="0" lvl="7" marL="0" marR="0" rtl="0" algn="r">
              <a:spcBef>
                <a:spcPts val="0"/>
              </a:spcBef>
              <a:buNone/>
              <a:defRPr sz="1000">
                <a:solidFill>
                  <a:schemeClr val="dk1"/>
                </a:solidFill>
                <a:latin typeface="Arial"/>
                <a:ea typeface="Arial"/>
                <a:cs typeface="Arial"/>
                <a:sym typeface="Arial"/>
              </a:defRPr>
            </a:lvl8pPr>
            <a:lvl9pPr indent="0" lvl="8" marL="0" marR="0" rtl="0" algn="r">
              <a:spcBef>
                <a:spcPts val="0"/>
              </a:spcBef>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6" name="Google Shape;136;p15"/>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Colour">
  <p:cSld name="Section Divider: Colour">
    <p:bg>
      <p:bgPr>
        <a:solidFill>
          <a:schemeClr val="dk2"/>
        </a:solidFill>
      </p:bgPr>
    </p:bg>
    <p:spTree>
      <p:nvGrpSpPr>
        <p:cNvPr id="137" name="Shape 137"/>
        <p:cNvGrpSpPr/>
        <p:nvPr/>
      </p:nvGrpSpPr>
      <p:grpSpPr>
        <a:xfrm>
          <a:off x="0" y="0"/>
          <a:ext cx="0" cy="0"/>
          <a:chOff x="0" y="0"/>
          <a:chExt cx="0" cy="0"/>
        </a:xfrm>
      </p:grpSpPr>
      <p:sp>
        <p:nvSpPr>
          <p:cNvPr id="138" name="Google Shape;138;p16"/>
          <p:cNvSpPr txBox="1"/>
          <p:nvPr>
            <p:ph type="ctrTitle"/>
          </p:nvPr>
        </p:nvSpPr>
        <p:spPr>
          <a:xfrm>
            <a:off x="533400" y="685800"/>
            <a:ext cx="8077200" cy="10668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Georgia"/>
              <a:buNone/>
              <a:defRPr b="1" i="1" sz="32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39" name="Google Shape;139;p16"/>
          <p:cNvSpPr txBox="1"/>
          <p:nvPr>
            <p:ph idx="1" type="subTitle"/>
          </p:nvPr>
        </p:nvSpPr>
        <p:spPr>
          <a:xfrm>
            <a:off x="533400" y="1905000"/>
            <a:ext cx="8077200" cy="13716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0" lvl="1" marL="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140" name="Google Shape;140;p16"/>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lt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1" name="Google Shape;141;p16"/>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lt1"/>
                </a:solidFill>
                <a:latin typeface="Arial"/>
                <a:ea typeface="Arial"/>
                <a:cs typeface="Arial"/>
                <a:sym typeface="Arial"/>
              </a:rPr>
              <a:t>PwC</a:t>
            </a:r>
            <a:endParaRPr sz="1000">
              <a:solidFill>
                <a:schemeClr val="lt1"/>
              </a:solidFill>
              <a:latin typeface="Arial"/>
              <a:ea typeface="Arial"/>
              <a:cs typeface="Arial"/>
              <a:sym typeface="Arial"/>
            </a:endParaRPr>
          </a:p>
        </p:txBody>
      </p:sp>
      <p:cxnSp>
        <p:nvCxnSpPr>
          <p:cNvPr id="142" name="Google Shape;142;p16"/>
          <p:cNvCxnSpPr/>
          <p:nvPr/>
        </p:nvCxnSpPr>
        <p:spPr>
          <a:xfrm flipH="1" rot="10800000">
            <a:off x="381000" y="609600"/>
            <a:ext cx="8229600" cy="152400"/>
          </a:xfrm>
          <a:prstGeom prst="bentConnector2">
            <a:avLst/>
          </a:prstGeom>
          <a:noFill/>
          <a:ln cap="flat" cmpd="sng" w="12700">
            <a:solidFill>
              <a:schemeClr val="lt1"/>
            </a:solidFill>
            <a:prstDash val="solid"/>
            <a:round/>
            <a:headEnd len="sm" w="sm" type="none"/>
            <a:tailEnd len="sm" w="sm" type="none"/>
          </a:ln>
        </p:spPr>
      </p:cxnSp>
      <p:sp>
        <p:nvSpPr>
          <p:cNvPr id="143" name="Google Shape;143;p16"/>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lt1"/>
                </a:solidFill>
                <a:latin typeface="Arial"/>
                <a:ea typeface="Arial"/>
                <a:cs typeface="Arial"/>
                <a:sym typeface="Arial"/>
              </a:defRPr>
            </a:lvl1pPr>
            <a:lvl2pPr indent="0" lvl="1" marL="0" marR="0" rtl="0" algn="r">
              <a:spcBef>
                <a:spcPts val="0"/>
              </a:spcBef>
              <a:buNone/>
              <a:defRPr sz="1000">
                <a:solidFill>
                  <a:schemeClr val="lt1"/>
                </a:solidFill>
                <a:latin typeface="Arial"/>
                <a:ea typeface="Arial"/>
                <a:cs typeface="Arial"/>
                <a:sym typeface="Arial"/>
              </a:defRPr>
            </a:lvl2pPr>
            <a:lvl3pPr indent="0" lvl="2" marL="0" marR="0" rtl="0" algn="r">
              <a:spcBef>
                <a:spcPts val="0"/>
              </a:spcBef>
              <a:buNone/>
              <a:defRPr sz="1000">
                <a:solidFill>
                  <a:schemeClr val="lt1"/>
                </a:solidFill>
                <a:latin typeface="Arial"/>
                <a:ea typeface="Arial"/>
                <a:cs typeface="Arial"/>
                <a:sym typeface="Arial"/>
              </a:defRPr>
            </a:lvl3pPr>
            <a:lvl4pPr indent="0" lvl="3" marL="0" marR="0" rtl="0" algn="r">
              <a:spcBef>
                <a:spcPts val="0"/>
              </a:spcBef>
              <a:buNone/>
              <a:defRPr sz="1000">
                <a:solidFill>
                  <a:schemeClr val="lt1"/>
                </a:solidFill>
                <a:latin typeface="Arial"/>
                <a:ea typeface="Arial"/>
                <a:cs typeface="Arial"/>
                <a:sym typeface="Arial"/>
              </a:defRPr>
            </a:lvl4pPr>
            <a:lvl5pPr indent="0" lvl="4" marL="0" marR="0" rtl="0" algn="r">
              <a:spcBef>
                <a:spcPts val="0"/>
              </a:spcBef>
              <a:buNone/>
              <a:defRPr sz="1000">
                <a:solidFill>
                  <a:schemeClr val="lt1"/>
                </a:solidFill>
                <a:latin typeface="Arial"/>
                <a:ea typeface="Arial"/>
                <a:cs typeface="Arial"/>
                <a:sym typeface="Arial"/>
              </a:defRPr>
            </a:lvl5pPr>
            <a:lvl6pPr indent="0" lvl="5" marL="0" marR="0" rtl="0" algn="r">
              <a:spcBef>
                <a:spcPts val="0"/>
              </a:spcBef>
              <a:buNone/>
              <a:defRPr sz="1000">
                <a:solidFill>
                  <a:schemeClr val="lt1"/>
                </a:solidFill>
                <a:latin typeface="Arial"/>
                <a:ea typeface="Arial"/>
                <a:cs typeface="Arial"/>
                <a:sym typeface="Arial"/>
              </a:defRPr>
            </a:lvl6pPr>
            <a:lvl7pPr indent="0" lvl="6" marL="0" marR="0" rtl="0" algn="r">
              <a:spcBef>
                <a:spcPts val="0"/>
              </a:spcBef>
              <a:buNone/>
              <a:defRPr sz="1000">
                <a:solidFill>
                  <a:schemeClr val="lt1"/>
                </a:solidFill>
                <a:latin typeface="Arial"/>
                <a:ea typeface="Arial"/>
                <a:cs typeface="Arial"/>
                <a:sym typeface="Arial"/>
              </a:defRPr>
            </a:lvl7pPr>
            <a:lvl8pPr indent="0" lvl="7" marL="0" marR="0" rtl="0" algn="r">
              <a:spcBef>
                <a:spcPts val="0"/>
              </a:spcBef>
              <a:buNone/>
              <a:defRPr sz="1000">
                <a:solidFill>
                  <a:schemeClr val="lt1"/>
                </a:solidFill>
                <a:latin typeface="Arial"/>
                <a:ea typeface="Arial"/>
                <a:cs typeface="Arial"/>
                <a:sym typeface="Arial"/>
              </a:defRPr>
            </a:lvl8pPr>
            <a:lvl9pPr indent="0" lvl="8" marL="0" marR="0" rtl="0" algn="r">
              <a:spcBef>
                <a:spcPts val="0"/>
              </a:spcBef>
              <a:buNone/>
              <a:defRPr sz="10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44" name="Google Shape;144;p16"/>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lt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Content">
  <p:cSld name="Section Divider: Content">
    <p:bg>
      <p:bgPr>
        <a:solidFill>
          <a:schemeClr val="dk2"/>
        </a:solidFill>
      </p:bgPr>
    </p:bg>
    <p:spTree>
      <p:nvGrpSpPr>
        <p:cNvPr id="145" name="Shape 145"/>
        <p:cNvGrpSpPr/>
        <p:nvPr/>
      </p:nvGrpSpPr>
      <p:grpSpPr>
        <a:xfrm>
          <a:off x="0" y="0"/>
          <a:ext cx="0" cy="0"/>
          <a:chOff x="0" y="0"/>
          <a:chExt cx="0" cy="0"/>
        </a:xfrm>
      </p:grpSpPr>
      <p:sp>
        <p:nvSpPr>
          <p:cNvPr id="146" name="Google Shape;146;p17"/>
          <p:cNvSpPr txBox="1"/>
          <p:nvPr>
            <p:ph type="ctrTitle"/>
          </p:nvPr>
        </p:nvSpPr>
        <p:spPr>
          <a:xfrm>
            <a:off x="533400" y="685800"/>
            <a:ext cx="8077200" cy="10668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Georgia"/>
              <a:buNone/>
              <a:defRPr b="1" i="1" sz="32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47" name="Google Shape;147;p17"/>
          <p:cNvSpPr txBox="1"/>
          <p:nvPr>
            <p:ph idx="1" type="body"/>
          </p:nvPr>
        </p:nvSpPr>
        <p:spPr>
          <a:xfrm>
            <a:off x="533401" y="2819400"/>
            <a:ext cx="3962399" cy="3352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lt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lt1"/>
              </a:buClr>
              <a:buSzPts val="2000"/>
              <a:buFont typeface="Georgia"/>
              <a:buChar char="•"/>
              <a:defRPr b="0" i="0" sz="2000" u="none" cap="none" strike="noStrike">
                <a:solidFill>
                  <a:schemeClr val="lt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lt1"/>
              </a:buClr>
              <a:buSzPts val="2000"/>
              <a:buFont typeface="Georgia"/>
              <a:buChar char="-"/>
              <a:defRPr b="0" i="0" sz="2000" u="none" cap="none" strike="noStrike">
                <a:solidFill>
                  <a:schemeClr val="lt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lt1"/>
              </a:buClr>
              <a:buSzPts val="2000"/>
              <a:buFont typeface="Georgia"/>
              <a:buChar char="◦"/>
              <a:defRPr b="0" i="0" sz="2000" u="none" cap="none" strike="noStrike">
                <a:solidFill>
                  <a:schemeClr val="lt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lt1"/>
              </a:buClr>
              <a:buSzPts val="2000"/>
              <a:buFont typeface="Georgia"/>
              <a:buChar char="›"/>
              <a:defRPr b="0" i="0" sz="2000" u="none" cap="none" strike="noStrike">
                <a:solidFill>
                  <a:schemeClr val="lt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lt1"/>
              </a:buClr>
              <a:buSzPts val="2000"/>
              <a:buFont typeface="Georgia"/>
              <a:buAutoNum type="arabicPeriod"/>
              <a:defRPr b="0" i="0" sz="2000" u="none" cap="none" strike="noStrike">
                <a:solidFill>
                  <a:schemeClr val="lt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lt1"/>
              </a:buClr>
              <a:buSzPts val="2000"/>
              <a:buFont typeface="Georgia"/>
              <a:buAutoNum type="alphaLcPeriod"/>
              <a:defRPr b="0" i="0" sz="2000" u="none" cap="none" strike="noStrike">
                <a:solidFill>
                  <a:schemeClr val="lt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lt1"/>
              </a:buClr>
              <a:buSzPts val="2000"/>
              <a:buFont typeface="Georgia"/>
              <a:buAutoNum type="romanLcPeriod"/>
              <a:defRPr b="0" i="0" sz="2000" u="none" cap="none" strike="noStrike">
                <a:solidFill>
                  <a:schemeClr val="lt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lt1"/>
              </a:buClr>
              <a:buSzPts val="1400"/>
              <a:buFont typeface="Arial"/>
              <a:buNone/>
              <a:defRPr b="1" i="0" sz="2000" u="none" cap="none" strike="noStrike">
                <a:solidFill>
                  <a:schemeClr val="lt1"/>
                </a:solidFill>
                <a:latin typeface="Georgia"/>
                <a:ea typeface="Georgia"/>
                <a:cs typeface="Georgia"/>
                <a:sym typeface="Georgia"/>
              </a:defRPr>
            </a:lvl9pPr>
          </a:lstStyle>
          <a:p/>
        </p:txBody>
      </p:sp>
      <p:sp>
        <p:nvSpPr>
          <p:cNvPr id="148" name="Google Shape;148;p17"/>
          <p:cNvSpPr txBox="1"/>
          <p:nvPr>
            <p:ph idx="2" type="subTitle"/>
          </p:nvPr>
        </p:nvSpPr>
        <p:spPr>
          <a:xfrm>
            <a:off x="533400" y="1905001"/>
            <a:ext cx="8077200" cy="7620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0" lvl="1" marL="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149" name="Google Shape;149;p17"/>
          <p:cNvSpPr txBox="1"/>
          <p:nvPr>
            <p:ph idx="11" type="ftr"/>
          </p:nvPr>
        </p:nvSpPr>
        <p:spPr>
          <a:xfrm>
            <a:off x="533400" y="6324600"/>
            <a:ext cx="5257800" cy="152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lt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0" name="Google Shape;150;p17"/>
          <p:cNvSpPr txBox="1"/>
          <p:nvPr/>
        </p:nvSpPr>
        <p:spPr>
          <a:xfrm>
            <a:off x="533400" y="6477001"/>
            <a:ext cx="25908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000">
                <a:solidFill>
                  <a:schemeClr val="lt1"/>
                </a:solidFill>
                <a:latin typeface="Arial"/>
                <a:ea typeface="Arial"/>
                <a:cs typeface="Arial"/>
                <a:sym typeface="Arial"/>
              </a:rPr>
              <a:t>PwC</a:t>
            </a:r>
            <a:endParaRPr sz="1000">
              <a:solidFill>
                <a:schemeClr val="lt1"/>
              </a:solidFill>
              <a:latin typeface="Arial"/>
              <a:ea typeface="Arial"/>
              <a:cs typeface="Arial"/>
              <a:sym typeface="Arial"/>
            </a:endParaRPr>
          </a:p>
        </p:txBody>
      </p:sp>
      <p:cxnSp>
        <p:nvCxnSpPr>
          <p:cNvPr id="151" name="Google Shape;151;p17"/>
          <p:cNvCxnSpPr/>
          <p:nvPr/>
        </p:nvCxnSpPr>
        <p:spPr>
          <a:xfrm flipH="1" rot="10800000">
            <a:off x="381000" y="609600"/>
            <a:ext cx="8229600" cy="152400"/>
          </a:xfrm>
          <a:prstGeom prst="bentConnector2">
            <a:avLst/>
          </a:prstGeom>
          <a:noFill/>
          <a:ln cap="flat" cmpd="sng" w="12700">
            <a:solidFill>
              <a:schemeClr val="lt1"/>
            </a:solidFill>
            <a:prstDash val="solid"/>
            <a:round/>
            <a:headEnd len="sm" w="sm" type="none"/>
            <a:tailEnd len="sm" w="sm" type="none"/>
          </a:ln>
        </p:spPr>
      </p:cxnSp>
      <p:sp>
        <p:nvSpPr>
          <p:cNvPr id="152" name="Google Shape;152;p17"/>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000">
                <a:solidFill>
                  <a:schemeClr val="lt1"/>
                </a:solidFill>
                <a:latin typeface="Arial"/>
                <a:ea typeface="Arial"/>
                <a:cs typeface="Arial"/>
                <a:sym typeface="Arial"/>
              </a:defRPr>
            </a:lvl1pPr>
            <a:lvl2pPr indent="0" lvl="1" marL="0" marR="0" rtl="0" algn="r">
              <a:spcBef>
                <a:spcPts val="0"/>
              </a:spcBef>
              <a:buNone/>
              <a:defRPr sz="1000">
                <a:solidFill>
                  <a:schemeClr val="lt1"/>
                </a:solidFill>
                <a:latin typeface="Arial"/>
                <a:ea typeface="Arial"/>
                <a:cs typeface="Arial"/>
                <a:sym typeface="Arial"/>
              </a:defRPr>
            </a:lvl2pPr>
            <a:lvl3pPr indent="0" lvl="2" marL="0" marR="0" rtl="0" algn="r">
              <a:spcBef>
                <a:spcPts val="0"/>
              </a:spcBef>
              <a:buNone/>
              <a:defRPr sz="1000">
                <a:solidFill>
                  <a:schemeClr val="lt1"/>
                </a:solidFill>
                <a:latin typeface="Arial"/>
                <a:ea typeface="Arial"/>
                <a:cs typeface="Arial"/>
                <a:sym typeface="Arial"/>
              </a:defRPr>
            </a:lvl3pPr>
            <a:lvl4pPr indent="0" lvl="3" marL="0" marR="0" rtl="0" algn="r">
              <a:spcBef>
                <a:spcPts val="0"/>
              </a:spcBef>
              <a:buNone/>
              <a:defRPr sz="1000">
                <a:solidFill>
                  <a:schemeClr val="lt1"/>
                </a:solidFill>
                <a:latin typeface="Arial"/>
                <a:ea typeface="Arial"/>
                <a:cs typeface="Arial"/>
                <a:sym typeface="Arial"/>
              </a:defRPr>
            </a:lvl4pPr>
            <a:lvl5pPr indent="0" lvl="4" marL="0" marR="0" rtl="0" algn="r">
              <a:spcBef>
                <a:spcPts val="0"/>
              </a:spcBef>
              <a:buNone/>
              <a:defRPr sz="1000">
                <a:solidFill>
                  <a:schemeClr val="lt1"/>
                </a:solidFill>
                <a:latin typeface="Arial"/>
                <a:ea typeface="Arial"/>
                <a:cs typeface="Arial"/>
                <a:sym typeface="Arial"/>
              </a:defRPr>
            </a:lvl5pPr>
            <a:lvl6pPr indent="0" lvl="5" marL="0" marR="0" rtl="0" algn="r">
              <a:spcBef>
                <a:spcPts val="0"/>
              </a:spcBef>
              <a:buNone/>
              <a:defRPr sz="1000">
                <a:solidFill>
                  <a:schemeClr val="lt1"/>
                </a:solidFill>
                <a:latin typeface="Arial"/>
                <a:ea typeface="Arial"/>
                <a:cs typeface="Arial"/>
                <a:sym typeface="Arial"/>
              </a:defRPr>
            </a:lvl6pPr>
            <a:lvl7pPr indent="0" lvl="6" marL="0" marR="0" rtl="0" algn="r">
              <a:spcBef>
                <a:spcPts val="0"/>
              </a:spcBef>
              <a:buNone/>
              <a:defRPr sz="1000">
                <a:solidFill>
                  <a:schemeClr val="lt1"/>
                </a:solidFill>
                <a:latin typeface="Arial"/>
                <a:ea typeface="Arial"/>
                <a:cs typeface="Arial"/>
                <a:sym typeface="Arial"/>
              </a:defRPr>
            </a:lvl7pPr>
            <a:lvl8pPr indent="0" lvl="7" marL="0" marR="0" rtl="0" algn="r">
              <a:spcBef>
                <a:spcPts val="0"/>
              </a:spcBef>
              <a:buNone/>
              <a:defRPr sz="1000">
                <a:solidFill>
                  <a:schemeClr val="lt1"/>
                </a:solidFill>
                <a:latin typeface="Arial"/>
                <a:ea typeface="Arial"/>
                <a:cs typeface="Arial"/>
                <a:sym typeface="Arial"/>
              </a:defRPr>
            </a:lvl8pPr>
            <a:lvl9pPr indent="0" lvl="8" marL="0" marR="0" rtl="0" algn="r">
              <a:spcBef>
                <a:spcPts val="0"/>
              </a:spcBef>
              <a:buNone/>
              <a:defRPr sz="10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53" name="Google Shape;153;p17"/>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sz="1000">
                <a:solidFill>
                  <a:schemeClr val="lt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Fixed Logo">
  <p:cSld name="Cover Slide: Fixed Logo">
    <p:spTree>
      <p:nvGrpSpPr>
        <p:cNvPr id="154" name="Shape 154"/>
        <p:cNvGrpSpPr/>
        <p:nvPr/>
      </p:nvGrpSpPr>
      <p:grpSpPr>
        <a:xfrm>
          <a:off x="0" y="0"/>
          <a:ext cx="0" cy="0"/>
          <a:chOff x="0" y="0"/>
          <a:chExt cx="0" cy="0"/>
        </a:xfrm>
      </p:grpSpPr>
      <p:cxnSp>
        <p:nvCxnSpPr>
          <p:cNvPr id="155" name="Google Shape;155;p18"/>
          <p:cNvCxnSpPr/>
          <p:nvPr/>
        </p:nvCxnSpPr>
        <p:spPr>
          <a:xfrm flipH="1" rot="10800000">
            <a:off x="1752601" y="609600"/>
            <a:ext cx="6839700" cy="152400"/>
          </a:xfrm>
          <a:prstGeom prst="bentConnector2">
            <a:avLst/>
          </a:prstGeom>
          <a:noFill/>
          <a:ln cap="flat" cmpd="sng" w="12700">
            <a:solidFill>
              <a:schemeClr val="dk2"/>
            </a:solidFill>
            <a:prstDash val="solid"/>
            <a:round/>
            <a:headEnd len="sm" w="sm" type="none"/>
            <a:tailEnd len="sm" w="sm" type="none"/>
          </a:ln>
        </p:spPr>
      </p:cxnSp>
      <p:sp>
        <p:nvSpPr>
          <p:cNvPr id="156" name="Google Shape;156;p18"/>
          <p:cNvSpPr txBox="1"/>
          <p:nvPr>
            <p:ph type="ctrTitle"/>
          </p:nvPr>
        </p:nvSpPr>
        <p:spPr>
          <a:xfrm>
            <a:off x="1895475" y="838200"/>
            <a:ext cx="5343525" cy="9144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1" i="1" sz="32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57" name="Google Shape;157;p18"/>
          <p:cNvSpPr txBox="1"/>
          <p:nvPr>
            <p:ph idx="1" type="subTitle"/>
          </p:nvPr>
        </p:nvSpPr>
        <p:spPr>
          <a:xfrm>
            <a:off x="1895475" y="1828799"/>
            <a:ext cx="5343525" cy="914401"/>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dk1"/>
                </a:solidFill>
                <a:latin typeface="Georgia"/>
                <a:ea typeface="Georgia"/>
                <a:cs typeface="Georgia"/>
                <a:sym typeface="Georgia"/>
              </a:defRPr>
            </a:lvl1pPr>
            <a:lvl2pPr indent="0" lvl="1" marL="0" marR="0" rtl="0" algn="l">
              <a:lnSpc>
                <a:spcPct val="100000"/>
              </a:lnSpc>
              <a:spcBef>
                <a:spcPts val="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158" name="Google Shape;158;p18"/>
          <p:cNvSpPr txBox="1"/>
          <p:nvPr>
            <p:ph idx="2" type="body"/>
          </p:nvPr>
        </p:nvSpPr>
        <p:spPr>
          <a:xfrm>
            <a:off x="1895475" y="374904"/>
            <a:ext cx="4105656" cy="146304"/>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Arial"/>
              <a:buNone/>
              <a:defRPr b="0" i="0" sz="1100" u="none" cap="none" strike="noStrike">
                <a:solidFill>
                  <a:schemeClr val="dk1"/>
                </a:solidFill>
                <a:latin typeface="Arial"/>
                <a:ea typeface="Arial"/>
                <a:cs typeface="Arial"/>
                <a:sym typeface="Arial"/>
              </a:defRPr>
            </a:lvl1pPr>
            <a:lvl2pPr indent="-292100" lvl="1" marL="9144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2pPr>
            <a:lvl3pPr indent="-292100" lvl="2" marL="13716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3pPr>
            <a:lvl4pPr indent="-292100" lvl="3" marL="18288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4pPr>
            <a:lvl5pPr indent="-292100" lvl="4" marL="22860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grpSp>
        <p:nvGrpSpPr>
          <p:cNvPr id="159" name="Google Shape;159;p18"/>
          <p:cNvGrpSpPr/>
          <p:nvPr/>
        </p:nvGrpSpPr>
        <p:grpSpPr>
          <a:xfrm>
            <a:off x="968592" y="5768682"/>
            <a:ext cx="1232280" cy="935788"/>
            <a:chOff x="518032" y="-1032862"/>
            <a:chExt cx="6161397" cy="4678936"/>
          </a:xfrm>
        </p:grpSpPr>
        <p:grpSp>
          <p:nvGrpSpPr>
            <p:cNvPr id="160" name="Google Shape;160;p18"/>
            <p:cNvGrpSpPr/>
            <p:nvPr/>
          </p:nvGrpSpPr>
          <p:grpSpPr>
            <a:xfrm>
              <a:off x="4438637" y="-1032862"/>
              <a:ext cx="2240792" cy="2011550"/>
              <a:chOff x="1905000" y="5715000"/>
              <a:chExt cx="445770" cy="381000"/>
            </a:xfrm>
          </p:grpSpPr>
          <p:sp>
            <p:nvSpPr>
              <p:cNvPr id="161" name="Google Shape;161;p18"/>
              <p:cNvSpPr/>
              <p:nvPr/>
            </p:nvSpPr>
            <p:spPr>
              <a:xfrm>
                <a:off x="2293620" y="5988118"/>
                <a:ext cx="57150" cy="107882"/>
              </a:xfrm>
              <a:prstGeom prst="rect">
                <a:avLst/>
              </a:prstGeom>
              <a:solidFill>
                <a:srgbClr val="F44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 name="Google Shape;162;p18"/>
              <p:cNvSpPr/>
              <p:nvPr/>
            </p:nvSpPr>
            <p:spPr>
              <a:xfrm>
                <a:off x="2132171" y="5757333"/>
                <a:ext cx="44291" cy="66914"/>
              </a:xfrm>
              <a:prstGeom prst="rect">
                <a:avLst/>
              </a:prstGeom>
              <a:solidFill>
                <a:srgbClr val="F6B6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18"/>
              <p:cNvSpPr/>
              <p:nvPr/>
            </p:nvSpPr>
            <p:spPr>
              <a:xfrm>
                <a:off x="1905000" y="5715000"/>
                <a:ext cx="227171" cy="42333"/>
              </a:xfrm>
              <a:prstGeom prst="rect">
                <a:avLst/>
              </a:prstGeom>
              <a:solidFill>
                <a:srgbClr val="F48F1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18"/>
              <p:cNvSpPr/>
              <p:nvPr/>
            </p:nvSpPr>
            <p:spPr>
              <a:xfrm>
                <a:off x="1905000" y="5757333"/>
                <a:ext cx="227171" cy="66914"/>
              </a:xfrm>
              <a:prstGeom prst="rect">
                <a:avLst/>
              </a:prstGeom>
              <a:solidFill>
                <a:srgbClr val="EB66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18"/>
              <p:cNvSpPr/>
              <p:nvPr/>
            </p:nvSpPr>
            <p:spPr>
              <a:xfrm>
                <a:off x="2176462" y="5824247"/>
                <a:ext cx="117158" cy="163871"/>
              </a:xfrm>
              <a:prstGeom prst="rect">
                <a:avLst/>
              </a:prstGeom>
              <a:solidFill>
                <a:srgbClr val="F3BF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18"/>
              <p:cNvSpPr/>
              <p:nvPr/>
            </p:nvSpPr>
            <p:spPr>
              <a:xfrm>
                <a:off x="2176462" y="5988118"/>
                <a:ext cx="117158" cy="107882"/>
              </a:xfrm>
              <a:prstGeom prst="rect">
                <a:avLst/>
              </a:prstGeom>
              <a:solidFill>
                <a:srgbClr val="E934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8"/>
              <p:cNvSpPr/>
              <p:nvPr/>
            </p:nvSpPr>
            <p:spPr>
              <a:xfrm>
                <a:off x="2132171" y="5824247"/>
                <a:ext cx="44291" cy="163871"/>
              </a:xfrm>
              <a:prstGeom prst="rect">
                <a:avLst/>
              </a:prstGeom>
              <a:solidFill>
                <a:srgbClr val="EA880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18"/>
              <p:cNvSpPr/>
              <p:nvPr/>
            </p:nvSpPr>
            <p:spPr>
              <a:xfrm>
                <a:off x="2132171" y="5988118"/>
                <a:ext cx="44291" cy="107882"/>
              </a:xfrm>
              <a:prstGeom prst="rect">
                <a:avLst/>
              </a:prstGeom>
              <a:solidFill>
                <a:srgbClr val="E0250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18"/>
              <p:cNvSpPr/>
              <p:nvPr/>
            </p:nvSpPr>
            <p:spPr>
              <a:xfrm>
                <a:off x="1905000" y="5824247"/>
                <a:ext cx="227171" cy="163871"/>
              </a:xfrm>
              <a:custGeom>
                <a:rect b="b" l="l" r="r" t="t"/>
                <a:pathLst>
                  <a:path extrusionOk="0" h="120000" w="120000">
                    <a:moveTo>
                      <a:pt x="0" y="0"/>
                    </a:moveTo>
                    <a:lnTo>
                      <a:pt x="120000" y="0"/>
                    </a:lnTo>
                    <a:lnTo>
                      <a:pt x="120000" y="120000"/>
                    </a:lnTo>
                    <a:lnTo>
                      <a:pt x="74716" y="120000"/>
                    </a:lnTo>
                    <a:lnTo>
                      <a:pt x="74716" y="80000"/>
                    </a:lnTo>
                    <a:lnTo>
                      <a:pt x="0" y="80000"/>
                    </a:lnTo>
                    <a:lnTo>
                      <a:pt x="0" y="0"/>
                    </a:lnTo>
                    <a:close/>
                  </a:path>
                </a:pathLst>
              </a:custGeom>
              <a:solidFill>
                <a:srgbClr val="E04C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18"/>
              <p:cNvSpPr/>
              <p:nvPr/>
            </p:nvSpPr>
            <p:spPr>
              <a:xfrm>
                <a:off x="2046446" y="5988118"/>
                <a:ext cx="85725" cy="107882"/>
              </a:xfrm>
              <a:prstGeom prst="rect">
                <a:avLst/>
              </a:prstGeom>
              <a:solidFill>
                <a:srgbClr val="D614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18"/>
              <p:cNvSpPr/>
              <p:nvPr/>
            </p:nvSpPr>
            <p:spPr>
              <a:xfrm>
                <a:off x="1905000" y="5933495"/>
                <a:ext cx="141446" cy="54624"/>
              </a:xfrm>
              <a:prstGeom prst="rect">
                <a:avLst/>
              </a:prstGeom>
              <a:solidFill>
                <a:srgbClr val="C93C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18"/>
              <p:cNvSpPr/>
              <p:nvPr/>
            </p:nvSpPr>
            <p:spPr>
              <a:xfrm>
                <a:off x="1905000" y="5988118"/>
                <a:ext cx="141446" cy="107882"/>
              </a:xfrm>
              <a:prstGeom prst="rect">
                <a:avLst/>
              </a:prstGeom>
              <a:solidFill>
                <a:srgbClr val="C01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18"/>
              <p:cNvSpPr/>
              <p:nvPr/>
            </p:nvSpPr>
            <p:spPr>
              <a:xfrm>
                <a:off x="2293620" y="5988118"/>
                <a:ext cx="57150" cy="107882"/>
              </a:xfrm>
              <a:prstGeom prst="rect">
                <a:avLst/>
              </a:prstGeom>
              <a:solidFill>
                <a:srgbClr val="F44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18"/>
              <p:cNvSpPr/>
              <p:nvPr/>
            </p:nvSpPr>
            <p:spPr>
              <a:xfrm>
                <a:off x="2132171" y="5757333"/>
                <a:ext cx="44291" cy="66914"/>
              </a:xfrm>
              <a:prstGeom prst="rect">
                <a:avLst/>
              </a:prstGeom>
              <a:solidFill>
                <a:srgbClr val="F6B6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18"/>
              <p:cNvSpPr/>
              <p:nvPr/>
            </p:nvSpPr>
            <p:spPr>
              <a:xfrm>
                <a:off x="1905000" y="5715000"/>
                <a:ext cx="227171" cy="42333"/>
              </a:xfrm>
              <a:prstGeom prst="rect">
                <a:avLst/>
              </a:prstGeom>
              <a:solidFill>
                <a:srgbClr val="F48F1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18"/>
              <p:cNvSpPr/>
              <p:nvPr/>
            </p:nvSpPr>
            <p:spPr>
              <a:xfrm>
                <a:off x="1905000" y="5757333"/>
                <a:ext cx="227171" cy="66914"/>
              </a:xfrm>
              <a:prstGeom prst="rect">
                <a:avLst/>
              </a:prstGeom>
              <a:solidFill>
                <a:srgbClr val="EB660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7" name="Google Shape;177;p18"/>
              <p:cNvSpPr/>
              <p:nvPr/>
            </p:nvSpPr>
            <p:spPr>
              <a:xfrm>
                <a:off x="2176462" y="5824247"/>
                <a:ext cx="117158" cy="163871"/>
              </a:xfrm>
              <a:prstGeom prst="rect">
                <a:avLst/>
              </a:prstGeom>
              <a:solidFill>
                <a:srgbClr val="F3BF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18"/>
              <p:cNvSpPr/>
              <p:nvPr/>
            </p:nvSpPr>
            <p:spPr>
              <a:xfrm>
                <a:off x="2176462" y="5988118"/>
                <a:ext cx="117158" cy="107882"/>
              </a:xfrm>
              <a:prstGeom prst="rect">
                <a:avLst/>
              </a:prstGeom>
              <a:solidFill>
                <a:srgbClr val="E9340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18"/>
              <p:cNvSpPr/>
              <p:nvPr/>
            </p:nvSpPr>
            <p:spPr>
              <a:xfrm>
                <a:off x="2132171" y="5824247"/>
                <a:ext cx="44291" cy="163871"/>
              </a:xfrm>
              <a:prstGeom prst="rect">
                <a:avLst/>
              </a:prstGeom>
              <a:solidFill>
                <a:srgbClr val="EA880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18"/>
              <p:cNvSpPr/>
              <p:nvPr/>
            </p:nvSpPr>
            <p:spPr>
              <a:xfrm>
                <a:off x="2132171" y="5988118"/>
                <a:ext cx="44291" cy="107882"/>
              </a:xfrm>
              <a:prstGeom prst="rect">
                <a:avLst/>
              </a:prstGeom>
              <a:solidFill>
                <a:srgbClr val="E0250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18"/>
              <p:cNvSpPr/>
              <p:nvPr/>
            </p:nvSpPr>
            <p:spPr>
              <a:xfrm>
                <a:off x="1905000" y="5824247"/>
                <a:ext cx="227171" cy="163871"/>
              </a:xfrm>
              <a:custGeom>
                <a:rect b="b" l="l" r="r" t="t"/>
                <a:pathLst>
                  <a:path extrusionOk="0" h="120000" w="120000">
                    <a:moveTo>
                      <a:pt x="0" y="0"/>
                    </a:moveTo>
                    <a:lnTo>
                      <a:pt x="120000" y="0"/>
                    </a:lnTo>
                    <a:lnTo>
                      <a:pt x="120000" y="120000"/>
                    </a:lnTo>
                    <a:lnTo>
                      <a:pt x="74716" y="120000"/>
                    </a:lnTo>
                    <a:lnTo>
                      <a:pt x="74716" y="80000"/>
                    </a:lnTo>
                    <a:lnTo>
                      <a:pt x="0" y="80000"/>
                    </a:lnTo>
                    <a:lnTo>
                      <a:pt x="0" y="0"/>
                    </a:lnTo>
                    <a:close/>
                  </a:path>
                </a:pathLst>
              </a:custGeom>
              <a:solidFill>
                <a:srgbClr val="E04C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18"/>
              <p:cNvSpPr/>
              <p:nvPr/>
            </p:nvSpPr>
            <p:spPr>
              <a:xfrm>
                <a:off x="2046446" y="5988118"/>
                <a:ext cx="85725" cy="107882"/>
              </a:xfrm>
              <a:prstGeom prst="rect">
                <a:avLst/>
              </a:prstGeom>
              <a:solidFill>
                <a:srgbClr val="D614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18"/>
              <p:cNvSpPr/>
              <p:nvPr/>
            </p:nvSpPr>
            <p:spPr>
              <a:xfrm>
                <a:off x="1905000" y="5933495"/>
                <a:ext cx="141446" cy="54624"/>
              </a:xfrm>
              <a:prstGeom prst="rect">
                <a:avLst/>
              </a:prstGeom>
              <a:solidFill>
                <a:srgbClr val="C93C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18"/>
              <p:cNvSpPr/>
              <p:nvPr/>
            </p:nvSpPr>
            <p:spPr>
              <a:xfrm>
                <a:off x="1905000" y="5988118"/>
                <a:ext cx="141446" cy="107882"/>
              </a:xfrm>
              <a:prstGeom prst="rect">
                <a:avLst/>
              </a:prstGeom>
              <a:solidFill>
                <a:srgbClr val="C01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85" name="Google Shape;185;p18"/>
            <p:cNvGrpSpPr/>
            <p:nvPr/>
          </p:nvGrpSpPr>
          <p:grpSpPr>
            <a:xfrm>
              <a:off x="518032" y="978681"/>
              <a:ext cx="4572000" cy="2667393"/>
              <a:chOff x="518032" y="978681"/>
              <a:chExt cx="4572000" cy="2667393"/>
            </a:xfrm>
          </p:grpSpPr>
          <p:sp>
            <p:nvSpPr>
              <p:cNvPr id="186" name="Google Shape;186;p18"/>
              <p:cNvSpPr/>
              <p:nvPr/>
            </p:nvSpPr>
            <p:spPr>
              <a:xfrm>
                <a:off x="3295650" y="978681"/>
                <a:ext cx="1143000" cy="263229"/>
              </a:xfrm>
              <a:prstGeom prst="rect">
                <a:avLst/>
              </a:prstGeom>
              <a:solidFill>
                <a:srgbClr val="A1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 name="Google Shape;187;p18"/>
              <p:cNvSpPr/>
              <p:nvPr/>
            </p:nvSpPr>
            <p:spPr>
              <a:xfrm>
                <a:off x="518032" y="1922794"/>
                <a:ext cx="4572000" cy="1723280"/>
              </a:xfrm>
              <a:custGeom>
                <a:rect b="b" l="l" r="r" t="t"/>
                <a:pathLst>
                  <a:path extrusionOk="0" h="120000" w="120000">
                    <a:moveTo>
                      <a:pt x="18609" y="17797"/>
                    </a:moveTo>
                    <a:lnTo>
                      <a:pt x="18085" y="17797"/>
                    </a:lnTo>
                    <a:lnTo>
                      <a:pt x="17533" y="17875"/>
                    </a:lnTo>
                    <a:lnTo>
                      <a:pt x="16893" y="18108"/>
                    </a:lnTo>
                    <a:lnTo>
                      <a:pt x="16079" y="18264"/>
                    </a:lnTo>
                    <a:lnTo>
                      <a:pt x="15149" y="18730"/>
                    </a:lnTo>
                    <a:lnTo>
                      <a:pt x="15149" y="73601"/>
                    </a:lnTo>
                    <a:lnTo>
                      <a:pt x="15643" y="73756"/>
                    </a:lnTo>
                    <a:lnTo>
                      <a:pt x="16079" y="73756"/>
                    </a:lnTo>
                    <a:lnTo>
                      <a:pt x="16457" y="73756"/>
                    </a:lnTo>
                    <a:lnTo>
                      <a:pt x="16806" y="73756"/>
                    </a:lnTo>
                    <a:lnTo>
                      <a:pt x="18318" y="73523"/>
                    </a:lnTo>
                    <a:lnTo>
                      <a:pt x="19685" y="72823"/>
                    </a:lnTo>
                    <a:lnTo>
                      <a:pt x="20935" y="71813"/>
                    </a:lnTo>
                    <a:lnTo>
                      <a:pt x="22040" y="70336"/>
                    </a:lnTo>
                    <a:lnTo>
                      <a:pt x="23057" y="68393"/>
                    </a:lnTo>
                    <a:lnTo>
                      <a:pt x="23959" y="66062"/>
                    </a:lnTo>
                    <a:lnTo>
                      <a:pt x="24686" y="63341"/>
                    </a:lnTo>
                    <a:lnTo>
                      <a:pt x="25296" y="60233"/>
                    </a:lnTo>
                    <a:lnTo>
                      <a:pt x="25762" y="56580"/>
                    </a:lnTo>
                    <a:lnTo>
                      <a:pt x="26081" y="52694"/>
                    </a:lnTo>
                    <a:lnTo>
                      <a:pt x="26314" y="48341"/>
                    </a:lnTo>
                    <a:lnTo>
                      <a:pt x="26372" y="43601"/>
                    </a:lnTo>
                    <a:lnTo>
                      <a:pt x="26314" y="39248"/>
                    </a:lnTo>
                    <a:lnTo>
                      <a:pt x="26081" y="35129"/>
                    </a:lnTo>
                    <a:lnTo>
                      <a:pt x="25762" y="31632"/>
                    </a:lnTo>
                    <a:lnTo>
                      <a:pt x="25296" y="28445"/>
                    </a:lnTo>
                    <a:lnTo>
                      <a:pt x="24715" y="25569"/>
                    </a:lnTo>
                    <a:lnTo>
                      <a:pt x="24017" y="23238"/>
                    </a:lnTo>
                    <a:lnTo>
                      <a:pt x="23174" y="21295"/>
                    </a:lnTo>
                    <a:lnTo>
                      <a:pt x="22185" y="19740"/>
                    </a:lnTo>
                    <a:lnTo>
                      <a:pt x="21138" y="18730"/>
                    </a:lnTo>
                    <a:lnTo>
                      <a:pt x="19946" y="18031"/>
                    </a:lnTo>
                    <a:lnTo>
                      <a:pt x="18609" y="17797"/>
                    </a:lnTo>
                    <a:close/>
                    <a:moveTo>
                      <a:pt x="12008" y="233"/>
                    </a:moveTo>
                    <a:lnTo>
                      <a:pt x="15149" y="233"/>
                    </a:lnTo>
                    <a:lnTo>
                      <a:pt x="15149" y="11113"/>
                    </a:lnTo>
                    <a:lnTo>
                      <a:pt x="16457" y="9093"/>
                    </a:lnTo>
                    <a:lnTo>
                      <a:pt x="17649" y="7227"/>
                    </a:lnTo>
                    <a:lnTo>
                      <a:pt x="18696" y="5751"/>
                    </a:lnTo>
                    <a:lnTo>
                      <a:pt x="19685" y="4430"/>
                    </a:lnTo>
                    <a:lnTo>
                      <a:pt x="20557" y="3419"/>
                    </a:lnTo>
                    <a:lnTo>
                      <a:pt x="21371" y="2564"/>
                    </a:lnTo>
                    <a:lnTo>
                      <a:pt x="22127" y="1865"/>
                    </a:lnTo>
                    <a:lnTo>
                      <a:pt x="22825" y="1398"/>
                    </a:lnTo>
                    <a:lnTo>
                      <a:pt x="23523" y="1010"/>
                    </a:lnTo>
                    <a:lnTo>
                      <a:pt x="24162" y="777"/>
                    </a:lnTo>
                    <a:lnTo>
                      <a:pt x="24860" y="699"/>
                    </a:lnTo>
                    <a:lnTo>
                      <a:pt x="25558" y="621"/>
                    </a:lnTo>
                    <a:lnTo>
                      <a:pt x="27070" y="932"/>
                    </a:lnTo>
                    <a:lnTo>
                      <a:pt x="28495" y="1787"/>
                    </a:lnTo>
                    <a:lnTo>
                      <a:pt x="29832" y="3108"/>
                    </a:lnTo>
                    <a:lnTo>
                      <a:pt x="31112" y="4974"/>
                    </a:lnTo>
                    <a:lnTo>
                      <a:pt x="32275" y="7305"/>
                    </a:lnTo>
                    <a:lnTo>
                      <a:pt x="33380" y="10103"/>
                    </a:lnTo>
                    <a:lnTo>
                      <a:pt x="34310" y="13367"/>
                    </a:lnTo>
                    <a:lnTo>
                      <a:pt x="35153" y="16943"/>
                    </a:lnTo>
                    <a:lnTo>
                      <a:pt x="35851" y="20829"/>
                    </a:lnTo>
                    <a:lnTo>
                      <a:pt x="36404" y="25181"/>
                    </a:lnTo>
                    <a:lnTo>
                      <a:pt x="36782" y="29766"/>
                    </a:lnTo>
                    <a:lnTo>
                      <a:pt x="37043" y="34663"/>
                    </a:lnTo>
                    <a:lnTo>
                      <a:pt x="37160" y="39792"/>
                    </a:lnTo>
                    <a:lnTo>
                      <a:pt x="37043" y="44922"/>
                    </a:lnTo>
                    <a:lnTo>
                      <a:pt x="36782" y="49818"/>
                    </a:lnTo>
                    <a:lnTo>
                      <a:pt x="36404" y="54481"/>
                    </a:lnTo>
                    <a:lnTo>
                      <a:pt x="35822" y="58756"/>
                    </a:lnTo>
                    <a:lnTo>
                      <a:pt x="35037" y="62875"/>
                    </a:lnTo>
                    <a:lnTo>
                      <a:pt x="34165" y="66606"/>
                    </a:lnTo>
                    <a:lnTo>
                      <a:pt x="33147" y="70025"/>
                    </a:lnTo>
                    <a:lnTo>
                      <a:pt x="31955" y="73134"/>
                    </a:lnTo>
                    <a:lnTo>
                      <a:pt x="30646" y="75854"/>
                    </a:lnTo>
                    <a:lnTo>
                      <a:pt x="29222" y="78186"/>
                    </a:lnTo>
                    <a:lnTo>
                      <a:pt x="27652" y="80129"/>
                    </a:lnTo>
                    <a:lnTo>
                      <a:pt x="25994" y="81683"/>
                    </a:lnTo>
                    <a:lnTo>
                      <a:pt x="24162" y="82772"/>
                    </a:lnTo>
                    <a:lnTo>
                      <a:pt x="22272" y="83471"/>
                    </a:lnTo>
                    <a:lnTo>
                      <a:pt x="20237" y="83782"/>
                    </a:lnTo>
                    <a:lnTo>
                      <a:pt x="19481" y="83782"/>
                    </a:lnTo>
                    <a:lnTo>
                      <a:pt x="18521" y="83626"/>
                    </a:lnTo>
                    <a:lnTo>
                      <a:pt x="17475" y="83471"/>
                    </a:lnTo>
                    <a:lnTo>
                      <a:pt x="16312" y="83238"/>
                    </a:lnTo>
                    <a:lnTo>
                      <a:pt x="15149" y="83005"/>
                    </a:lnTo>
                    <a:lnTo>
                      <a:pt x="15149" y="109430"/>
                    </a:lnTo>
                    <a:lnTo>
                      <a:pt x="20121" y="112461"/>
                    </a:lnTo>
                    <a:lnTo>
                      <a:pt x="20121" y="120000"/>
                    </a:lnTo>
                    <a:lnTo>
                      <a:pt x="523" y="120000"/>
                    </a:lnTo>
                    <a:lnTo>
                      <a:pt x="523" y="112461"/>
                    </a:lnTo>
                    <a:lnTo>
                      <a:pt x="4972" y="109430"/>
                    </a:lnTo>
                    <a:lnTo>
                      <a:pt x="4972" y="17797"/>
                    </a:lnTo>
                    <a:lnTo>
                      <a:pt x="0" y="17797"/>
                    </a:lnTo>
                    <a:lnTo>
                      <a:pt x="0" y="9948"/>
                    </a:lnTo>
                    <a:lnTo>
                      <a:pt x="12008" y="233"/>
                    </a:lnTo>
                    <a:close/>
                    <a:moveTo>
                      <a:pt x="107904" y="0"/>
                    </a:moveTo>
                    <a:lnTo>
                      <a:pt x="109619" y="233"/>
                    </a:lnTo>
                    <a:lnTo>
                      <a:pt x="111218" y="699"/>
                    </a:lnTo>
                    <a:lnTo>
                      <a:pt x="112701" y="1554"/>
                    </a:lnTo>
                    <a:lnTo>
                      <a:pt x="114068" y="2642"/>
                    </a:lnTo>
                    <a:lnTo>
                      <a:pt x="115289" y="4119"/>
                    </a:lnTo>
                    <a:lnTo>
                      <a:pt x="116423" y="5829"/>
                    </a:lnTo>
                    <a:lnTo>
                      <a:pt x="117354" y="7772"/>
                    </a:lnTo>
                    <a:lnTo>
                      <a:pt x="118168" y="10025"/>
                    </a:lnTo>
                    <a:lnTo>
                      <a:pt x="118807" y="12435"/>
                    </a:lnTo>
                    <a:lnTo>
                      <a:pt x="119302" y="15077"/>
                    </a:lnTo>
                    <a:lnTo>
                      <a:pt x="119592" y="18031"/>
                    </a:lnTo>
                    <a:lnTo>
                      <a:pt x="119709" y="21062"/>
                    </a:lnTo>
                    <a:lnTo>
                      <a:pt x="119622" y="23626"/>
                    </a:lnTo>
                    <a:lnTo>
                      <a:pt x="119360" y="25958"/>
                    </a:lnTo>
                    <a:lnTo>
                      <a:pt x="118953" y="28134"/>
                    </a:lnTo>
                    <a:lnTo>
                      <a:pt x="118458" y="30077"/>
                    </a:lnTo>
                    <a:lnTo>
                      <a:pt x="117790" y="31632"/>
                    </a:lnTo>
                    <a:lnTo>
                      <a:pt x="117034" y="32875"/>
                    </a:lnTo>
                    <a:lnTo>
                      <a:pt x="116161" y="33886"/>
                    </a:lnTo>
                    <a:lnTo>
                      <a:pt x="115173" y="34430"/>
                    </a:lnTo>
                    <a:lnTo>
                      <a:pt x="114126" y="34663"/>
                    </a:lnTo>
                    <a:lnTo>
                      <a:pt x="113137" y="34507"/>
                    </a:lnTo>
                    <a:lnTo>
                      <a:pt x="112207" y="34041"/>
                    </a:lnTo>
                    <a:lnTo>
                      <a:pt x="111247" y="33264"/>
                    </a:lnTo>
                    <a:lnTo>
                      <a:pt x="110259" y="32098"/>
                    </a:lnTo>
                    <a:lnTo>
                      <a:pt x="109241" y="30621"/>
                    </a:lnTo>
                    <a:lnTo>
                      <a:pt x="109241" y="8860"/>
                    </a:lnTo>
                    <a:lnTo>
                      <a:pt x="107904" y="9715"/>
                    </a:lnTo>
                    <a:lnTo>
                      <a:pt x="106653" y="10880"/>
                    </a:lnTo>
                    <a:lnTo>
                      <a:pt x="105577" y="12590"/>
                    </a:lnTo>
                    <a:lnTo>
                      <a:pt x="104589" y="14533"/>
                    </a:lnTo>
                    <a:lnTo>
                      <a:pt x="103746" y="16943"/>
                    </a:lnTo>
                    <a:lnTo>
                      <a:pt x="103019" y="19663"/>
                    </a:lnTo>
                    <a:lnTo>
                      <a:pt x="102437" y="22849"/>
                    </a:lnTo>
                    <a:lnTo>
                      <a:pt x="102001" y="26347"/>
                    </a:lnTo>
                    <a:lnTo>
                      <a:pt x="101681" y="30388"/>
                    </a:lnTo>
                    <a:lnTo>
                      <a:pt x="101448" y="34740"/>
                    </a:lnTo>
                    <a:lnTo>
                      <a:pt x="101390" y="39404"/>
                    </a:lnTo>
                    <a:lnTo>
                      <a:pt x="101448" y="43911"/>
                    </a:lnTo>
                    <a:lnTo>
                      <a:pt x="101681" y="47953"/>
                    </a:lnTo>
                    <a:lnTo>
                      <a:pt x="102030" y="51839"/>
                    </a:lnTo>
                    <a:lnTo>
                      <a:pt x="102524" y="55336"/>
                    </a:lnTo>
                    <a:lnTo>
                      <a:pt x="103135" y="58523"/>
                    </a:lnTo>
                    <a:lnTo>
                      <a:pt x="103833" y="61398"/>
                    </a:lnTo>
                    <a:lnTo>
                      <a:pt x="104676" y="63808"/>
                    </a:lnTo>
                    <a:lnTo>
                      <a:pt x="105606" y="65829"/>
                    </a:lnTo>
                    <a:lnTo>
                      <a:pt x="106653" y="67538"/>
                    </a:lnTo>
                    <a:lnTo>
                      <a:pt x="107787" y="68782"/>
                    </a:lnTo>
                    <a:lnTo>
                      <a:pt x="109038" y="69481"/>
                    </a:lnTo>
                    <a:lnTo>
                      <a:pt x="110346" y="69715"/>
                    </a:lnTo>
                    <a:lnTo>
                      <a:pt x="111102" y="69637"/>
                    </a:lnTo>
                    <a:lnTo>
                      <a:pt x="111858" y="69481"/>
                    </a:lnTo>
                    <a:lnTo>
                      <a:pt x="112643" y="69093"/>
                    </a:lnTo>
                    <a:lnTo>
                      <a:pt x="113428" y="68471"/>
                    </a:lnTo>
                    <a:lnTo>
                      <a:pt x="114300" y="67772"/>
                    </a:lnTo>
                    <a:lnTo>
                      <a:pt x="115260" y="66917"/>
                    </a:lnTo>
                    <a:lnTo>
                      <a:pt x="116278" y="65751"/>
                    </a:lnTo>
                    <a:lnTo>
                      <a:pt x="117354" y="64507"/>
                    </a:lnTo>
                    <a:lnTo>
                      <a:pt x="118604" y="62953"/>
                    </a:lnTo>
                    <a:lnTo>
                      <a:pt x="120000" y="61165"/>
                    </a:lnTo>
                    <a:lnTo>
                      <a:pt x="120000" y="75854"/>
                    </a:lnTo>
                    <a:lnTo>
                      <a:pt x="118313" y="77797"/>
                    </a:lnTo>
                    <a:lnTo>
                      <a:pt x="116772" y="79585"/>
                    </a:lnTo>
                    <a:lnTo>
                      <a:pt x="115318" y="80906"/>
                    </a:lnTo>
                    <a:lnTo>
                      <a:pt x="113952" y="82227"/>
                    </a:lnTo>
                    <a:lnTo>
                      <a:pt x="112643" y="83160"/>
                    </a:lnTo>
                    <a:lnTo>
                      <a:pt x="111364" y="83937"/>
                    </a:lnTo>
                    <a:lnTo>
                      <a:pt x="110084" y="84404"/>
                    </a:lnTo>
                    <a:lnTo>
                      <a:pt x="108805" y="84792"/>
                    </a:lnTo>
                    <a:lnTo>
                      <a:pt x="107496" y="85025"/>
                    </a:lnTo>
                    <a:lnTo>
                      <a:pt x="106159" y="85103"/>
                    </a:lnTo>
                    <a:lnTo>
                      <a:pt x="104327" y="84948"/>
                    </a:lnTo>
                    <a:lnTo>
                      <a:pt x="102641" y="84404"/>
                    </a:lnTo>
                    <a:lnTo>
                      <a:pt x="101070" y="83549"/>
                    </a:lnTo>
                    <a:lnTo>
                      <a:pt x="99617" y="82383"/>
                    </a:lnTo>
                    <a:lnTo>
                      <a:pt x="98221" y="80751"/>
                    </a:lnTo>
                    <a:lnTo>
                      <a:pt x="96942" y="78808"/>
                    </a:lnTo>
                    <a:lnTo>
                      <a:pt x="95779" y="76476"/>
                    </a:lnTo>
                    <a:lnTo>
                      <a:pt x="94645" y="73601"/>
                    </a:lnTo>
                    <a:lnTo>
                      <a:pt x="93598" y="70492"/>
                    </a:lnTo>
                    <a:lnTo>
                      <a:pt x="92696" y="67227"/>
                    </a:lnTo>
                    <a:lnTo>
                      <a:pt x="91940" y="63730"/>
                    </a:lnTo>
                    <a:lnTo>
                      <a:pt x="91301" y="60000"/>
                    </a:lnTo>
                    <a:lnTo>
                      <a:pt x="90835" y="56113"/>
                    </a:lnTo>
                    <a:lnTo>
                      <a:pt x="90457" y="52072"/>
                    </a:lnTo>
                    <a:lnTo>
                      <a:pt x="90254" y="47875"/>
                    </a:lnTo>
                    <a:lnTo>
                      <a:pt x="90167" y="43601"/>
                    </a:lnTo>
                    <a:lnTo>
                      <a:pt x="90283" y="38393"/>
                    </a:lnTo>
                    <a:lnTo>
                      <a:pt x="90574" y="33652"/>
                    </a:lnTo>
                    <a:lnTo>
                      <a:pt x="91010" y="28989"/>
                    </a:lnTo>
                    <a:lnTo>
                      <a:pt x="91679" y="24715"/>
                    </a:lnTo>
                    <a:lnTo>
                      <a:pt x="92435" y="20751"/>
                    </a:lnTo>
                    <a:lnTo>
                      <a:pt x="93423" y="17020"/>
                    </a:lnTo>
                    <a:lnTo>
                      <a:pt x="94499" y="13601"/>
                    </a:lnTo>
                    <a:lnTo>
                      <a:pt x="95749" y="10492"/>
                    </a:lnTo>
                    <a:lnTo>
                      <a:pt x="97145" y="7927"/>
                    </a:lnTo>
                    <a:lnTo>
                      <a:pt x="98628" y="5595"/>
                    </a:lnTo>
                    <a:lnTo>
                      <a:pt x="100256" y="3652"/>
                    </a:lnTo>
                    <a:lnTo>
                      <a:pt x="102001" y="2098"/>
                    </a:lnTo>
                    <a:lnTo>
                      <a:pt x="103891" y="932"/>
                    </a:lnTo>
                    <a:lnTo>
                      <a:pt x="105839" y="233"/>
                    </a:lnTo>
                    <a:lnTo>
                      <a:pt x="107904" y="0"/>
                    </a:lnTo>
                    <a:close/>
                    <a:moveTo>
                      <a:pt x="84613" y="0"/>
                    </a:moveTo>
                    <a:lnTo>
                      <a:pt x="85718" y="310"/>
                    </a:lnTo>
                    <a:lnTo>
                      <a:pt x="86736" y="1088"/>
                    </a:lnTo>
                    <a:lnTo>
                      <a:pt x="87637" y="2331"/>
                    </a:lnTo>
                    <a:lnTo>
                      <a:pt x="88393" y="4041"/>
                    </a:lnTo>
                    <a:lnTo>
                      <a:pt x="89062" y="6062"/>
                    </a:lnTo>
                    <a:lnTo>
                      <a:pt x="89527" y="8471"/>
                    </a:lnTo>
                    <a:lnTo>
                      <a:pt x="89818" y="11036"/>
                    </a:lnTo>
                    <a:lnTo>
                      <a:pt x="89934" y="13834"/>
                    </a:lnTo>
                    <a:lnTo>
                      <a:pt x="89876" y="15777"/>
                    </a:lnTo>
                    <a:lnTo>
                      <a:pt x="89789" y="17642"/>
                    </a:lnTo>
                    <a:lnTo>
                      <a:pt x="89585" y="19585"/>
                    </a:lnTo>
                    <a:lnTo>
                      <a:pt x="89294" y="21528"/>
                    </a:lnTo>
                    <a:lnTo>
                      <a:pt x="88975" y="23549"/>
                    </a:lnTo>
                    <a:lnTo>
                      <a:pt x="88509" y="25725"/>
                    </a:lnTo>
                    <a:lnTo>
                      <a:pt x="87957" y="28056"/>
                    </a:lnTo>
                    <a:lnTo>
                      <a:pt x="87346" y="30544"/>
                    </a:lnTo>
                    <a:lnTo>
                      <a:pt x="86590" y="33341"/>
                    </a:lnTo>
                    <a:lnTo>
                      <a:pt x="85718" y="36373"/>
                    </a:lnTo>
                    <a:lnTo>
                      <a:pt x="84729" y="39792"/>
                    </a:lnTo>
                    <a:lnTo>
                      <a:pt x="83624" y="43601"/>
                    </a:lnTo>
                    <a:lnTo>
                      <a:pt x="71877" y="83782"/>
                    </a:lnTo>
                    <a:lnTo>
                      <a:pt x="63445" y="83782"/>
                    </a:lnTo>
                    <a:lnTo>
                      <a:pt x="63445" y="32953"/>
                    </a:lnTo>
                    <a:lnTo>
                      <a:pt x="51873" y="83782"/>
                    </a:lnTo>
                    <a:lnTo>
                      <a:pt x="44138" y="83782"/>
                    </a:lnTo>
                    <a:lnTo>
                      <a:pt x="44138" y="18186"/>
                    </a:lnTo>
                    <a:lnTo>
                      <a:pt x="38177" y="16632"/>
                    </a:lnTo>
                    <a:lnTo>
                      <a:pt x="38177" y="9170"/>
                    </a:lnTo>
                    <a:lnTo>
                      <a:pt x="49139" y="1943"/>
                    </a:lnTo>
                    <a:lnTo>
                      <a:pt x="53268" y="1943"/>
                    </a:lnTo>
                    <a:lnTo>
                      <a:pt x="53268" y="55414"/>
                    </a:lnTo>
                    <a:lnTo>
                      <a:pt x="65335" y="1943"/>
                    </a:lnTo>
                    <a:lnTo>
                      <a:pt x="72604" y="1943"/>
                    </a:lnTo>
                    <a:lnTo>
                      <a:pt x="72604" y="63886"/>
                    </a:lnTo>
                    <a:lnTo>
                      <a:pt x="80222" y="36761"/>
                    </a:lnTo>
                    <a:lnTo>
                      <a:pt x="80222" y="4818"/>
                    </a:lnTo>
                    <a:lnTo>
                      <a:pt x="80804" y="3419"/>
                    </a:lnTo>
                    <a:lnTo>
                      <a:pt x="81589" y="2098"/>
                    </a:lnTo>
                    <a:lnTo>
                      <a:pt x="82490" y="1010"/>
                    </a:lnTo>
                    <a:lnTo>
                      <a:pt x="83508" y="310"/>
                    </a:lnTo>
                    <a:lnTo>
                      <a:pt x="846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Client Logo">
  <p:cSld name="Cover Slide: Client Logo">
    <p:spTree>
      <p:nvGrpSpPr>
        <p:cNvPr id="188" name="Shape 188"/>
        <p:cNvGrpSpPr/>
        <p:nvPr/>
      </p:nvGrpSpPr>
      <p:grpSpPr>
        <a:xfrm>
          <a:off x="0" y="0"/>
          <a:ext cx="0" cy="0"/>
          <a:chOff x="0" y="0"/>
          <a:chExt cx="0" cy="0"/>
        </a:xfrm>
      </p:grpSpPr>
      <p:grpSp>
        <p:nvGrpSpPr>
          <p:cNvPr id="189" name="Google Shape;189;p19"/>
          <p:cNvGrpSpPr/>
          <p:nvPr/>
        </p:nvGrpSpPr>
        <p:grpSpPr>
          <a:xfrm>
            <a:off x="1752600" y="1"/>
            <a:ext cx="7391401" cy="6176009"/>
            <a:chOff x="19140488" y="13674"/>
            <a:chExt cx="7443799" cy="6145827"/>
          </a:xfrm>
        </p:grpSpPr>
        <p:sp>
          <p:nvSpPr>
            <p:cNvPr id="190" name="Google Shape;190;p19"/>
            <p:cNvSpPr/>
            <p:nvPr/>
          </p:nvSpPr>
          <p:spPr>
            <a:xfrm>
              <a:off x="19140488" y="4188799"/>
              <a:ext cx="2302206" cy="1970702"/>
            </a:xfrm>
            <a:prstGeom prst="rect">
              <a:avLst/>
            </a:prstGeom>
            <a:solidFill>
              <a:srgbClr val="9A170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19"/>
            <p:cNvSpPr/>
            <p:nvPr/>
          </p:nvSpPr>
          <p:spPr>
            <a:xfrm>
              <a:off x="25663403" y="4032250"/>
              <a:ext cx="920883" cy="2127250"/>
            </a:xfrm>
            <a:prstGeom prst="rect">
              <a:avLst/>
            </a:prstGeom>
            <a:solidFill>
              <a:srgbClr val="F3BE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19"/>
            <p:cNvSpPr/>
            <p:nvPr/>
          </p:nvSpPr>
          <p:spPr>
            <a:xfrm>
              <a:off x="25049481" y="2899477"/>
              <a:ext cx="734694" cy="1289321"/>
            </a:xfrm>
            <a:prstGeom prst="rect">
              <a:avLst/>
            </a:prstGeom>
            <a:solidFill>
              <a:srgbClr val="F3BC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19"/>
            <p:cNvSpPr/>
            <p:nvPr/>
          </p:nvSpPr>
          <p:spPr>
            <a:xfrm>
              <a:off x="25049481" y="4032250"/>
              <a:ext cx="734693" cy="2127250"/>
            </a:xfrm>
            <a:prstGeom prst="rect">
              <a:avLst/>
            </a:prstGeom>
            <a:solidFill>
              <a:srgbClr val="E88C1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19"/>
            <p:cNvSpPr/>
            <p:nvPr/>
          </p:nvSpPr>
          <p:spPr>
            <a:xfrm>
              <a:off x="24665780" y="706365"/>
              <a:ext cx="477045" cy="2263848"/>
            </a:xfrm>
            <a:prstGeom prst="rect">
              <a:avLst/>
            </a:prstGeom>
            <a:solidFill>
              <a:srgbClr val="E669A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19"/>
            <p:cNvSpPr/>
            <p:nvPr/>
          </p:nvSpPr>
          <p:spPr>
            <a:xfrm>
              <a:off x="24665780" y="2899478"/>
              <a:ext cx="477045" cy="1289321"/>
            </a:xfrm>
            <a:prstGeom prst="rect">
              <a:avLst/>
            </a:prstGeom>
            <a:solidFill>
              <a:srgbClr val="DB4D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 name="Google Shape;196;p19"/>
            <p:cNvSpPr/>
            <p:nvPr/>
          </p:nvSpPr>
          <p:spPr>
            <a:xfrm>
              <a:off x="24665780" y="4032250"/>
              <a:ext cx="477045" cy="2127250"/>
            </a:xfrm>
            <a:prstGeom prst="rect">
              <a:avLst/>
            </a:prstGeom>
            <a:solidFill>
              <a:srgbClr val="D13A0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7" name="Google Shape;197;p19"/>
            <p:cNvSpPr/>
            <p:nvPr/>
          </p:nvSpPr>
          <p:spPr>
            <a:xfrm>
              <a:off x="19140488" y="669925"/>
              <a:ext cx="5662612" cy="2300288"/>
            </a:xfrm>
            <a:prstGeom prst="rect">
              <a:avLst/>
            </a:prstGeom>
            <a:solidFill>
              <a:srgbClr val="D7402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19"/>
            <p:cNvSpPr/>
            <p:nvPr/>
          </p:nvSpPr>
          <p:spPr>
            <a:xfrm>
              <a:off x="19140488" y="2899478"/>
              <a:ext cx="5662612" cy="1289321"/>
            </a:xfrm>
            <a:prstGeom prst="rect">
              <a:avLst/>
            </a:prstGeom>
            <a:solidFill>
              <a:srgbClr val="CD2F1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19"/>
            <p:cNvSpPr/>
            <p:nvPr/>
          </p:nvSpPr>
          <p:spPr>
            <a:xfrm>
              <a:off x="19140488" y="4032250"/>
              <a:ext cx="5662612" cy="2127250"/>
            </a:xfrm>
            <a:custGeom>
              <a:rect b="b" l="l" r="r" t="t"/>
              <a:pathLst>
                <a:path extrusionOk="0" h="120000" w="120000">
                  <a:moveTo>
                    <a:pt x="0" y="0"/>
                  </a:moveTo>
                  <a:lnTo>
                    <a:pt x="120000" y="0"/>
                  </a:lnTo>
                  <a:lnTo>
                    <a:pt x="120000" y="120000"/>
                  </a:lnTo>
                  <a:lnTo>
                    <a:pt x="46156" y="120000"/>
                  </a:lnTo>
                  <a:lnTo>
                    <a:pt x="46156" y="16208"/>
                  </a:lnTo>
                  <a:lnTo>
                    <a:pt x="0" y="16208"/>
                  </a:lnTo>
                  <a:lnTo>
                    <a:pt x="0" y="0"/>
                  </a:lnTo>
                  <a:close/>
                </a:path>
              </a:pathLst>
            </a:custGeom>
            <a:solidFill>
              <a:srgbClr val="C4230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 name="Google Shape;200;p19"/>
            <p:cNvSpPr/>
            <p:nvPr/>
          </p:nvSpPr>
          <p:spPr>
            <a:xfrm>
              <a:off x="19140488" y="13674"/>
              <a:ext cx="5662612" cy="692692"/>
            </a:xfrm>
            <a:prstGeom prst="rect">
              <a:avLst/>
            </a:prstGeom>
            <a:solidFill>
              <a:srgbClr val="EE9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1" name="Google Shape;201;p19"/>
          <p:cNvSpPr/>
          <p:nvPr>
            <p:ph idx="2" type="pic"/>
          </p:nvPr>
        </p:nvSpPr>
        <p:spPr>
          <a:xfrm>
            <a:off x="609601" y="3048000"/>
            <a:ext cx="914400" cy="7620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0" i="0" sz="1400" u="none" cap="none" strike="noStrike">
                <a:solidFill>
                  <a:schemeClr val="dk1"/>
                </a:solidFill>
                <a:latin typeface="Georgia"/>
                <a:ea typeface="Georgia"/>
                <a:cs typeface="Georgia"/>
                <a:sym typeface="Georgia"/>
              </a:defRPr>
            </a:lvl1pPr>
            <a:lvl2pPr indent="-274320" lvl="1" marL="27432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281940" lvl="2" marL="54864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276860" lvl="3" marL="82296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284480" lvl="4" marL="109728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274320" lvl="5" marL="27432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281940" lvl="6" marL="54864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276860" lvl="7" marL="82296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0" lvl="8" marL="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grpSp>
        <p:nvGrpSpPr>
          <p:cNvPr id="202" name="Google Shape;202;p19"/>
          <p:cNvGrpSpPr/>
          <p:nvPr/>
        </p:nvGrpSpPr>
        <p:grpSpPr>
          <a:xfrm>
            <a:off x="489086" y="2901698"/>
            <a:ext cx="1209752" cy="151219"/>
            <a:chOff x="489087" y="2521686"/>
            <a:chExt cx="1209752" cy="151219"/>
          </a:xfrm>
        </p:grpSpPr>
        <p:cxnSp>
          <p:nvCxnSpPr>
            <p:cNvPr id="203" name="Google Shape;203;p19"/>
            <p:cNvCxnSpPr/>
            <p:nvPr/>
          </p:nvCxnSpPr>
          <p:spPr>
            <a:xfrm rot="10800000">
              <a:off x="489087" y="2521686"/>
              <a:ext cx="1209752" cy="0"/>
            </a:xfrm>
            <a:prstGeom prst="straightConnector1">
              <a:avLst/>
            </a:prstGeom>
            <a:noFill/>
            <a:ln cap="flat" cmpd="sng" w="12700">
              <a:solidFill>
                <a:schemeClr val="dk1"/>
              </a:solidFill>
              <a:prstDash val="dot"/>
              <a:round/>
              <a:headEnd len="sm" w="sm" type="none"/>
              <a:tailEnd len="sm" w="sm" type="none"/>
            </a:ln>
          </p:spPr>
        </p:cxnSp>
        <p:cxnSp>
          <p:nvCxnSpPr>
            <p:cNvPr id="204" name="Google Shape;204;p19"/>
            <p:cNvCxnSpPr/>
            <p:nvPr/>
          </p:nvCxnSpPr>
          <p:spPr>
            <a:xfrm rot="5400000">
              <a:off x="413478" y="2597295"/>
              <a:ext cx="151219" cy="0"/>
            </a:xfrm>
            <a:prstGeom prst="straightConnector1">
              <a:avLst/>
            </a:prstGeom>
            <a:noFill/>
            <a:ln cap="flat" cmpd="sng" w="12700">
              <a:solidFill>
                <a:schemeClr val="dk1"/>
              </a:solidFill>
              <a:prstDash val="dot"/>
              <a:round/>
              <a:headEnd len="sm" w="sm" type="none"/>
              <a:tailEnd len="sm" w="sm" type="none"/>
            </a:ln>
          </p:spPr>
        </p:cxnSp>
      </p:grpSp>
      <p:sp>
        <p:nvSpPr>
          <p:cNvPr id="205" name="Google Shape;205;p19"/>
          <p:cNvSpPr txBox="1"/>
          <p:nvPr>
            <p:ph type="ctrTitle"/>
          </p:nvPr>
        </p:nvSpPr>
        <p:spPr>
          <a:xfrm>
            <a:off x="1895475" y="838200"/>
            <a:ext cx="5343525" cy="9144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Georgia"/>
              <a:buNone/>
              <a:defRPr b="1" i="1" sz="32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06" name="Google Shape;206;p19"/>
          <p:cNvSpPr txBox="1"/>
          <p:nvPr>
            <p:ph idx="1" type="subTitle"/>
          </p:nvPr>
        </p:nvSpPr>
        <p:spPr>
          <a:xfrm>
            <a:off x="1895475" y="1828799"/>
            <a:ext cx="5343525" cy="914401"/>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0" lvl="1" marL="0" marR="0" rtl="0" algn="l">
              <a:lnSpc>
                <a:spcPct val="100000"/>
              </a:lnSpc>
              <a:spcBef>
                <a:spcPts val="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207" name="Google Shape;207;p19"/>
          <p:cNvSpPr txBox="1"/>
          <p:nvPr>
            <p:ph idx="3" type="body"/>
          </p:nvPr>
        </p:nvSpPr>
        <p:spPr>
          <a:xfrm>
            <a:off x="1895475" y="374904"/>
            <a:ext cx="4105656" cy="146304"/>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Arial"/>
              <a:buNone/>
              <a:defRPr b="0" i="0" sz="1100" u="none" cap="none" strike="noStrike">
                <a:solidFill>
                  <a:schemeClr val="lt1"/>
                </a:solidFill>
                <a:latin typeface="Arial"/>
                <a:ea typeface="Arial"/>
                <a:cs typeface="Arial"/>
                <a:sym typeface="Arial"/>
              </a:defRPr>
            </a:lvl1pPr>
            <a:lvl2pPr indent="-292100" lvl="1" marL="9144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2pPr>
            <a:lvl3pPr indent="-292100" lvl="2" marL="13716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3pPr>
            <a:lvl4pPr indent="-292100" lvl="3" marL="18288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4pPr>
            <a:lvl5pPr indent="-292100" lvl="4" marL="22860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grpSp>
        <p:nvGrpSpPr>
          <p:cNvPr id="208" name="Google Shape;208;p19"/>
          <p:cNvGrpSpPr/>
          <p:nvPr/>
        </p:nvGrpSpPr>
        <p:grpSpPr>
          <a:xfrm>
            <a:off x="968592" y="6170991"/>
            <a:ext cx="914400" cy="533479"/>
            <a:chOff x="518032" y="978681"/>
            <a:chExt cx="4572000" cy="2667393"/>
          </a:xfrm>
        </p:grpSpPr>
        <p:sp>
          <p:nvSpPr>
            <p:cNvPr id="209" name="Google Shape;209;p19"/>
            <p:cNvSpPr/>
            <p:nvPr/>
          </p:nvSpPr>
          <p:spPr>
            <a:xfrm>
              <a:off x="3295650" y="978681"/>
              <a:ext cx="1143000" cy="263229"/>
            </a:xfrm>
            <a:prstGeom prst="rect">
              <a:avLst/>
            </a:prstGeom>
            <a:solidFill>
              <a:srgbClr val="A1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19"/>
            <p:cNvSpPr/>
            <p:nvPr/>
          </p:nvSpPr>
          <p:spPr>
            <a:xfrm>
              <a:off x="518032" y="1922794"/>
              <a:ext cx="4572000" cy="1723280"/>
            </a:xfrm>
            <a:custGeom>
              <a:rect b="b" l="l" r="r" t="t"/>
              <a:pathLst>
                <a:path extrusionOk="0" h="120000" w="120000">
                  <a:moveTo>
                    <a:pt x="18609" y="17797"/>
                  </a:moveTo>
                  <a:lnTo>
                    <a:pt x="18085" y="17797"/>
                  </a:lnTo>
                  <a:lnTo>
                    <a:pt x="17533" y="17875"/>
                  </a:lnTo>
                  <a:lnTo>
                    <a:pt x="16893" y="18108"/>
                  </a:lnTo>
                  <a:lnTo>
                    <a:pt x="16079" y="18264"/>
                  </a:lnTo>
                  <a:lnTo>
                    <a:pt x="15149" y="18730"/>
                  </a:lnTo>
                  <a:lnTo>
                    <a:pt x="15149" y="73601"/>
                  </a:lnTo>
                  <a:lnTo>
                    <a:pt x="15643" y="73756"/>
                  </a:lnTo>
                  <a:lnTo>
                    <a:pt x="16079" y="73756"/>
                  </a:lnTo>
                  <a:lnTo>
                    <a:pt x="16457" y="73756"/>
                  </a:lnTo>
                  <a:lnTo>
                    <a:pt x="16806" y="73756"/>
                  </a:lnTo>
                  <a:lnTo>
                    <a:pt x="18318" y="73523"/>
                  </a:lnTo>
                  <a:lnTo>
                    <a:pt x="19685" y="72823"/>
                  </a:lnTo>
                  <a:lnTo>
                    <a:pt x="20935" y="71813"/>
                  </a:lnTo>
                  <a:lnTo>
                    <a:pt x="22040" y="70336"/>
                  </a:lnTo>
                  <a:lnTo>
                    <a:pt x="23057" y="68393"/>
                  </a:lnTo>
                  <a:lnTo>
                    <a:pt x="23959" y="66062"/>
                  </a:lnTo>
                  <a:lnTo>
                    <a:pt x="24686" y="63341"/>
                  </a:lnTo>
                  <a:lnTo>
                    <a:pt x="25296" y="60233"/>
                  </a:lnTo>
                  <a:lnTo>
                    <a:pt x="25762" y="56580"/>
                  </a:lnTo>
                  <a:lnTo>
                    <a:pt x="26081" y="52694"/>
                  </a:lnTo>
                  <a:lnTo>
                    <a:pt x="26314" y="48341"/>
                  </a:lnTo>
                  <a:lnTo>
                    <a:pt x="26372" y="43601"/>
                  </a:lnTo>
                  <a:lnTo>
                    <a:pt x="26314" y="39248"/>
                  </a:lnTo>
                  <a:lnTo>
                    <a:pt x="26081" y="35129"/>
                  </a:lnTo>
                  <a:lnTo>
                    <a:pt x="25762" y="31632"/>
                  </a:lnTo>
                  <a:lnTo>
                    <a:pt x="25296" y="28445"/>
                  </a:lnTo>
                  <a:lnTo>
                    <a:pt x="24715" y="25569"/>
                  </a:lnTo>
                  <a:lnTo>
                    <a:pt x="24017" y="23238"/>
                  </a:lnTo>
                  <a:lnTo>
                    <a:pt x="23174" y="21295"/>
                  </a:lnTo>
                  <a:lnTo>
                    <a:pt x="22185" y="19740"/>
                  </a:lnTo>
                  <a:lnTo>
                    <a:pt x="21138" y="18730"/>
                  </a:lnTo>
                  <a:lnTo>
                    <a:pt x="19946" y="18031"/>
                  </a:lnTo>
                  <a:lnTo>
                    <a:pt x="18609" y="17797"/>
                  </a:lnTo>
                  <a:close/>
                  <a:moveTo>
                    <a:pt x="12008" y="233"/>
                  </a:moveTo>
                  <a:lnTo>
                    <a:pt x="15149" y="233"/>
                  </a:lnTo>
                  <a:lnTo>
                    <a:pt x="15149" y="11113"/>
                  </a:lnTo>
                  <a:lnTo>
                    <a:pt x="16457" y="9093"/>
                  </a:lnTo>
                  <a:lnTo>
                    <a:pt x="17649" y="7227"/>
                  </a:lnTo>
                  <a:lnTo>
                    <a:pt x="18696" y="5751"/>
                  </a:lnTo>
                  <a:lnTo>
                    <a:pt x="19685" y="4430"/>
                  </a:lnTo>
                  <a:lnTo>
                    <a:pt x="20557" y="3419"/>
                  </a:lnTo>
                  <a:lnTo>
                    <a:pt x="21371" y="2564"/>
                  </a:lnTo>
                  <a:lnTo>
                    <a:pt x="22127" y="1865"/>
                  </a:lnTo>
                  <a:lnTo>
                    <a:pt x="22825" y="1398"/>
                  </a:lnTo>
                  <a:lnTo>
                    <a:pt x="23523" y="1010"/>
                  </a:lnTo>
                  <a:lnTo>
                    <a:pt x="24162" y="777"/>
                  </a:lnTo>
                  <a:lnTo>
                    <a:pt x="24860" y="699"/>
                  </a:lnTo>
                  <a:lnTo>
                    <a:pt x="25558" y="621"/>
                  </a:lnTo>
                  <a:lnTo>
                    <a:pt x="27070" y="932"/>
                  </a:lnTo>
                  <a:lnTo>
                    <a:pt x="28495" y="1787"/>
                  </a:lnTo>
                  <a:lnTo>
                    <a:pt x="29832" y="3108"/>
                  </a:lnTo>
                  <a:lnTo>
                    <a:pt x="31112" y="4974"/>
                  </a:lnTo>
                  <a:lnTo>
                    <a:pt x="32275" y="7305"/>
                  </a:lnTo>
                  <a:lnTo>
                    <a:pt x="33380" y="10103"/>
                  </a:lnTo>
                  <a:lnTo>
                    <a:pt x="34310" y="13367"/>
                  </a:lnTo>
                  <a:lnTo>
                    <a:pt x="35153" y="16943"/>
                  </a:lnTo>
                  <a:lnTo>
                    <a:pt x="35851" y="20829"/>
                  </a:lnTo>
                  <a:lnTo>
                    <a:pt x="36404" y="25181"/>
                  </a:lnTo>
                  <a:lnTo>
                    <a:pt x="36782" y="29766"/>
                  </a:lnTo>
                  <a:lnTo>
                    <a:pt x="37043" y="34663"/>
                  </a:lnTo>
                  <a:lnTo>
                    <a:pt x="37160" y="39792"/>
                  </a:lnTo>
                  <a:lnTo>
                    <a:pt x="37043" y="44922"/>
                  </a:lnTo>
                  <a:lnTo>
                    <a:pt x="36782" y="49818"/>
                  </a:lnTo>
                  <a:lnTo>
                    <a:pt x="36404" y="54481"/>
                  </a:lnTo>
                  <a:lnTo>
                    <a:pt x="35822" y="58756"/>
                  </a:lnTo>
                  <a:lnTo>
                    <a:pt x="35037" y="62875"/>
                  </a:lnTo>
                  <a:lnTo>
                    <a:pt x="34165" y="66606"/>
                  </a:lnTo>
                  <a:lnTo>
                    <a:pt x="33147" y="70025"/>
                  </a:lnTo>
                  <a:lnTo>
                    <a:pt x="31955" y="73134"/>
                  </a:lnTo>
                  <a:lnTo>
                    <a:pt x="30646" y="75854"/>
                  </a:lnTo>
                  <a:lnTo>
                    <a:pt x="29222" y="78186"/>
                  </a:lnTo>
                  <a:lnTo>
                    <a:pt x="27652" y="80129"/>
                  </a:lnTo>
                  <a:lnTo>
                    <a:pt x="25994" y="81683"/>
                  </a:lnTo>
                  <a:lnTo>
                    <a:pt x="24162" y="82772"/>
                  </a:lnTo>
                  <a:lnTo>
                    <a:pt x="22272" y="83471"/>
                  </a:lnTo>
                  <a:lnTo>
                    <a:pt x="20237" y="83782"/>
                  </a:lnTo>
                  <a:lnTo>
                    <a:pt x="19481" y="83782"/>
                  </a:lnTo>
                  <a:lnTo>
                    <a:pt x="18521" y="83626"/>
                  </a:lnTo>
                  <a:lnTo>
                    <a:pt x="17475" y="83471"/>
                  </a:lnTo>
                  <a:lnTo>
                    <a:pt x="16312" y="83238"/>
                  </a:lnTo>
                  <a:lnTo>
                    <a:pt x="15149" y="83005"/>
                  </a:lnTo>
                  <a:lnTo>
                    <a:pt x="15149" y="109430"/>
                  </a:lnTo>
                  <a:lnTo>
                    <a:pt x="20121" y="112461"/>
                  </a:lnTo>
                  <a:lnTo>
                    <a:pt x="20121" y="120000"/>
                  </a:lnTo>
                  <a:lnTo>
                    <a:pt x="523" y="120000"/>
                  </a:lnTo>
                  <a:lnTo>
                    <a:pt x="523" y="112461"/>
                  </a:lnTo>
                  <a:lnTo>
                    <a:pt x="4972" y="109430"/>
                  </a:lnTo>
                  <a:lnTo>
                    <a:pt x="4972" y="17797"/>
                  </a:lnTo>
                  <a:lnTo>
                    <a:pt x="0" y="17797"/>
                  </a:lnTo>
                  <a:lnTo>
                    <a:pt x="0" y="9948"/>
                  </a:lnTo>
                  <a:lnTo>
                    <a:pt x="12008" y="233"/>
                  </a:lnTo>
                  <a:close/>
                  <a:moveTo>
                    <a:pt x="107904" y="0"/>
                  </a:moveTo>
                  <a:lnTo>
                    <a:pt x="109619" y="233"/>
                  </a:lnTo>
                  <a:lnTo>
                    <a:pt x="111218" y="699"/>
                  </a:lnTo>
                  <a:lnTo>
                    <a:pt x="112701" y="1554"/>
                  </a:lnTo>
                  <a:lnTo>
                    <a:pt x="114068" y="2642"/>
                  </a:lnTo>
                  <a:lnTo>
                    <a:pt x="115289" y="4119"/>
                  </a:lnTo>
                  <a:lnTo>
                    <a:pt x="116423" y="5829"/>
                  </a:lnTo>
                  <a:lnTo>
                    <a:pt x="117354" y="7772"/>
                  </a:lnTo>
                  <a:lnTo>
                    <a:pt x="118168" y="10025"/>
                  </a:lnTo>
                  <a:lnTo>
                    <a:pt x="118807" y="12435"/>
                  </a:lnTo>
                  <a:lnTo>
                    <a:pt x="119302" y="15077"/>
                  </a:lnTo>
                  <a:lnTo>
                    <a:pt x="119592" y="18031"/>
                  </a:lnTo>
                  <a:lnTo>
                    <a:pt x="119709" y="21062"/>
                  </a:lnTo>
                  <a:lnTo>
                    <a:pt x="119622" y="23626"/>
                  </a:lnTo>
                  <a:lnTo>
                    <a:pt x="119360" y="25958"/>
                  </a:lnTo>
                  <a:lnTo>
                    <a:pt x="118953" y="28134"/>
                  </a:lnTo>
                  <a:lnTo>
                    <a:pt x="118458" y="30077"/>
                  </a:lnTo>
                  <a:lnTo>
                    <a:pt x="117790" y="31632"/>
                  </a:lnTo>
                  <a:lnTo>
                    <a:pt x="117034" y="32875"/>
                  </a:lnTo>
                  <a:lnTo>
                    <a:pt x="116161" y="33886"/>
                  </a:lnTo>
                  <a:lnTo>
                    <a:pt x="115173" y="34430"/>
                  </a:lnTo>
                  <a:lnTo>
                    <a:pt x="114126" y="34663"/>
                  </a:lnTo>
                  <a:lnTo>
                    <a:pt x="113137" y="34507"/>
                  </a:lnTo>
                  <a:lnTo>
                    <a:pt x="112207" y="34041"/>
                  </a:lnTo>
                  <a:lnTo>
                    <a:pt x="111247" y="33264"/>
                  </a:lnTo>
                  <a:lnTo>
                    <a:pt x="110259" y="32098"/>
                  </a:lnTo>
                  <a:lnTo>
                    <a:pt x="109241" y="30621"/>
                  </a:lnTo>
                  <a:lnTo>
                    <a:pt x="109241" y="8860"/>
                  </a:lnTo>
                  <a:lnTo>
                    <a:pt x="107904" y="9715"/>
                  </a:lnTo>
                  <a:lnTo>
                    <a:pt x="106653" y="10880"/>
                  </a:lnTo>
                  <a:lnTo>
                    <a:pt x="105577" y="12590"/>
                  </a:lnTo>
                  <a:lnTo>
                    <a:pt x="104589" y="14533"/>
                  </a:lnTo>
                  <a:lnTo>
                    <a:pt x="103746" y="16943"/>
                  </a:lnTo>
                  <a:lnTo>
                    <a:pt x="103019" y="19663"/>
                  </a:lnTo>
                  <a:lnTo>
                    <a:pt x="102437" y="22849"/>
                  </a:lnTo>
                  <a:lnTo>
                    <a:pt x="102001" y="26347"/>
                  </a:lnTo>
                  <a:lnTo>
                    <a:pt x="101681" y="30388"/>
                  </a:lnTo>
                  <a:lnTo>
                    <a:pt x="101448" y="34740"/>
                  </a:lnTo>
                  <a:lnTo>
                    <a:pt x="101390" y="39404"/>
                  </a:lnTo>
                  <a:lnTo>
                    <a:pt x="101448" y="43911"/>
                  </a:lnTo>
                  <a:lnTo>
                    <a:pt x="101681" y="47953"/>
                  </a:lnTo>
                  <a:lnTo>
                    <a:pt x="102030" y="51839"/>
                  </a:lnTo>
                  <a:lnTo>
                    <a:pt x="102524" y="55336"/>
                  </a:lnTo>
                  <a:lnTo>
                    <a:pt x="103135" y="58523"/>
                  </a:lnTo>
                  <a:lnTo>
                    <a:pt x="103833" y="61398"/>
                  </a:lnTo>
                  <a:lnTo>
                    <a:pt x="104676" y="63808"/>
                  </a:lnTo>
                  <a:lnTo>
                    <a:pt x="105606" y="65829"/>
                  </a:lnTo>
                  <a:lnTo>
                    <a:pt x="106653" y="67538"/>
                  </a:lnTo>
                  <a:lnTo>
                    <a:pt x="107787" y="68782"/>
                  </a:lnTo>
                  <a:lnTo>
                    <a:pt x="109038" y="69481"/>
                  </a:lnTo>
                  <a:lnTo>
                    <a:pt x="110346" y="69715"/>
                  </a:lnTo>
                  <a:lnTo>
                    <a:pt x="111102" y="69637"/>
                  </a:lnTo>
                  <a:lnTo>
                    <a:pt x="111858" y="69481"/>
                  </a:lnTo>
                  <a:lnTo>
                    <a:pt x="112643" y="69093"/>
                  </a:lnTo>
                  <a:lnTo>
                    <a:pt x="113428" y="68471"/>
                  </a:lnTo>
                  <a:lnTo>
                    <a:pt x="114300" y="67772"/>
                  </a:lnTo>
                  <a:lnTo>
                    <a:pt x="115260" y="66917"/>
                  </a:lnTo>
                  <a:lnTo>
                    <a:pt x="116278" y="65751"/>
                  </a:lnTo>
                  <a:lnTo>
                    <a:pt x="117354" y="64507"/>
                  </a:lnTo>
                  <a:lnTo>
                    <a:pt x="118604" y="62953"/>
                  </a:lnTo>
                  <a:lnTo>
                    <a:pt x="120000" y="61165"/>
                  </a:lnTo>
                  <a:lnTo>
                    <a:pt x="120000" y="75854"/>
                  </a:lnTo>
                  <a:lnTo>
                    <a:pt x="118313" y="77797"/>
                  </a:lnTo>
                  <a:lnTo>
                    <a:pt x="116772" y="79585"/>
                  </a:lnTo>
                  <a:lnTo>
                    <a:pt x="115318" y="80906"/>
                  </a:lnTo>
                  <a:lnTo>
                    <a:pt x="113952" y="82227"/>
                  </a:lnTo>
                  <a:lnTo>
                    <a:pt x="112643" y="83160"/>
                  </a:lnTo>
                  <a:lnTo>
                    <a:pt x="111364" y="83937"/>
                  </a:lnTo>
                  <a:lnTo>
                    <a:pt x="110084" y="84404"/>
                  </a:lnTo>
                  <a:lnTo>
                    <a:pt x="108805" y="84792"/>
                  </a:lnTo>
                  <a:lnTo>
                    <a:pt x="107496" y="85025"/>
                  </a:lnTo>
                  <a:lnTo>
                    <a:pt x="106159" y="85103"/>
                  </a:lnTo>
                  <a:lnTo>
                    <a:pt x="104327" y="84948"/>
                  </a:lnTo>
                  <a:lnTo>
                    <a:pt x="102641" y="84404"/>
                  </a:lnTo>
                  <a:lnTo>
                    <a:pt x="101070" y="83549"/>
                  </a:lnTo>
                  <a:lnTo>
                    <a:pt x="99617" y="82383"/>
                  </a:lnTo>
                  <a:lnTo>
                    <a:pt x="98221" y="80751"/>
                  </a:lnTo>
                  <a:lnTo>
                    <a:pt x="96942" y="78808"/>
                  </a:lnTo>
                  <a:lnTo>
                    <a:pt x="95779" y="76476"/>
                  </a:lnTo>
                  <a:lnTo>
                    <a:pt x="94645" y="73601"/>
                  </a:lnTo>
                  <a:lnTo>
                    <a:pt x="93598" y="70492"/>
                  </a:lnTo>
                  <a:lnTo>
                    <a:pt x="92696" y="67227"/>
                  </a:lnTo>
                  <a:lnTo>
                    <a:pt x="91940" y="63730"/>
                  </a:lnTo>
                  <a:lnTo>
                    <a:pt x="91301" y="60000"/>
                  </a:lnTo>
                  <a:lnTo>
                    <a:pt x="90835" y="56113"/>
                  </a:lnTo>
                  <a:lnTo>
                    <a:pt x="90457" y="52072"/>
                  </a:lnTo>
                  <a:lnTo>
                    <a:pt x="90254" y="47875"/>
                  </a:lnTo>
                  <a:lnTo>
                    <a:pt x="90167" y="43601"/>
                  </a:lnTo>
                  <a:lnTo>
                    <a:pt x="90283" y="38393"/>
                  </a:lnTo>
                  <a:lnTo>
                    <a:pt x="90574" y="33652"/>
                  </a:lnTo>
                  <a:lnTo>
                    <a:pt x="91010" y="28989"/>
                  </a:lnTo>
                  <a:lnTo>
                    <a:pt x="91679" y="24715"/>
                  </a:lnTo>
                  <a:lnTo>
                    <a:pt x="92435" y="20751"/>
                  </a:lnTo>
                  <a:lnTo>
                    <a:pt x="93423" y="17020"/>
                  </a:lnTo>
                  <a:lnTo>
                    <a:pt x="94499" y="13601"/>
                  </a:lnTo>
                  <a:lnTo>
                    <a:pt x="95749" y="10492"/>
                  </a:lnTo>
                  <a:lnTo>
                    <a:pt x="97145" y="7927"/>
                  </a:lnTo>
                  <a:lnTo>
                    <a:pt x="98628" y="5595"/>
                  </a:lnTo>
                  <a:lnTo>
                    <a:pt x="100256" y="3652"/>
                  </a:lnTo>
                  <a:lnTo>
                    <a:pt x="102001" y="2098"/>
                  </a:lnTo>
                  <a:lnTo>
                    <a:pt x="103891" y="932"/>
                  </a:lnTo>
                  <a:lnTo>
                    <a:pt x="105839" y="233"/>
                  </a:lnTo>
                  <a:lnTo>
                    <a:pt x="107904" y="0"/>
                  </a:lnTo>
                  <a:close/>
                  <a:moveTo>
                    <a:pt x="84613" y="0"/>
                  </a:moveTo>
                  <a:lnTo>
                    <a:pt x="85718" y="310"/>
                  </a:lnTo>
                  <a:lnTo>
                    <a:pt x="86736" y="1088"/>
                  </a:lnTo>
                  <a:lnTo>
                    <a:pt x="87637" y="2331"/>
                  </a:lnTo>
                  <a:lnTo>
                    <a:pt x="88393" y="4041"/>
                  </a:lnTo>
                  <a:lnTo>
                    <a:pt x="89062" y="6062"/>
                  </a:lnTo>
                  <a:lnTo>
                    <a:pt x="89527" y="8471"/>
                  </a:lnTo>
                  <a:lnTo>
                    <a:pt x="89818" y="11036"/>
                  </a:lnTo>
                  <a:lnTo>
                    <a:pt x="89934" y="13834"/>
                  </a:lnTo>
                  <a:lnTo>
                    <a:pt x="89876" y="15777"/>
                  </a:lnTo>
                  <a:lnTo>
                    <a:pt x="89789" y="17642"/>
                  </a:lnTo>
                  <a:lnTo>
                    <a:pt x="89585" y="19585"/>
                  </a:lnTo>
                  <a:lnTo>
                    <a:pt x="89294" y="21528"/>
                  </a:lnTo>
                  <a:lnTo>
                    <a:pt x="88975" y="23549"/>
                  </a:lnTo>
                  <a:lnTo>
                    <a:pt x="88509" y="25725"/>
                  </a:lnTo>
                  <a:lnTo>
                    <a:pt x="87957" y="28056"/>
                  </a:lnTo>
                  <a:lnTo>
                    <a:pt x="87346" y="30544"/>
                  </a:lnTo>
                  <a:lnTo>
                    <a:pt x="86590" y="33341"/>
                  </a:lnTo>
                  <a:lnTo>
                    <a:pt x="85718" y="36373"/>
                  </a:lnTo>
                  <a:lnTo>
                    <a:pt x="84729" y="39792"/>
                  </a:lnTo>
                  <a:lnTo>
                    <a:pt x="83624" y="43601"/>
                  </a:lnTo>
                  <a:lnTo>
                    <a:pt x="71877" y="83782"/>
                  </a:lnTo>
                  <a:lnTo>
                    <a:pt x="63445" y="83782"/>
                  </a:lnTo>
                  <a:lnTo>
                    <a:pt x="63445" y="32953"/>
                  </a:lnTo>
                  <a:lnTo>
                    <a:pt x="51873" y="83782"/>
                  </a:lnTo>
                  <a:lnTo>
                    <a:pt x="44138" y="83782"/>
                  </a:lnTo>
                  <a:lnTo>
                    <a:pt x="44138" y="18186"/>
                  </a:lnTo>
                  <a:lnTo>
                    <a:pt x="38177" y="16632"/>
                  </a:lnTo>
                  <a:lnTo>
                    <a:pt x="38177" y="9170"/>
                  </a:lnTo>
                  <a:lnTo>
                    <a:pt x="49139" y="1943"/>
                  </a:lnTo>
                  <a:lnTo>
                    <a:pt x="53268" y="1943"/>
                  </a:lnTo>
                  <a:lnTo>
                    <a:pt x="53268" y="55414"/>
                  </a:lnTo>
                  <a:lnTo>
                    <a:pt x="65335" y="1943"/>
                  </a:lnTo>
                  <a:lnTo>
                    <a:pt x="72604" y="1943"/>
                  </a:lnTo>
                  <a:lnTo>
                    <a:pt x="72604" y="63886"/>
                  </a:lnTo>
                  <a:lnTo>
                    <a:pt x="80222" y="36761"/>
                  </a:lnTo>
                  <a:lnTo>
                    <a:pt x="80222" y="4818"/>
                  </a:lnTo>
                  <a:lnTo>
                    <a:pt x="80804" y="3419"/>
                  </a:lnTo>
                  <a:lnTo>
                    <a:pt x="81589" y="2098"/>
                  </a:lnTo>
                  <a:lnTo>
                    <a:pt x="82490" y="1010"/>
                  </a:lnTo>
                  <a:lnTo>
                    <a:pt x="83508" y="310"/>
                  </a:lnTo>
                  <a:lnTo>
                    <a:pt x="846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icture">
  <p:cSld name="Cover Slide: Picture">
    <p:spTree>
      <p:nvGrpSpPr>
        <p:cNvPr id="211" name="Shape 211"/>
        <p:cNvGrpSpPr/>
        <p:nvPr/>
      </p:nvGrpSpPr>
      <p:grpSpPr>
        <a:xfrm>
          <a:off x="0" y="0"/>
          <a:ext cx="0" cy="0"/>
          <a:chOff x="0" y="0"/>
          <a:chExt cx="0" cy="0"/>
        </a:xfrm>
      </p:grpSpPr>
      <p:grpSp>
        <p:nvGrpSpPr>
          <p:cNvPr id="212" name="Google Shape;212;p20"/>
          <p:cNvGrpSpPr/>
          <p:nvPr/>
        </p:nvGrpSpPr>
        <p:grpSpPr>
          <a:xfrm>
            <a:off x="1752600" y="1"/>
            <a:ext cx="7391401" cy="6176009"/>
            <a:chOff x="19140488" y="13674"/>
            <a:chExt cx="7443799" cy="6145827"/>
          </a:xfrm>
        </p:grpSpPr>
        <p:sp>
          <p:nvSpPr>
            <p:cNvPr id="213" name="Google Shape;213;p20"/>
            <p:cNvSpPr/>
            <p:nvPr/>
          </p:nvSpPr>
          <p:spPr>
            <a:xfrm>
              <a:off x="19140488" y="4188799"/>
              <a:ext cx="2302206" cy="1970702"/>
            </a:xfrm>
            <a:prstGeom prst="rect">
              <a:avLst/>
            </a:prstGeom>
            <a:solidFill>
              <a:srgbClr val="9A170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20"/>
            <p:cNvSpPr/>
            <p:nvPr/>
          </p:nvSpPr>
          <p:spPr>
            <a:xfrm>
              <a:off x="25663403" y="4032250"/>
              <a:ext cx="920883" cy="2127250"/>
            </a:xfrm>
            <a:prstGeom prst="rect">
              <a:avLst/>
            </a:prstGeom>
            <a:solidFill>
              <a:srgbClr val="F3BE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 name="Google Shape;215;p20"/>
            <p:cNvSpPr/>
            <p:nvPr/>
          </p:nvSpPr>
          <p:spPr>
            <a:xfrm>
              <a:off x="25049481" y="2899477"/>
              <a:ext cx="734694" cy="1289321"/>
            </a:xfrm>
            <a:prstGeom prst="rect">
              <a:avLst/>
            </a:prstGeom>
            <a:solidFill>
              <a:srgbClr val="F3BC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20"/>
            <p:cNvSpPr/>
            <p:nvPr/>
          </p:nvSpPr>
          <p:spPr>
            <a:xfrm>
              <a:off x="25049481" y="4032250"/>
              <a:ext cx="734693" cy="2127250"/>
            </a:xfrm>
            <a:prstGeom prst="rect">
              <a:avLst/>
            </a:prstGeom>
            <a:solidFill>
              <a:srgbClr val="E88C1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 name="Google Shape;217;p20"/>
            <p:cNvSpPr/>
            <p:nvPr/>
          </p:nvSpPr>
          <p:spPr>
            <a:xfrm>
              <a:off x="24665780" y="706365"/>
              <a:ext cx="477045" cy="2263848"/>
            </a:xfrm>
            <a:prstGeom prst="rect">
              <a:avLst/>
            </a:prstGeom>
            <a:solidFill>
              <a:srgbClr val="E669A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20"/>
            <p:cNvSpPr/>
            <p:nvPr/>
          </p:nvSpPr>
          <p:spPr>
            <a:xfrm>
              <a:off x="24665780" y="2899478"/>
              <a:ext cx="477045" cy="1289321"/>
            </a:xfrm>
            <a:prstGeom prst="rect">
              <a:avLst/>
            </a:prstGeom>
            <a:solidFill>
              <a:srgbClr val="DB4D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20"/>
            <p:cNvSpPr/>
            <p:nvPr/>
          </p:nvSpPr>
          <p:spPr>
            <a:xfrm>
              <a:off x="24665780" y="4032250"/>
              <a:ext cx="477045" cy="2127250"/>
            </a:xfrm>
            <a:prstGeom prst="rect">
              <a:avLst/>
            </a:prstGeom>
            <a:solidFill>
              <a:srgbClr val="D13A0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20"/>
            <p:cNvSpPr/>
            <p:nvPr/>
          </p:nvSpPr>
          <p:spPr>
            <a:xfrm>
              <a:off x="19140488" y="669925"/>
              <a:ext cx="5662612" cy="2300288"/>
            </a:xfrm>
            <a:prstGeom prst="rect">
              <a:avLst/>
            </a:prstGeom>
            <a:solidFill>
              <a:srgbClr val="D7402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20"/>
            <p:cNvSpPr/>
            <p:nvPr/>
          </p:nvSpPr>
          <p:spPr>
            <a:xfrm>
              <a:off x="19140488" y="2899478"/>
              <a:ext cx="5662612" cy="1289321"/>
            </a:xfrm>
            <a:prstGeom prst="rect">
              <a:avLst/>
            </a:prstGeom>
            <a:solidFill>
              <a:srgbClr val="CD2F1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20"/>
            <p:cNvSpPr/>
            <p:nvPr/>
          </p:nvSpPr>
          <p:spPr>
            <a:xfrm>
              <a:off x="19140488" y="4032250"/>
              <a:ext cx="5662612" cy="2127250"/>
            </a:xfrm>
            <a:custGeom>
              <a:rect b="b" l="l" r="r" t="t"/>
              <a:pathLst>
                <a:path extrusionOk="0" h="120000" w="120000">
                  <a:moveTo>
                    <a:pt x="0" y="0"/>
                  </a:moveTo>
                  <a:lnTo>
                    <a:pt x="120000" y="0"/>
                  </a:lnTo>
                  <a:lnTo>
                    <a:pt x="120000" y="120000"/>
                  </a:lnTo>
                  <a:lnTo>
                    <a:pt x="46156" y="120000"/>
                  </a:lnTo>
                  <a:lnTo>
                    <a:pt x="46156" y="16208"/>
                  </a:lnTo>
                  <a:lnTo>
                    <a:pt x="0" y="16208"/>
                  </a:lnTo>
                  <a:lnTo>
                    <a:pt x="0" y="0"/>
                  </a:lnTo>
                  <a:close/>
                </a:path>
              </a:pathLst>
            </a:custGeom>
            <a:solidFill>
              <a:srgbClr val="C4230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20"/>
            <p:cNvSpPr/>
            <p:nvPr/>
          </p:nvSpPr>
          <p:spPr>
            <a:xfrm>
              <a:off x="19140488" y="13674"/>
              <a:ext cx="5662612" cy="692692"/>
            </a:xfrm>
            <a:prstGeom prst="rect">
              <a:avLst/>
            </a:prstGeom>
            <a:solidFill>
              <a:srgbClr val="EE9C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4" name="Google Shape;224;p20"/>
          <p:cNvSpPr txBox="1"/>
          <p:nvPr>
            <p:ph type="ctrTitle"/>
          </p:nvPr>
        </p:nvSpPr>
        <p:spPr>
          <a:xfrm>
            <a:off x="1895475" y="838200"/>
            <a:ext cx="5343525" cy="9144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Georgia"/>
              <a:buNone/>
              <a:defRPr b="1" i="1" sz="32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25" name="Google Shape;225;p20"/>
          <p:cNvSpPr txBox="1"/>
          <p:nvPr>
            <p:ph idx="1" type="subTitle"/>
          </p:nvPr>
        </p:nvSpPr>
        <p:spPr>
          <a:xfrm>
            <a:off x="1895475" y="1828799"/>
            <a:ext cx="5343525" cy="914401"/>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0" lvl="1" marL="0" marR="0" rtl="0" algn="l">
              <a:lnSpc>
                <a:spcPct val="100000"/>
              </a:lnSpc>
              <a:spcBef>
                <a:spcPts val="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226" name="Google Shape;226;p20"/>
          <p:cNvSpPr txBox="1"/>
          <p:nvPr>
            <p:ph idx="2" type="body"/>
          </p:nvPr>
        </p:nvSpPr>
        <p:spPr>
          <a:xfrm>
            <a:off x="1895475" y="374904"/>
            <a:ext cx="4105656" cy="146304"/>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Arial"/>
              <a:buNone/>
              <a:defRPr b="0" i="0" sz="1100" u="none" cap="none" strike="noStrike">
                <a:solidFill>
                  <a:schemeClr val="lt1"/>
                </a:solidFill>
                <a:latin typeface="Arial"/>
                <a:ea typeface="Arial"/>
                <a:cs typeface="Arial"/>
                <a:sym typeface="Arial"/>
              </a:defRPr>
            </a:lvl1pPr>
            <a:lvl2pPr indent="-292100" lvl="1" marL="9144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2pPr>
            <a:lvl3pPr indent="-292100" lvl="2" marL="13716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3pPr>
            <a:lvl4pPr indent="-292100" lvl="3" marL="18288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4pPr>
            <a:lvl5pPr indent="-292100" lvl="4" marL="22860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227" name="Google Shape;227;p20"/>
          <p:cNvSpPr/>
          <p:nvPr>
            <p:ph idx="3" type="pic"/>
          </p:nvPr>
        </p:nvSpPr>
        <p:spPr>
          <a:xfrm>
            <a:off x="1752600" y="2899977"/>
            <a:ext cx="6324600" cy="3272223"/>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0" i="0" sz="1400" u="none" cap="none" strike="noStrike">
                <a:solidFill>
                  <a:schemeClr val="dk1"/>
                </a:solidFill>
                <a:latin typeface="Georgia"/>
                <a:ea typeface="Georgia"/>
                <a:cs typeface="Georgia"/>
                <a:sym typeface="Georgia"/>
              </a:defRPr>
            </a:lvl1pPr>
            <a:lvl2pPr indent="-274320" lvl="1" marL="27432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281940" lvl="2" marL="54864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276860" lvl="3" marL="82296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284480" lvl="4" marL="109728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274320" lvl="5" marL="27432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281940" lvl="6" marL="54864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276860" lvl="7" marL="82296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0" lvl="8" marL="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grpSp>
        <p:nvGrpSpPr>
          <p:cNvPr id="228" name="Google Shape;228;p20"/>
          <p:cNvGrpSpPr/>
          <p:nvPr/>
        </p:nvGrpSpPr>
        <p:grpSpPr>
          <a:xfrm>
            <a:off x="968592" y="6170991"/>
            <a:ext cx="914400" cy="533479"/>
            <a:chOff x="518032" y="978681"/>
            <a:chExt cx="4572000" cy="2667393"/>
          </a:xfrm>
        </p:grpSpPr>
        <p:sp>
          <p:nvSpPr>
            <p:cNvPr id="229" name="Google Shape;229;p20"/>
            <p:cNvSpPr/>
            <p:nvPr/>
          </p:nvSpPr>
          <p:spPr>
            <a:xfrm>
              <a:off x="3295650" y="978681"/>
              <a:ext cx="1143000" cy="263229"/>
            </a:xfrm>
            <a:prstGeom prst="rect">
              <a:avLst/>
            </a:prstGeom>
            <a:solidFill>
              <a:srgbClr val="A1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20"/>
            <p:cNvSpPr/>
            <p:nvPr/>
          </p:nvSpPr>
          <p:spPr>
            <a:xfrm>
              <a:off x="518032" y="1922794"/>
              <a:ext cx="4572000" cy="1723280"/>
            </a:xfrm>
            <a:custGeom>
              <a:rect b="b" l="l" r="r" t="t"/>
              <a:pathLst>
                <a:path extrusionOk="0" h="120000" w="120000">
                  <a:moveTo>
                    <a:pt x="18609" y="17797"/>
                  </a:moveTo>
                  <a:lnTo>
                    <a:pt x="18085" y="17797"/>
                  </a:lnTo>
                  <a:lnTo>
                    <a:pt x="17533" y="17875"/>
                  </a:lnTo>
                  <a:lnTo>
                    <a:pt x="16893" y="18108"/>
                  </a:lnTo>
                  <a:lnTo>
                    <a:pt x="16079" y="18264"/>
                  </a:lnTo>
                  <a:lnTo>
                    <a:pt x="15149" y="18730"/>
                  </a:lnTo>
                  <a:lnTo>
                    <a:pt x="15149" y="73601"/>
                  </a:lnTo>
                  <a:lnTo>
                    <a:pt x="15643" y="73756"/>
                  </a:lnTo>
                  <a:lnTo>
                    <a:pt x="16079" y="73756"/>
                  </a:lnTo>
                  <a:lnTo>
                    <a:pt x="16457" y="73756"/>
                  </a:lnTo>
                  <a:lnTo>
                    <a:pt x="16806" y="73756"/>
                  </a:lnTo>
                  <a:lnTo>
                    <a:pt x="18318" y="73523"/>
                  </a:lnTo>
                  <a:lnTo>
                    <a:pt x="19685" y="72823"/>
                  </a:lnTo>
                  <a:lnTo>
                    <a:pt x="20935" y="71813"/>
                  </a:lnTo>
                  <a:lnTo>
                    <a:pt x="22040" y="70336"/>
                  </a:lnTo>
                  <a:lnTo>
                    <a:pt x="23057" y="68393"/>
                  </a:lnTo>
                  <a:lnTo>
                    <a:pt x="23959" y="66062"/>
                  </a:lnTo>
                  <a:lnTo>
                    <a:pt x="24686" y="63341"/>
                  </a:lnTo>
                  <a:lnTo>
                    <a:pt x="25296" y="60233"/>
                  </a:lnTo>
                  <a:lnTo>
                    <a:pt x="25762" y="56580"/>
                  </a:lnTo>
                  <a:lnTo>
                    <a:pt x="26081" y="52694"/>
                  </a:lnTo>
                  <a:lnTo>
                    <a:pt x="26314" y="48341"/>
                  </a:lnTo>
                  <a:lnTo>
                    <a:pt x="26372" y="43601"/>
                  </a:lnTo>
                  <a:lnTo>
                    <a:pt x="26314" y="39248"/>
                  </a:lnTo>
                  <a:lnTo>
                    <a:pt x="26081" y="35129"/>
                  </a:lnTo>
                  <a:lnTo>
                    <a:pt x="25762" y="31632"/>
                  </a:lnTo>
                  <a:lnTo>
                    <a:pt x="25296" y="28445"/>
                  </a:lnTo>
                  <a:lnTo>
                    <a:pt x="24715" y="25569"/>
                  </a:lnTo>
                  <a:lnTo>
                    <a:pt x="24017" y="23238"/>
                  </a:lnTo>
                  <a:lnTo>
                    <a:pt x="23174" y="21295"/>
                  </a:lnTo>
                  <a:lnTo>
                    <a:pt x="22185" y="19740"/>
                  </a:lnTo>
                  <a:lnTo>
                    <a:pt x="21138" y="18730"/>
                  </a:lnTo>
                  <a:lnTo>
                    <a:pt x="19946" y="18031"/>
                  </a:lnTo>
                  <a:lnTo>
                    <a:pt x="18609" y="17797"/>
                  </a:lnTo>
                  <a:close/>
                  <a:moveTo>
                    <a:pt x="12008" y="233"/>
                  </a:moveTo>
                  <a:lnTo>
                    <a:pt x="15149" y="233"/>
                  </a:lnTo>
                  <a:lnTo>
                    <a:pt x="15149" y="11113"/>
                  </a:lnTo>
                  <a:lnTo>
                    <a:pt x="16457" y="9093"/>
                  </a:lnTo>
                  <a:lnTo>
                    <a:pt x="17649" y="7227"/>
                  </a:lnTo>
                  <a:lnTo>
                    <a:pt x="18696" y="5751"/>
                  </a:lnTo>
                  <a:lnTo>
                    <a:pt x="19685" y="4430"/>
                  </a:lnTo>
                  <a:lnTo>
                    <a:pt x="20557" y="3419"/>
                  </a:lnTo>
                  <a:lnTo>
                    <a:pt x="21371" y="2564"/>
                  </a:lnTo>
                  <a:lnTo>
                    <a:pt x="22127" y="1865"/>
                  </a:lnTo>
                  <a:lnTo>
                    <a:pt x="22825" y="1398"/>
                  </a:lnTo>
                  <a:lnTo>
                    <a:pt x="23523" y="1010"/>
                  </a:lnTo>
                  <a:lnTo>
                    <a:pt x="24162" y="777"/>
                  </a:lnTo>
                  <a:lnTo>
                    <a:pt x="24860" y="699"/>
                  </a:lnTo>
                  <a:lnTo>
                    <a:pt x="25558" y="621"/>
                  </a:lnTo>
                  <a:lnTo>
                    <a:pt x="27070" y="932"/>
                  </a:lnTo>
                  <a:lnTo>
                    <a:pt x="28495" y="1787"/>
                  </a:lnTo>
                  <a:lnTo>
                    <a:pt x="29832" y="3108"/>
                  </a:lnTo>
                  <a:lnTo>
                    <a:pt x="31112" y="4974"/>
                  </a:lnTo>
                  <a:lnTo>
                    <a:pt x="32275" y="7305"/>
                  </a:lnTo>
                  <a:lnTo>
                    <a:pt x="33380" y="10103"/>
                  </a:lnTo>
                  <a:lnTo>
                    <a:pt x="34310" y="13367"/>
                  </a:lnTo>
                  <a:lnTo>
                    <a:pt x="35153" y="16943"/>
                  </a:lnTo>
                  <a:lnTo>
                    <a:pt x="35851" y="20829"/>
                  </a:lnTo>
                  <a:lnTo>
                    <a:pt x="36404" y="25181"/>
                  </a:lnTo>
                  <a:lnTo>
                    <a:pt x="36782" y="29766"/>
                  </a:lnTo>
                  <a:lnTo>
                    <a:pt x="37043" y="34663"/>
                  </a:lnTo>
                  <a:lnTo>
                    <a:pt x="37160" y="39792"/>
                  </a:lnTo>
                  <a:lnTo>
                    <a:pt x="37043" y="44922"/>
                  </a:lnTo>
                  <a:lnTo>
                    <a:pt x="36782" y="49818"/>
                  </a:lnTo>
                  <a:lnTo>
                    <a:pt x="36404" y="54481"/>
                  </a:lnTo>
                  <a:lnTo>
                    <a:pt x="35822" y="58756"/>
                  </a:lnTo>
                  <a:lnTo>
                    <a:pt x="35037" y="62875"/>
                  </a:lnTo>
                  <a:lnTo>
                    <a:pt x="34165" y="66606"/>
                  </a:lnTo>
                  <a:lnTo>
                    <a:pt x="33147" y="70025"/>
                  </a:lnTo>
                  <a:lnTo>
                    <a:pt x="31955" y="73134"/>
                  </a:lnTo>
                  <a:lnTo>
                    <a:pt x="30646" y="75854"/>
                  </a:lnTo>
                  <a:lnTo>
                    <a:pt x="29222" y="78186"/>
                  </a:lnTo>
                  <a:lnTo>
                    <a:pt x="27652" y="80129"/>
                  </a:lnTo>
                  <a:lnTo>
                    <a:pt x="25994" y="81683"/>
                  </a:lnTo>
                  <a:lnTo>
                    <a:pt x="24162" y="82772"/>
                  </a:lnTo>
                  <a:lnTo>
                    <a:pt x="22272" y="83471"/>
                  </a:lnTo>
                  <a:lnTo>
                    <a:pt x="20237" y="83782"/>
                  </a:lnTo>
                  <a:lnTo>
                    <a:pt x="19481" y="83782"/>
                  </a:lnTo>
                  <a:lnTo>
                    <a:pt x="18521" y="83626"/>
                  </a:lnTo>
                  <a:lnTo>
                    <a:pt x="17475" y="83471"/>
                  </a:lnTo>
                  <a:lnTo>
                    <a:pt x="16312" y="83238"/>
                  </a:lnTo>
                  <a:lnTo>
                    <a:pt x="15149" y="83005"/>
                  </a:lnTo>
                  <a:lnTo>
                    <a:pt x="15149" y="109430"/>
                  </a:lnTo>
                  <a:lnTo>
                    <a:pt x="20121" y="112461"/>
                  </a:lnTo>
                  <a:lnTo>
                    <a:pt x="20121" y="120000"/>
                  </a:lnTo>
                  <a:lnTo>
                    <a:pt x="523" y="120000"/>
                  </a:lnTo>
                  <a:lnTo>
                    <a:pt x="523" y="112461"/>
                  </a:lnTo>
                  <a:lnTo>
                    <a:pt x="4972" y="109430"/>
                  </a:lnTo>
                  <a:lnTo>
                    <a:pt x="4972" y="17797"/>
                  </a:lnTo>
                  <a:lnTo>
                    <a:pt x="0" y="17797"/>
                  </a:lnTo>
                  <a:lnTo>
                    <a:pt x="0" y="9948"/>
                  </a:lnTo>
                  <a:lnTo>
                    <a:pt x="12008" y="233"/>
                  </a:lnTo>
                  <a:close/>
                  <a:moveTo>
                    <a:pt x="107904" y="0"/>
                  </a:moveTo>
                  <a:lnTo>
                    <a:pt x="109619" y="233"/>
                  </a:lnTo>
                  <a:lnTo>
                    <a:pt x="111218" y="699"/>
                  </a:lnTo>
                  <a:lnTo>
                    <a:pt x="112701" y="1554"/>
                  </a:lnTo>
                  <a:lnTo>
                    <a:pt x="114068" y="2642"/>
                  </a:lnTo>
                  <a:lnTo>
                    <a:pt x="115289" y="4119"/>
                  </a:lnTo>
                  <a:lnTo>
                    <a:pt x="116423" y="5829"/>
                  </a:lnTo>
                  <a:lnTo>
                    <a:pt x="117354" y="7772"/>
                  </a:lnTo>
                  <a:lnTo>
                    <a:pt x="118168" y="10025"/>
                  </a:lnTo>
                  <a:lnTo>
                    <a:pt x="118807" y="12435"/>
                  </a:lnTo>
                  <a:lnTo>
                    <a:pt x="119302" y="15077"/>
                  </a:lnTo>
                  <a:lnTo>
                    <a:pt x="119592" y="18031"/>
                  </a:lnTo>
                  <a:lnTo>
                    <a:pt x="119709" y="21062"/>
                  </a:lnTo>
                  <a:lnTo>
                    <a:pt x="119622" y="23626"/>
                  </a:lnTo>
                  <a:lnTo>
                    <a:pt x="119360" y="25958"/>
                  </a:lnTo>
                  <a:lnTo>
                    <a:pt x="118953" y="28134"/>
                  </a:lnTo>
                  <a:lnTo>
                    <a:pt x="118458" y="30077"/>
                  </a:lnTo>
                  <a:lnTo>
                    <a:pt x="117790" y="31632"/>
                  </a:lnTo>
                  <a:lnTo>
                    <a:pt x="117034" y="32875"/>
                  </a:lnTo>
                  <a:lnTo>
                    <a:pt x="116161" y="33886"/>
                  </a:lnTo>
                  <a:lnTo>
                    <a:pt x="115173" y="34430"/>
                  </a:lnTo>
                  <a:lnTo>
                    <a:pt x="114126" y="34663"/>
                  </a:lnTo>
                  <a:lnTo>
                    <a:pt x="113137" y="34507"/>
                  </a:lnTo>
                  <a:lnTo>
                    <a:pt x="112207" y="34041"/>
                  </a:lnTo>
                  <a:lnTo>
                    <a:pt x="111247" y="33264"/>
                  </a:lnTo>
                  <a:lnTo>
                    <a:pt x="110259" y="32098"/>
                  </a:lnTo>
                  <a:lnTo>
                    <a:pt x="109241" y="30621"/>
                  </a:lnTo>
                  <a:lnTo>
                    <a:pt x="109241" y="8860"/>
                  </a:lnTo>
                  <a:lnTo>
                    <a:pt x="107904" y="9715"/>
                  </a:lnTo>
                  <a:lnTo>
                    <a:pt x="106653" y="10880"/>
                  </a:lnTo>
                  <a:lnTo>
                    <a:pt x="105577" y="12590"/>
                  </a:lnTo>
                  <a:lnTo>
                    <a:pt x="104589" y="14533"/>
                  </a:lnTo>
                  <a:lnTo>
                    <a:pt x="103746" y="16943"/>
                  </a:lnTo>
                  <a:lnTo>
                    <a:pt x="103019" y="19663"/>
                  </a:lnTo>
                  <a:lnTo>
                    <a:pt x="102437" y="22849"/>
                  </a:lnTo>
                  <a:lnTo>
                    <a:pt x="102001" y="26347"/>
                  </a:lnTo>
                  <a:lnTo>
                    <a:pt x="101681" y="30388"/>
                  </a:lnTo>
                  <a:lnTo>
                    <a:pt x="101448" y="34740"/>
                  </a:lnTo>
                  <a:lnTo>
                    <a:pt x="101390" y="39404"/>
                  </a:lnTo>
                  <a:lnTo>
                    <a:pt x="101448" y="43911"/>
                  </a:lnTo>
                  <a:lnTo>
                    <a:pt x="101681" y="47953"/>
                  </a:lnTo>
                  <a:lnTo>
                    <a:pt x="102030" y="51839"/>
                  </a:lnTo>
                  <a:lnTo>
                    <a:pt x="102524" y="55336"/>
                  </a:lnTo>
                  <a:lnTo>
                    <a:pt x="103135" y="58523"/>
                  </a:lnTo>
                  <a:lnTo>
                    <a:pt x="103833" y="61398"/>
                  </a:lnTo>
                  <a:lnTo>
                    <a:pt x="104676" y="63808"/>
                  </a:lnTo>
                  <a:lnTo>
                    <a:pt x="105606" y="65829"/>
                  </a:lnTo>
                  <a:lnTo>
                    <a:pt x="106653" y="67538"/>
                  </a:lnTo>
                  <a:lnTo>
                    <a:pt x="107787" y="68782"/>
                  </a:lnTo>
                  <a:lnTo>
                    <a:pt x="109038" y="69481"/>
                  </a:lnTo>
                  <a:lnTo>
                    <a:pt x="110346" y="69715"/>
                  </a:lnTo>
                  <a:lnTo>
                    <a:pt x="111102" y="69637"/>
                  </a:lnTo>
                  <a:lnTo>
                    <a:pt x="111858" y="69481"/>
                  </a:lnTo>
                  <a:lnTo>
                    <a:pt x="112643" y="69093"/>
                  </a:lnTo>
                  <a:lnTo>
                    <a:pt x="113428" y="68471"/>
                  </a:lnTo>
                  <a:lnTo>
                    <a:pt x="114300" y="67772"/>
                  </a:lnTo>
                  <a:lnTo>
                    <a:pt x="115260" y="66917"/>
                  </a:lnTo>
                  <a:lnTo>
                    <a:pt x="116278" y="65751"/>
                  </a:lnTo>
                  <a:lnTo>
                    <a:pt x="117354" y="64507"/>
                  </a:lnTo>
                  <a:lnTo>
                    <a:pt x="118604" y="62953"/>
                  </a:lnTo>
                  <a:lnTo>
                    <a:pt x="120000" y="61165"/>
                  </a:lnTo>
                  <a:lnTo>
                    <a:pt x="120000" y="75854"/>
                  </a:lnTo>
                  <a:lnTo>
                    <a:pt x="118313" y="77797"/>
                  </a:lnTo>
                  <a:lnTo>
                    <a:pt x="116772" y="79585"/>
                  </a:lnTo>
                  <a:lnTo>
                    <a:pt x="115318" y="80906"/>
                  </a:lnTo>
                  <a:lnTo>
                    <a:pt x="113952" y="82227"/>
                  </a:lnTo>
                  <a:lnTo>
                    <a:pt x="112643" y="83160"/>
                  </a:lnTo>
                  <a:lnTo>
                    <a:pt x="111364" y="83937"/>
                  </a:lnTo>
                  <a:lnTo>
                    <a:pt x="110084" y="84404"/>
                  </a:lnTo>
                  <a:lnTo>
                    <a:pt x="108805" y="84792"/>
                  </a:lnTo>
                  <a:lnTo>
                    <a:pt x="107496" y="85025"/>
                  </a:lnTo>
                  <a:lnTo>
                    <a:pt x="106159" y="85103"/>
                  </a:lnTo>
                  <a:lnTo>
                    <a:pt x="104327" y="84948"/>
                  </a:lnTo>
                  <a:lnTo>
                    <a:pt x="102641" y="84404"/>
                  </a:lnTo>
                  <a:lnTo>
                    <a:pt x="101070" y="83549"/>
                  </a:lnTo>
                  <a:lnTo>
                    <a:pt x="99617" y="82383"/>
                  </a:lnTo>
                  <a:lnTo>
                    <a:pt x="98221" y="80751"/>
                  </a:lnTo>
                  <a:lnTo>
                    <a:pt x="96942" y="78808"/>
                  </a:lnTo>
                  <a:lnTo>
                    <a:pt x="95779" y="76476"/>
                  </a:lnTo>
                  <a:lnTo>
                    <a:pt x="94645" y="73601"/>
                  </a:lnTo>
                  <a:lnTo>
                    <a:pt x="93598" y="70492"/>
                  </a:lnTo>
                  <a:lnTo>
                    <a:pt x="92696" y="67227"/>
                  </a:lnTo>
                  <a:lnTo>
                    <a:pt x="91940" y="63730"/>
                  </a:lnTo>
                  <a:lnTo>
                    <a:pt x="91301" y="60000"/>
                  </a:lnTo>
                  <a:lnTo>
                    <a:pt x="90835" y="56113"/>
                  </a:lnTo>
                  <a:lnTo>
                    <a:pt x="90457" y="52072"/>
                  </a:lnTo>
                  <a:lnTo>
                    <a:pt x="90254" y="47875"/>
                  </a:lnTo>
                  <a:lnTo>
                    <a:pt x="90167" y="43601"/>
                  </a:lnTo>
                  <a:lnTo>
                    <a:pt x="90283" y="38393"/>
                  </a:lnTo>
                  <a:lnTo>
                    <a:pt x="90574" y="33652"/>
                  </a:lnTo>
                  <a:lnTo>
                    <a:pt x="91010" y="28989"/>
                  </a:lnTo>
                  <a:lnTo>
                    <a:pt x="91679" y="24715"/>
                  </a:lnTo>
                  <a:lnTo>
                    <a:pt x="92435" y="20751"/>
                  </a:lnTo>
                  <a:lnTo>
                    <a:pt x="93423" y="17020"/>
                  </a:lnTo>
                  <a:lnTo>
                    <a:pt x="94499" y="13601"/>
                  </a:lnTo>
                  <a:lnTo>
                    <a:pt x="95749" y="10492"/>
                  </a:lnTo>
                  <a:lnTo>
                    <a:pt x="97145" y="7927"/>
                  </a:lnTo>
                  <a:lnTo>
                    <a:pt x="98628" y="5595"/>
                  </a:lnTo>
                  <a:lnTo>
                    <a:pt x="100256" y="3652"/>
                  </a:lnTo>
                  <a:lnTo>
                    <a:pt x="102001" y="2098"/>
                  </a:lnTo>
                  <a:lnTo>
                    <a:pt x="103891" y="932"/>
                  </a:lnTo>
                  <a:lnTo>
                    <a:pt x="105839" y="233"/>
                  </a:lnTo>
                  <a:lnTo>
                    <a:pt x="107904" y="0"/>
                  </a:lnTo>
                  <a:close/>
                  <a:moveTo>
                    <a:pt x="84613" y="0"/>
                  </a:moveTo>
                  <a:lnTo>
                    <a:pt x="85718" y="310"/>
                  </a:lnTo>
                  <a:lnTo>
                    <a:pt x="86736" y="1088"/>
                  </a:lnTo>
                  <a:lnTo>
                    <a:pt x="87637" y="2331"/>
                  </a:lnTo>
                  <a:lnTo>
                    <a:pt x="88393" y="4041"/>
                  </a:lnTo>
                  <a:lnTo>
                    <a:pt x="89062" y="6062"/>
                  </a:lnTo>
                  <a:lnTo>
                    <a:pt x="89527" y="8471"/>
                  </a:lnTo>
                  <a:lnTo>
                    <a:pt x="89818" y="11036"/>
                  </a:lnTo>
                  <a:lnTo>
                    <a:pt x="89934" y="13834"/>
                  </a:lnTo>
                  <a:lnTo>
                    <a:pt x="89876" y="15777"/>
                  </a:lnTo>
                  <a:lnTo>
                    <a:pt x="89789" y="17642"/>
                  </a:lnTo>
                  <a:lnTo>
                    <a:pt x="89585" y="19585"/>
                  </a:lnTo>
                  <a:lnTo>
                    <a:pt x="89294" y="21528"/>
                  </a:lnTo>
                  <a:lnTo>
                    <a:pt x="88975" y="23549"/>
                  </a:lnTo>
                  <a:lnTo>
                    <a:pt x="88509" y="25725"/>
                  </a:lnTo>
                  <a:lnTo>
                    <a:pt x="87957" y="28056"/>
                  </a:lnTo>
                  <a:lnTo>
                    <a:pt x="87346" y="30544"/>
                  </a:lnTo>
                  <a:lnTo>
                    <a:pt x="86590" y="33341"/>
                  </a:lnTo>
                  <a:lnTo>
                    <a:pt x="85718" y="36373"/>
                  </a:lnTo>
                  <a:lnTo>
                    <a:pt x="84729" y="39792"/>
                  </a:lnTo>
                  <a:lnTo>
                    <a:pt x="83624" y="43601"/>
                  </a:lnTo>
                  <a:lnTo>
                    <a:pt x="71877" y="83782"/>
                  </a:lnTo>
                  <a:lnTo>
                    <a:pt x="63445" y="83782"/>
                  </a:lnTo>
                  <a:lnTo>
                    <a:pt x="63445" y="32953"/>
                  </a:lnTo>
                  <a:lnTo>
                    <a:pt x="51873" y="83782"/>
                  </a:lnTo>
                  <a:lnTo>
                    <a:pt x="44138" y="83782"/>
                  </a:lnTo>
                  <a:lnTo>
                    <a:pt x="44138" y="18186"/>
                  </a:lnTo>
                  <a:lnTo>
                    <a:pt x="38177" y="16632"/>
                  </a:lnTo>
                  <a:lnTo>
                    <a:pt x="38177" y="9170"/>
                  </a:lnTo>
                  <a:lnTo>
                    <a:pt x="49139" y="1943"/>
                  </a:lnTo>
                  <a:lnTo>
                    <a:pt x="53268" y="1943"/>
                  </a:lnTo>
                  <a:lnTo>
                    <a:pt x="53268" y="55414"/>
                  </a:lnTo>
                  <a:lnTo>
                    <a:pt x="65335" y="1943"/>
                  </a:lnTo>
                  <a:lnTo>
                    <a:pt x="72604" y="1943"/>
                  </a:lnTo>
                  <a:lnTo>
                    <a:pt x="72604" y="63886"/>
                  </a:lnTo>
                  <a:lnTo>
                    <a:pt x="80222" y="36761"/>
                  </a:lnTo>
                  <a:lnTo>
                    <a:pt x="80222" y="4818"/>
                  </a:lnTo>
                  <a:lnTo>
                    <a:pt x="80804" y="3419"/>
                  </a:lnTo>
                  <a:lnTo>
                    <a:pt x="81589" y="2098"/>
                  </a:lnTo>
                  <a:lnTo>
                    <a:pt x="82490" y="1010"/>
                  </a:lnTo>
                  <a:lnTo>
                    <a:pt x="83508" y="310"/>
                  </a:lnTo>
                  <a:lnTo>
                    <a:pt x="846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Colour">
  <p:cSld name="Cover Slide: Colour">
    <p:spTree>
      <p:nvGrpSpPr>
        <p:cNvPr id="231" name="Shape 231"/>
        <p:cNvGrpSpPr/>
        <p:nvPr/>
      </p:nvGrpSpPr>
      <p:grpSpPr>
        <a:xfrm>
          <a:off x="0" y="0"/>
          <a:ext cx="0" cy="0"/>
          <a:chOff x="0" y="0"/>
          <a:chExt cx="0" cy="0"/>
        </a:xfrm>
      </p:grpSpPr>
      <p:sp>
        <p:nvSpPr>
          <p:cNvPr id="232" name="Google Shape;232;p21"/>
          <p:cNvSpPr/>
          <p:nvPr/>
        </p:nvSpPr>
        <p:spPr>
          <a:xfrm>
            <a:off x="7391400" y="685801"/>
            <a:ext cx="1752600" cy="5486399"/>
          </a:xfrm>
          <a:prstGeom prst="rect">
            <a:avLst/>
          </a:prstGeom>
          <a:solidFill>
            <a:srgbClr val="EB9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3" name="Google Shape;233;p21"/>
          <p:cNvSpPr/>
          <p:nvPr/>
        </p:nvSpPr>
        <p:spPr>
          <a:xfrm>
            <a:off x="1752600" y="0"/>
            <a:ext cx="5638800" cy="685800"/>
          </a:xfrm>
          <a:prstGeom prst="rect">
            <a:avLst/>
          </a:prstGeom>
          <a:solidFill>
            <a:srgbClr val="DF60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 name="Google Shape;234;p21"/>
          <p:cNvSpPr/>
          <p:nvPr/>
        </p:nvSpPr>
        <p:spPr>
          <a:xfrm>
            <a:off x="1752600" y="685800"/>
            <a:ext cx="5638800" cy="54864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21"/>
          <p:cNvSpPr txBox="1"/>
          <p:nvPr>
            <p:ph type="ctrTitle"/>
          </p:nvPr>
        </p:nvSpPr>
        <p:spPr>
          <a:xfrm>
            <a:off x="1895475" y="838200"/>
            <a:ext cx="5343525" cy="9144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Georgia"/>
              <a:buNone/>
              <a:defRPr b="1" i="1" sz="3200" u="none" cap="none" strike="noStrike">
                <a:solidFill>
                  <a:schemeClr val="lt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6" name="Google Shape;236;p21"/>
          <p:cNvSpPr txBox="1"/>
          <p:nvPr>
            <p:ph idx="1" type="subTitle"/>
          </p:nvPr>
        </p:nvSpPr>
        <p:spPr>
          <a:xfrm>
            <a:off x="1895475" y="1828799"/>
            <a:ext cx="5343525" cy="914401"/>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Georgia"/>
              <a:buNone/>
              <a:defRPr b="0" i="0" sz="3200" u="none" cap="none" strike="noStrike">
                <a:solidFill>
                  <a:schemeClr val="lt1"/>
                </a:solidFill>
                <a:latin typeface="Georgia"/>
                <a:ea typeface="Georgia"/>
                <a:cs typeface="Georgia"/>
                <a:sym typeface="Georgia"/>
              </a:defRPr>
            </a:lvl1pPr>
            <a:lvl2pPr indent="0" lvl="1" marL="0" marR="0" rtl="0" algn="l">
              <a:lnSpc>
                <a:spcPct val="100000"/>
              </a:lnSpc>
              <a:spcBef>
                <a:spcPts val="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2pPr>
            <a:lvl3pPr indent="0" lvl="2" marL="4572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3pPr>
            <a:lvl4pPr indent="0" lvl="3" marL="9144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4pPr>
            <a:lvl5pPr indent="0" lvl="4" marL="13716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5pPr>
            <a:lvl6pPr indent="0" lvl="5" marL="1828800" marR="0" rtl="0" algn="l">
              <a:lnSpc>
                <a:spcPct val="100000"/>
              </a:lnSpc>
              <a:spcBef>
                <a:spcPts val="900"/>
              </a:spcBef>
              <a:spcAft>
                <a:spcPts val="0"/>
              </a:spcAft>
              <a:buClr>
                <a:schemeClr val="dk1"/>
              </a:buClr>
              <a:buSzPts val="2000"/>
              <a:buFont typeface="Georgia"/>
              <a:buNone/>
              <a:defRPr b="0" i="0" sz="1800" u="none" cap="none" strike="noStrike">
                <a:solidFill>
                  <a:schemeClr val="lt1"/>
                </a:solidFill>
                <a:latin typeface="Georgia"/>
                <a:ea typeface="Georgia"/>
                <a:cs typeface="Georgia"/>
                <a:sym typeface="Georgia"/>
              </a:defRPr>
            </a:lvl6pPr>
            <a:lvl7pPr indent="0" lvl="6" marL="22860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7pPr>
            <a:lvl8pPr indent="0" lvl="7" marL="2743200" marR="0" rtl="0" algn="l">
              <a:lnSpc>
                <a:spcPct val="100000"/>
              </a:lnSpc>
              <a:spcBef>
                <a:spcPts val="900"/>
              </a:spcBef>
              <a:spcAft>
                <a:spcPts val="0"/>
              </a:spcAft>
              <a:buClr>
                <a:schemeClr val="lt1"/>
              </a:buClr>
              <a:buSzPts val="2000"/>
              <a:buFont typeface="Georgia"/>
              <a:buNone/>
              <a:defRPr b="0" i="0" sz="1800" u="none" cap="none" strike="noStrike">
                <a:solidFill>
                  <a:schemeClr val="lt1"/>
                </a:solidFill>
                <a:latin typeface="Georgia"/>
                <a:ea typeface="Georgia"/>
                <a:cs typeface="Georgia"/>
                <a:sym typeface="Georgia"/>
              </a:defRPr>
            </a:lvl8pPr>
            <a:lvl9pPr indent="0" lvl="8" marL="3200400" marR="0" rtl="0" algn="l">
              <a:lnSpc>
                <a:spcPct val="100000"/>
              </a:lnSpc>
              <a:spcBef>
                <a:spcPts val="900"/>
              </a:spcBef>
              <a:spcAft>
                <a:spcPts val="900"/>
              </a:spcAft>
              <a:buClr>
                <a:schemeClr val="lt1"/>
              </a:buClr>
              <a:buSzPts val="1400"/>
              <a:buFont typeface="Arial"/>
              <a:buNone/>
              <a:defRPr b="1" i="0" sz="1800" u="none" cap="none" strike="noStrike">
                <a:solidFill>
                  <a:schemeClr val="lt1"/>
                </a:solidFill>
                <a:latin typeface="Georgia"/>
                <a:ea typeface="Georgia"/>
                <a:cs typeface="Georgia"/>
                <a:sym typeface="Georgia"/>
              </a:defRPr>
            </a:lvl9pPr>
          </a:lstStyle>
          <a:p/>
        </p:txBody>
      </p:sp>
      <p:sp>
        <p:nvSpPr>
          <p:cNvPr id="237" name="Google Shape;237;p21"/>
          <p:cNvSpPr txBox="1"/>
          <p:nvPr>
            <p:ph idx="2" type="body"/>
          </p:nvPr>
        </p:nvSpPr>
        <p:spPr>
          <a:xfrm>
            <a:off x="1895475" y="374904"/>
            <a:ext cx="4105656" cy="146304"/>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Arial"/>
              <a:buNone/>
              <a:defRPr b="0" i="0" sz="1100" u="none" cap="none" strike="noStrike">
                <a:solidFill>
                  <a:schemeClr val="lt1"/>
                </a:solidFill>
                <a:latin typeface="Arial"/>
                <a:ea typeface="Arial"/>
                <a:cs typeface="Arial"/>
                <a:sym typeface="Arial"/>
              </a:defRPr>
            </a:lvl1pPr>
            <a:lvl2pPr indent="-292100" lvl="1" marL="9144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2pPr>
            <a:lvl3pPr indent="-292100" lvl="2" marL="13716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3pPr>
            <a:lvl4pPr indent="-292100" lvl="3" marL="18288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4pPr>
            <a:lvl5pPr indent="-292100" lvl="4" marL="2286000" marR="0" rtl="0" algn="l">
              <a:lnSpc>
                <a:spcPct val="100000"/>
              </a:lnSpc>
              <a:spcBef>
                <a:spcPts val="900"/>
              </a:spcBef>
              <a:spcAft>
                <a:spcPts val="0"/>
              </a:spcAft>
              <a:buClr>
                <a:schemeClr val="dk1"/>
              </a:buClr>
              <a:buSzPts val="1000"/>
              <a:buFont typeface="Georgia"/>
              <a:buChar char="›"/>
              <a:defRPr b="0" i="0" sz="1000" u="none" cap="none" strike="noStrike">
                <a:solidFill>
                  <a:schemeClr val="lt1"/>
                </a:solidFill>
                <a:latin typeface="Arial"/>
                <a:ea typeface="Arial"/>
                <a:cs typeface="Arial"/>
                <a:sym typeface="Arial"/>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grpSp>
        <p:nvGrpSpPr>
          <p:cNvPr id="238" name="Google Shape;238;p21"/>
          <p:cNvGrpSpPr/>
          <p:nvPr/>
        </p:nvGrpSpPr>
        <p:grpSpPr>
          <a:xfrm>
            <a:off x="968592" y="6170991"/>
            <a:ext cx="914400" cy="533479"/>
            <a:chOff x="518032" y="978681"/>
            <a:chExt cx="4572000" cy="2667393"/>
          </a:xfrm>
        </p:grpSpPr>
        <p:sp>
          <p:nvSpPr>
            <p:cNvPr id="239" name="Google Shape;239;p21"/>
            <p:cNvSpPr/>
            <p:nvPr/>
          </p:nvSpPr>
          <p:spPr>
            <a:xfrm>
              <a:off x="3295650" y="978681"/>
              <a:ext cx="1143000" cy="263229"/>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21"/>
            <p:cNvSpPr/>
            <p:nvPr/>
          </p:nvSpPr>
          <p:spPr>
            <a:xfrm>
              <a:off x="518032" y="1922794"/>
              <a:ext cx="4572000" cy="1723280"/>
            </a:xfrm>
            <a:custGeom>
              <a:rect b="b" l="l" r="r" t="t"/>
              <a:pathLst>
                <a:path extrusionOk="0" h="120000" w="120000">
                  <a:moveTo>
                    <a:pt x="18609" y="17797"/>
                  </a:moveTo>
                  <a:lnTo>
                    <a:pt x="18085" y="17797"/>
                  </a:lnTo>
                  <a:lnTo>
                    <a:pt x="17533" y="17875"/>
                  </a:lnTo>
                  <a:lnTo>
                    <a:pt x="16893" y="18108"/>
                  </a:lnTo>
                  <a:lnTo>
                    <a:pt x="16079" y="18264"/>
                  </a:lnTo>
                  <a:lnTo>
                    <a:pt x="15149" y="18730"/>
                  </a:lnTo>
                  <a:lnTo>
                    <a:pt x="15149" y="73601"/>
                  </a:lnTo>
                  <a:lnTo>
                    <a:pt x="15643" y="73756"/>
                  </a:lnTo>
                  <a:lnTo>
                    <a:pt x="16079" y="73756"/>
                  </a:lnTo>
                  <a:lnTo>
                    <a:pt x="16457" y="73756"/>
                  </a:lnTo>
                  <a:lnTo>
                    <a:pt x="16806" y="73756"/>
                  </a:lnTo>
                  <a:lnTo>
                    <a:pt x="18318" y="73523"/>
                  </a:lnTo>
                  <a:lnTo>
                    <a:pt x="19685" y="72823"/>
                  </a:lnTo>
                  <a:lnTo>
                    <a:pt x="20935" y="71813"/>
                  </a:lnTo>
                  <a:lnTo>
                    <a:pt x="22040" y="70336"/>
                  </a:lnTo>
                  <a:lnTo>
                    <a:pt x="23057" y="68393"/>
                  </a:lnTo>
                  <a:lnTo>
                    <a:pt x="23959" y="66062"/>
                  </a:lnTo>
                  <a:lnTo>
                    <a:pt x="24686" y="63341"/>
                  </a:lnTo>
                  <a:lnTo>
                    <a:pt x="25296" y="60233"/>
                  </a:lnTo>
                  <a:lnTo>
                    <a:pt x="25762" y="56580"/>
                  </a:lnTo>
                  <a:lnTo>
                    <a:pt x="26081" y="52694"/>
                  </a:lnTo>
                  <a:lnTo>
                    <a:pt x="26314" y="48341"/>
                  </a:lnTo>
                  <a:lnTo>
                    <a:pt x="26372" y="43601"/>
                  </a:lnTo>
                  <a:lnTo>
                    <a:pt x="26314" y="39248"/>
                  </a:lnTo>
                  <a:lnTo>
                    <a:pt x="26081" y="35129"/>
                  </a:lnTo>
                  <a:lnTo>
                    <a:pt x="25762" y="31632"/>
                  </a:lnTo>
                  <a:lnTo>
                    <a:pt x="25296" y="28445"/>
                  </a:lnTo>
                  <a:lnTo>
                    <a:pt x="24715" y="25569"/>
                  </a:lnTo>
                  <a:lnTo>
                    <a:pt x="24017" y="23238"/>
                  </a:lnTo>
                  <a:lnTo>
                    <a:pt x="23174" y="21295"/>
                  </a:lnTo>
                  <a:lnTo>
                    <a:pt x="22185" y="19740"/>
                  </a:lnTo>
                  <a:lnTo>
                    <a:pt x="21138" y="18730"/>
                  </a:lnTo>
                  <a:lnTo>
                    <a:pt x="19946" y="18031"/>
                  </a:lnTo>
                  <a:lnTo>
                    <a:pt x="18609" y="17797"/>
                  </a:lnTo>
                  <a:close/>
                  <a:moveTo>
                    <a:pt x="12008" y="233"/>
                  </a:moveTo>
                  <a:lnTo>
                    <a:pt x="15149" y="233"/>
                  </a:lnTo>
                  <a:lnTo>
                    <a:pt x="15149" y="11113"/>
                  </a:lnTo>
                  <a:lnTo>
                    <a:pt x="16457" y="9093"/>
                  </a:lnTo>
                  <a:lnTo>
                    <a:pt x="17649" y="7227"/>
                  </a:lnTo>
                  <a:lnTo>
                    <a:pt x="18696" y="5751"/>
                  </a:lnTo>
                  <a:lnTo>
                    <a:pt x="19685" y="4430"/>
                  </a:lnTo>
                  <a:lnTo>
                    <a:pt x="20557" y="3419"/>
                  </a:lnTo>
                  <a:lnTo>
                    <a:pt x="21371" y="2564"/>
                  </a:lnTo>
                  <a:lnTo>
                    <a:pt x="22127" y="1865"/>
                  </a:lnTo>
                  <a:lnTo>
                    <a:pt x="22825" y="1398"/>
                  </a:lnTo>
                  <a:lnTo>
                    <a:pt x="23523" y="1010"/>
                  </a:lnTo>
                  <a:lnTo>
                    <a:pt x="24162" y="777"/>
                  </a:lnTo>
                  <a:lnTo>
                    <a:pt x="24860" y="699"/>
                  </a:lnTo>
                  <a:lnTo>
                    <a:pt x="25558" y="621"/>
                  </a:lnTo>
                  <a:lnTo>
                    <a:pt x="27070" y="932"/>
                  </a:lnTo>
                  <a:lnTo>
                    <a:pt x="28495" y="1787"/>
                  </a:lnTo>
                  <a:lnTo>
                    <a:pt x="29832" y="3108"/>
                  </a:lnTo>
                  <a:lnTo>
                    <a:pt x="31112" y="4974"/>
                  </a:lnTo>
                  <a:lnTo>
                    <a:pt x="32275" y="7305"/>
                  </a:lnTo>
                  <a:lnTo>
                    <a:pt x="33380" y="10103"/>
                  </a:lnTo>
                  <a:lnTo>
                    <a:pt x="34310" y="13367"/>
                  </a:lnTo>
                  <a:lnTo>
                    <a:pt x="35153" y="16943"/>
                  </a:lnTo>
                  <a:lnTo>
                    <a:pt x="35851" y="20829"/>
                  </a:lnTo>
                  <a:lnTo>
                    <a:pt x="36404" y="25181"/>
                  </a:lnTo>
                  <a:lnTo>
                    <a:pt x="36782" y="29766"/>
                  </a:lnTo>
                  <a:lnTo>
                    <a:pt x="37043" y="34663"/>
                  </a:lnTo>
                  <a:lnTo>
                    <a:pt x="37160" y="39792"/>
                  </a:lnTo>
                  <a:lnTo>
                    <a:pt x="37043" y="44922"/>
                  </a:lnTo>
                  <a:lnTo>
                    <a:pt x="36782" y="49818"/>
                  </a:lnTo>
                  <a:lnTo>
                    <a:pt x="36404" y="54481"/>
                  </a:lnTo>
                  <a:lnTo>
                    <a:pt x="35822" y="58756"/>
                  </a:lnTo>
                  <a:lnTo>
                    <a:pt x="35037" y="62875"/>
                  </a:lnTo>
                  <a:lnTo>
                    <a:pt x="34165" y="66606"/>
                  </a:lnTo>
                  <a:lnTo>
                    <a:pt x="33147" y="70025"/>
                  </a:lnTo>
                  <a:lnTo>
                    <a:pt x="31955" y="73134"/>
                  </a:lnTo>
                  <a:lnTo>
                    <a:pt x="30646" y="75854"/>
                  </a:lnTo>
                  <a:lnTo>
                    <a:pt x="29222" y="78186"/>
                  </a:lnTo>
                  <a:lnTo>
                    <a:pt x="27652" y="80129"/>
                  </a:lnTo>
                  <a:lnTo>
                    <a:pt x="25994" y="81683"/>
                  </a:lnTo>
                  <a:lnTo>
                    <a:pt x="24162" y="82772"/>
                  </a:lnTo>
                  <a:lnTo>
                    <a:pt x="22272" y="83471"/>
                  </a:lnTo>
                  <a:lnTo>
                    <a:pt x="20237" y="83782"/>
                  </a:lnTo>
                  <a:lnTo>
                    <a:pt x="19481" y="83782"/>
                  </a:lnTo>
                  <a:lnTo>
                    <a:pt x="18521" y="83626"/>
                  </a:lnTo>
                  <a:lnTo>
                    <a:pt x="17475" y="83471"/>
                  </a:lnTo>
                  <a:lnTo>
                    <a:pt x="16312" y="83238"/>
                  </a:lnTo>
                  <a:lnTo>
                    <a:pt x="15149" y="83005"/>
                  </a:lnTo>
                  <a:lnTo>
                    <a:pt x="15149" y="109430"/>
                  </a:lnTo>
                  <a:lnTo>
                    <a:pt x="20121" y="112461"/>
                  </a:lnTo>
                  <a:lnTo>
                    <a:pt x="20121" y="120000"/>
                  </a:lnTo>
                  <a:lnTo>
                    <a:pt x="523" y="120000"/>
                  </a:lnTo>
                  <a:lnTo>
                    <a:pt x="523" y="112461"/>
                  </a:lnTo>
                  <a:lnTo>
                    <a:pt x="4972" y="109430"/>
                  </a:lnTo>
                  <a:lnTo>
                    <a:pt x="4972" y="17797"/>
                  </a:lnTo>
                  <a:lnTo>
                    <a:pt x="0" y="17797"/>
                  </a:lnTo>
                  <a:lnTo>
                    <a:pt x="0" y="9948"/>
                  </a:lnTo>
                  <a:lnTo>
                    <a:pt x="12008" y="233"/>
                  </a:lnTo>
                  <a:close/>
                  <a:moveTo>
                    <a:pt x="107904" y="0"/>
                  </a:moveTo>
                  <a:lnTo>
                    <a:pt x="109619" y="233"/>
                  </a:lnTo>
                  <a:lnTo>
                    <a:pt x="111218" y="699"/>
                  </a:lnTo>
                  <a:lnTo>
                    <a:pt x="112701" y="1554"/>
                  </a:lnTo>
                  <a:lnTo>
                    <a:pt x="114068" y="2642"/>
                  </a:lnTo>
                  <a:lnTo>
                    <a:pt x="115289" y="4119"/>
                  </a:lnTo>
                  <a:lnTo>
                    <a:pt x="116423" y="5829"/>
                  </a:lnTo>
                  <a:lnTo>
                    <a:pt x="117354" y="7772"/>
                  </a:lnTo>
                  <a:lnTo>
                    <a:pt x="118168" y="10025"/>
                  </a:lnTo>
                  <a:lnTo>
                    <a:pt x="118807" y="12435"/>
                  </a:lnTo>
                  <a:lnTo>
                    <a:pt x="119302" y="15077"/>
                  </a:lnTo>
                  <a:lnTo>
                    <a:pt x="119592" y="18031"/>
                  </a:lnTo>
                  <a:lnTo>
                    <a:pt x="119709" y="21062"/>
                  </a:lnTo>
                  <a:lnTo>
                    <a:pt x="119622" y="23626"/>
                  </a:lnTo>
                  <a:lnTo>
                    <a:pt x="119360" y="25958"/>
                  </a:lnTo>
                  <a:lnTo>
                    <a:pt x="118953" y="28134"/>
                  </a:lnTo>
                  <a:lnTo>
                    <a:pt x="118458" y="30077"/>
                  </a:lnTo>
                  <a:lnTo>
                    <a:pt x="117790" y="31632"/>
                  </a:lnTo>
                  <a:lnTo>
                    <a:pt x="117034" y="32875"/>
                  </a:lnTo>
                  <a:lnTo>
                    <a:pt x="116161" y="33886"/>
                  </a:lnTo>
                  <a:lnTo>
                    <a:pt x="115173" y="34430"/>
                  </a:lnTo>
                  <a:lnTo>
                    <a:pt x="114126" y="34663"/>
                  </a:lnTo>
                  <a:lnTo>
                    <a:pt x="113137" y="34507"/>
                  </a:lnTo>
                  <a:lnTo>
                    <a:pt x="112207" y="34041"/>
                  </a:lnTo>
                  <a:lnTo>
                    <a:pt x="111247" y="33264"/>
                  </a:lnTo>
                  <a:lnTo>
                    <a:pt x="110259" y="32098"/>
                  </a:lnTo>
                  <a:lnTo>
                    <a:pt x="109241" y="30621"/>
                  </a:lnTo>
                  <a:lnTo>
                    <a:pt x="109241" y="8860"/>
                  </a:lnTo>
                  <a:lnTo>
                    <a:pt x="107904" y="9715"/>
                  </a:lnTo>
                  <a:lnTo>
                    <a:pt x="106653" y="10880"/>
                  </a:lnTo>
                  <a:lnTo>
                    <a:pt x="105577" y="12590"/>
                  </a:lnTo>
                  <a:lnTo>
                    <a:pt x="104589" y="14533"/>
                  </a:lnTo>
                  <a:lnTo>
                    <a:pt x="103746" y="16943"/>
                  </a:lnTo>
                  <a:lnTo>
                    <a:pt x="103019" y="19663"/>
                  </a:lnTo>
                  <a:lnTo>
                    <a:pt x="102437" y="22849"/>
                  </a:lnTo>
                  <a:lnTo>
                    <a:pt x="102001" y="26347"/>
                  </a:lnTo>
                  <a:lnTo>
                    <a:pt x="101681" y="30388"/>
                  </a:lnTo>
                  <a:lnTo>
                    <a:pt x="101448" y="34740"/>
                  </a:lnTo>
                  <a:lnTo>
                    <a:pt x="101390" y="39404"/>
                  </a:lnTo>
                  <a:lnTo>
                    <a:pt x="101448" y="43911"/>
                  </a:lnTo>
                  <a:lnTo>
                    <a:pt x="101681" y="47953"/>
                  </a:lnTo>
                  <a:lnTo>
                    <a:pt x="102030" y="51839"/>
                  </a:lnTo>
                  <a:lnTo>
                    <a:pt x="102524" y="55336"/>
                  </a:lnTo>
                  <a:lnTo>
                    <a:pt x="103135" y="58523"/>
                  </a:lnTo>
                  <a:lnTo>
                    <a:pt x="103833" y="61398"/>
                  </a:lnTo>
                  <a:lnTo>
                    <a:pt x="104676" y="63808"/>
                  </a:lnTo>
                  <a:lnTo>
                    <a:pt x="105606" y="65829"/>
                  </a:lnTo>
                  <a:lnTo>
                    <a:pt x="106653" y="67538"/>
                  </a:lnTo>
                  <a:lnTo>
                    <a:pt x="107787" y="68782"/>
                  </a:lnTo>
                  <a:lnTo>
                    <a:pt x="109038" y="69481"/>
                  </a:lnTo>
                  <a:lnTo>
                    <a:pt x="110346" y="69715"/>
                  </a:lnTo>
                  <a:lnTo>
                    <a:pt x="111102" y="69637"/>
                  </a:lnTo>
                  <a:lnTo>
                    <a:pt x="111858" y="69481"/>
                  </a:lnTo>
                  <a:lnTo>
                    <a:pt x="112643" y="69093"/>
                  </a:lnTo>
                  <a:lnTo>
                    <a:pt x="113428" y="68471"/>
                  </a:lnTo>
                  <a:lnTo>
                    <a:pt x="114300" y="67772"/>
                  </a:lnTo>
                  <a:lnTo>
                    <a:pt x="115260" y="66917"/>
                  </a:lnTo>
                  <a:lnTo>
                    <a:pt x="116278" y="65751"/>
                  </a:lnTo>
                  <a:lnTo>
                    <a:pt x="117354" y="64507"/>
                  </a:lnTo>
                  <a:lnTo>
                    <a:pt x="118604" y="62953"/>
                  </a:lnTo>
                  <a:lnTo>
                    <a:pt x="120000" y="61165"/>
                  </a:lnTo>
                  <a:lnTo>
                    <a:pt x="120000" y="75854"/>
                  </a:lnTo>
                  <a:lnTo>
                    <a:pt x="118313" y="77797"/>
                  </a:lnTo>
                  <a:lnTo>
                    <a:pt x="116772" y="79585"/>
                  </a:lnTo>
                  <a:lnTo>
                    <a:pt x="115318" y="80906"/>
                  </a:lnTo>
                  <a:lnTo>
                    <a:pt x="113952" y="82227"/>
                  </a:lnTo>
                  <a:lnTo>
                    <a:pt x="112643" y="83160"/>
                  </a:lnTo>
                  <a:lnTo>
                    <a:pt x="111364" y="83937"/>
                  </a:lnTo>
                  <a:lnTo>
                    <a:pt x="110084" y="84404"/>
                  </a:lnTo>
                  <a:lnTo>
                    <a:pt x="108805" y="84792"/>
                  </a:lnTo>
                  <a:lnTo>
                    <a:pt x="107496" y="85025"/>
                  </a:lnTo>
                  <a:lnTo>
                    <a:pt x="106159" y="85103"/>
                  </a:lnTo>
                  <a:lnTo>
                    <a:pt x="104327" y="84948"/>
                  </a:lnTo>
                  <a:lnTo>
                    <a:pt x="102641" y="84404"/>
                  </a:lnTo>
                  <a:lnTo>
                    <a:pt x="101070" y="83549"/>
                  </a:lnTo>
                  <a:lnTo>
                    <a:pt x="99617" y="82383"/>
                  </a:lnTo>
                  <a:lnTo>
                    <a:pt x="98221" y="80751"/>
                  </a:lnTo>
                  <a:lnTo>
                    <a:pt x="96942" y="78808"/>
                  </a:lnTo>
                  <a:lnTo>
                    <a:pt x="95779" y="76476"/>
                  </a:lnTo>
                  <a:lnTo>
                    <a:pt x="94645" y="73601"/>
                  </a:lnTo>
                  <a:lnTo>
                    <a:pt x="93598" y="70492"/>
                  </a:lnTo>
                  <a:lnTo>
                    <a:pt x="92696" y="67227"/>
                  </a:lnTo>
                  <a:lnTo>
                    <a:pt x="91940" y="63730"/>
                  </a:lnTo>
                  <a:lnTo>
                    <a:pt x="91301" y="60000"/>
                  </a:lnTo>
                  <a:lnTo>
                    <a:pt x="90835" y="56113"/>
                  </a:lnTo>
                  <a:lnTo>
                    <a:pt x="90457" y="52072"/>
                  </a:lnTo>
                  <a:lnTo>
                    <a:pt x="90254" y="47875"/>
                  </a:lnTo>
                  <a:lnTo>
                    <a:pt x="90167" y="43601"/>
                  </a:lnTo>
                  <a:lnTo>
                    <a:pt x="90283" y="38393"/>
                  </a:lnTo>
                  <a:lnTo>
                    <a:pt x="90574" y="33652"/>
                  </a:lnTo>
                  <a:lnTo>
                    <a:pt x="91010" y="28989"/>
                  </a:lnTo>
                  <a:lnTo>
                    <a:pt x="91679" y="24715"/>
                  </a:lnTo>
                  <a:lnTo>
                    <a:pt x="92435" y="20751"/>
                  </a:lnTo>
                  <a:lnTo>
                    <a:pt x="93423" y="17020"/>
                  </a:lnTo>
                  <a:lnTo>
                    <a:pt x="94499" y="13601"/>
                  </a:lnTo>
                  <a:lnTo>
                    <a:pt x="95749" y="10492"/>
                  </a:lnTo>
                  <a:lnTo>
                    <a:pt x="97145" y="7927"/>
                  </a:lnTo>
                  <a:lnTo>
                    <a:pt x="98628" y="5595"/>
                  </a:lnTo>
                  <a:lnTo>
                    <a:pt x="100256" y="3652"/>
                  </a:lnTo>
                  <a:lnTo>
                    <a:pt x="102001" y="2098"/>
                  </a:lnTo>
                  <a:lnTo>
                    <a:pt x="103891" y="932"/>
                  </a:lnTo>
                  <a:lnTo>
                    <a:pt x="105839" y="233"/>
                  </a:lnTo>
                  <a:lnTo>
                    <a:pt x="107904" y="0"/>
                  </a:lnTo>
                  <a:close/>
                  <a:moveTo>
                    <a:pt x="84613" y="0"/>
                  </a:moveTo>
                  <a:lnTo>
                    <a:pt x="85718" y="310"/>
                  </a:lnTo>
                  <a:lnTo>
                    <a:pt x="86736" y="1088"/>
                  </a:lnTo>
                  <a:lnTo>
                    <a:pt x="87637" y="2331"/>
                  </a:lnTo>
                  <a:lnTo>
                    <a:pt x="88393" y="4041"/>
                  </a:lnTo>
                  <a:lnTo>
                    <a:pt x="89062" y="6062"/>
                  </a:lnTo>
                  <a:lnTo>
                    <a:pt x="89527" y="8471"/>
                  </a:lnTo>
                  <a:lnTo>
                    <a:pt x="89818" y="11036"/>
                  </a:lnTo>
                  <a:lnTo>
                    <a:pt x="89934" y="13834"/>
                  </a:lnTo>
                  <a:lnTo>
                    <a:pt x="89876" y="15777"/>
                  </a:lnTo>
                  <a:lnTo>
                    <a:pt x="89789" y="17642"/>
                  </a:lnTo>
                  <a:lnTo>
                    <a:pt x="89585" y="19585"/>
                  </a:lnTo>
                  <a:lnTo>
                    <a:pt x="89294" y="21528"/>
                  </a:lnTo>
                  <a:lnTo>
                    <a:pt x="88975" y="23549"/>
                  </a:lnTo>
                  <a:lnTo>
                    <a:pt x="88509" y="25725"/>
                  </a:lnTo>
                  <a:lnTo>
                    <a:pt x="87957" y="28056"/>
                  </a:lnTo>
                  <a:lnTo>
                    <a:pt x="87346" y="30544"/>
                  </a:lnTo>
                  <a:lnTo>
                    <a:pt x="86590" y="33341"/>
                  </a:lnTo>
                  <a:lnTo>
                    <a:pt x="85718" y="36373"/>
                  </a:lnTo>
                  <a:lnTo>
                    <a:pt x="84729" y="39792"/>
                  </a:lnTo>
                  <a:lnTo>
                    <a:pt x="83624" y="43601"/>
                  </a:lnTo>
                  <a:lnTo>
                    <a:pt x="71877" y="83782"/>
                  </a:lnTo>
                  <a:lnTo>
                    <a:pt x="63445" y="83782"/>
                  </a:lnTo>
                  <a:lnTo>
                    <a:pt x="63445" y="32953"/>
                  </a:lnTo>
                  <a:lnTo>
                    <a:pt x="51873" y="83782"/>
                  </a:lnTo>
                  <a:lnTo>
                    <a:pt x="44138" y="83782"/>
                  </a:lnTo>
                  <a:lnTo>
                    <a:pt x="44138" y="18186"/>
                  </a:lnTo>
                  <a:lnTo>
                    <a:pt x="38177" y="16632"/>
                  </a:lnTo>
                  <a:lnTo>
                    <a:pt x="38177" y="9170"/>
                  </a:lnTo>
                  <a:lnTo>
                    <a:pt x="49139" y="1943"/>
                  </a:lnTo>
                  <a:lnTo>
                    <a:pt x="53268" y="1943"/>
                  </a:lnTo>
                  <a:lnTo>
                    <a:pt x="53268" y="55414"/>
                  </a:lnTo>
                  <a:lnTo>
                    <a:pt x="65335" y="1943"/>
                  </a:lnTo>
                  <a:lnTo>
                    <a:pt x="72604" y="1943"/>
                  </a:lnTo>
                  <a:lnTo>
                    <a:pt x="72604" y="63886"/>
                  </a:lnTo>
                  <a:lnTo>
                    <a:pt x="80222" y="36761"/>
                  </a:lnTo>
                  <a:lnTo>
                    <a:pt x="80222" y="4818"/>
                  </a:lnTo>
                  <a:lnTo>
                    <a:pt x="80804" y="3419"/>
                  </a:lnTo>
                  <a:lnTo>
                    <a:pt x="81589" y="2098"/>
                  </a:lnTo>
                  <a:lnTo>
                    <a:pt x="82490" y="1010"/>
                  </a:lnTo>
                  <a:lnTo>
                    <a:pt x="83508" y="310"/>
                  </a:lnTo>
                  <a:lnTo>
                    <a:pt x="846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tatement">
  <p:cSld name="Closing Statement">
    <p:spTree>
      <p:nvGrpSpPr>
        <p:cNvPr id="241" name="Shape 241"/>
        <p:cNvGrpSpPr/>
        <p:nvPr/>
      </p:nvGrpSpPr>
      <p:grpSpPr>
        <a:xfrm>
          <a:off x="0" y="0"/>
          <a:ext cx="0" cy="0"/>
          <a:chOff x="0" y="0"/>
          <a:chExt cx="0" cy="0"/>
        </a:xfrm>
      </p:grpSpPr>
      <p:sp>
        <p:nvSpPr>
          <p:cNvPr id="242" name="Google Shape;242;p22"/>
          <p:cNvSpPr txBox="1"/>
          <p:nvPr>
            <p:ph type="title"/>
          </p:nvPr>
        </p:nvSpPr>
        <p:spPr>
          <a:xfrm>
            <a:off x="533400" y="685800"/>
            <a:ext cx="8077200"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32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43" name="Google Shape;243;p22"/>
          <p:cNvSpPr txBox="1"/>
          <p:nvPr>
            <p:ph idx="1" type="body"/>
          </p:nvPr>
        </p:nvSpPr>
        <p:spPr>
          <a:xfrm>
            <a:off x="533400" y="5867400"/>
            <a:ext cx="4800600" cy="762000"/>
          </a:xfrm>
          <a:prstGeom prst="rect">
            <a:avLst/>
          </a:prstGeom>
          <a:noFill/>
          <a:ln>
            <a:noFill/>
          </a:ln>
        </p:spPr>
        <p:txBody>
          <a:bodyPr anchorCtr="0" anchor="b"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Arial"/>
              <a:buNone/>
              <a:defRPr b="0" i="0" sz="900" u="none" cap="none" strike="noStrike">
                <a:solidFill>
                  <a:schemeClr val="dk1"/>
                </a:solidFill>
                <a:latin typeface="Arial"/>
                <a:ea typeface="Arial"/>
                <a:cs typeface="Arial"/>
                <a:sym typeface="Arial"/>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cxnSp>
        <p:nvCxnSpPr>
          <p:cNvPr id="244" name="Google Shape;244;p22"/>
          <p:cNvCxnSpPr/>
          <p:nvPr/>
        </p:nvCxnSpPr>
        <p:spPr>
          <a:xfrm flipH="1" rot="10800000">
            <a:off x="381000" y="609600"/>
            <a:ext cx="8229600" cy="152400"/>
          </a:xfrm>
          <a:prstGeom prst="bentConnector2">
            <a:avLst/>
          </a:prstGeom>
          <a:noFill/>
          <a:ln cap="flat" cmpd="sng" w="12700">
            <a:solidFill>
              <a:schemeClr val="dk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3400" y="685800"/>
            <a:ext cx="8077201" cy="9144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Georgia"/>
              <a:buNone/>
              <a:defRPr b="1" i="1" sz="2400" u="none" cap="none" strike="noStrike">
                <a:solidFill>
                  <a:schemeClr val="dk1"/>
                </a:solidFill>
                <a:latin typeface="Georgia"/>
                <a:ea typeface="Georgia"/>
                <a:cs typeface="Georgia"/>
                <a:sym typeface="Georgia"/>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533401" y="1752600"/>
            <a:ext cx="8077199" cy="4419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4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Georgia"/>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Georgia"/>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Georgia"/>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1400"/>
              <a:buFont typeface="Arial"/>
              <a:buNone/>
              <a:defRPr b="1" i="0" sz="2000" u="none" cap="none" strike="noStrike">
                <a:solidFill>
                  <a:schemeClr val="dk2"/>
                </a:solidFill>
                <a:latin typeface="Georgia"/>
                <a:ea typeface="Georgia"/>
                <a:cs typeface="Georgia"/>
                <a:sym typeface="Georgia"/>
              </a:defRPr>
            </a:lvl9pPr>
          </a:lstStyle>
          <a:p/>
        </p:txBody>
      </p:sp>
      <p:sp>
        <p:nvSpPr>
          <p:cNvPr id="12" name="Google Shape;12;p1"/>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chemeClr val="dk1"/>
                </a:solidFill>
                <a:latin typeface="Arial"/>
                <a:ea typeface="Arial"/>
                <a:cs typeface="Arial"/>
                <a:sym typeface="Arial"/>
              </a:defRPr>
            </a:lvl1pPr>
            <a:lvl2pPr indent="0" lvl="1" marL="0" marR="0" rtl="0" algn="r">
              <a:spcBef>
                <a:spcPts val="0"/>
              </a:spcBef>
              <a:buNone/>
              <a:defRPr b="0" i="0" sz="1000" u="none" cap="none" strike="noStrike">
                <a:solidFill>
                  <a:schemeClr val="dk1"/>
                </a:solidFill>
                <a:latin typeface="Arial"/>
                <a:ea typeface="Arial"/>
                <a:cs typeface="Arial"/>
                <a:sym typeface="Arial"/>
              </a:defRPr>
            </a:lvl2pPr>
            <a:lvl3pPr indent="0" lvl="2" marL="0" marR="0" rtl="0" algn="r">
              <a:spcBef>
                <a:spcPts val="0"/>
              </a:spcBef>
              <a:buNone/>
              <a:defRPr b="0" i="0" sz="1000" u="none" cap="none" strike="noStrike">
                <a:solidFill>
                  <a:schemeClr val="dk1"/>
                </a:solidFill>
                <a:latin typeface="Arial"/>
                <a:ea typeface="Arial"/>
                <a:cs typeface="Arial"/>
                <a:sym typeface="Arial"/>
              </a:defRPr>
            </a:lvl3pPr>
            <a:lvl4pPr indent="0" lvl="3" marL="0" marR="0" rtl="0" algn="r">
              <a:spcBef>
                <a:spcPts val="0"/>
              </a:spcBef>
              <a:buNone/>
              <a:defRPr b="0" i="0" sz="1000" u="none" cap="none" strike="noStrike">
                <a:solidFill>
                  <a:schemeClr val="dk1"/>
                </a:solidFill>
                <a:latin typeface="Arial"/>
                <a:ea typeface="Arial"/>
                <a:cs typeface="Arial"/>
                <a:sym typeface="Arial"/>
              </a:defRPr>
            </a:lvl4pPr>
            <a:lvl5pPr indent="0" lvl="4" marL="0" marR="0" rtl="0" algn="r">
              <a:spcBef>
                <a:spcPts val="0"/>
              </a:spcBef>
              <a:buNone/>
              <a:defRPr b="0" i="0" sz="1000" u="none" cap="none" strike="noStrike">
                <a:solidFill>
                  <a:schemeClr val="dk1"/>
                </a:solidFill>
                <a:latin typeface="Arial"/>
                <a:ea typeface="Arial"/>
                <a:cs typeface="Arial"/>
                <a:sym typeface="Arial"/>
              </a:defRPr>
            </a:lvl5pPr>
            <a:lvl6pPr indent="0" lvl="5" marL="0" marR="0" rtl="0" algn="r">
              <a:spcBef>
                <a:spcPts val="0"/>
              </a:spcBef>
              <a:buNone/>
              <a:defRPr b="0" i="0" sz="1000" u="none" cap="none" strike="noStrike">
                <a:solidFill>
                  <a:schemeClr val="dk1"/>
                </a:solidFill>
                <a:latin typeface="Arial"/>
                <a:ea typeface="Arial"/>
                <a:cs typeface="Arial"/>
                <a:sym typeface="Arial"/>
              </a:defRPr>
            </a:lvl6pPr>
            <a:lvl7pPr indent="0" lvl="6" marL="0" marR="0" rtl="0" algn="r">
              <a:spcBef>
                <a:spcPts val="0"/>
              </a:spcBef>
              <a:buNone/>
              <a:defRPr b="0" i="0" sz="1000" u="none" cap="none" strike="noStrike">
                <a:solidFill>
                  <a:schemeClr val="dk1"/>
                </a:solidFill>
                <a:latin typeface="Arial"/>
                <a:ea typeface="Arial"/>
                <a:cs typeface="Arial"/>
                <a:sym typeface="Arial"/>
              </a:defRPr>
            </a:lvl7pPr>
            <a:lvl8pPr indent="0" lvl="7" marL="0" marR="0" rtl="0" algn="r">
              <a:spcBef>
                <a:spcPts val="0"/>
              </a:spcBef>
              <a:buNone/>
              <a:defRPr b="0" i="0" sz="1000" u="none" cap="none" strike="noStrike">
                <a:solidFill>
                  <a:schemeClr val="dk1"/>
                </a:solidFill>
                <a:latin typeface="Arial"/>
                <a:ea typeface="Arial"/>
                <a:cs typeface="Arial"/>
                <a:sym typeface="Arial"/>
              </a:defRPr>
            </a:lvl8pPr>
            <a:lvl9pPr indent="0" lvl="8" marL="0" marR="0" rtl="0" algn="r">
              <a:spcBef>
                <a:spcPts val="0"/>
              </a:spcBef>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1"/>
          <p:cNvSpPr txBox="1"/>
          <p:nvPr>
            <p:ph idx="10" type="dt"/>
          </p:nvPr>
        </p:nvSpPr>
        <p:spPr>
          <a:xfrm>
            <a:off x="7086600" y="6324600"/>
            <a:ext cx="1524000" cy="1524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1" type="ftr"/>
          </p:nvPr>
        </p:nvSpPr>
        <p:spPr>
          <a:xfrm>
            <a:off x="530352" y="6324600"/>
            <a:ext cx="5260848" cy="150876"/>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nvSpPr>
        <p:spPr>
          <a:xfrm>
            <a:off x="152400" y="152400"/>
            <a:ext cx="8534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dk1"/>
                </a:solidFill>
                <a:latin typeface="Georgia"/>
                <a:ea typeface="Georgia"/>
                <a:cs typeface="Georgia"/>
                <a:sym typeface="Georgia"/>
              </a:rPr>
              <a:t>2020 Advisory Director Candidate Business Case</a:t>
            </a:r>
            <a:endParaRPr sz="1800">
              <a:solidFill>
                <a:schemeClr val="dk1"/>
              </a:solidFill>
              <a:latin typeface="Arial"/>
              <a:ea typeface="Arial"/>
              <a:cs typeface="Arial"/>
              <a:sym typeface="Arial"/>
            </a:endParaRPr>
          </a:p>
        </p:txBody>
      </p:sp>
      <p:graphicFrame>
        <p:nvGraphicFramePr>
          <p:cNvPr id="250" name="Google Shape;250;p23"/>
          <p:cNvGraphicFramePr/>
          <p:nvPr/>
        </p:nvGraphicFramePr>
        <p:xfrm>
          <a:off x="152400" y="457206"/>
          <a:ext cx="3000000" cy="3000000"/>
        </p:xfrm>
        <a:graphic>
          <a:graphicData uri="http://schemas.openxmlformats.org/drawingml/2006/table">
            <a:tbl>
              <a:tblPr firstRow="1">
                <a:noFill/>
                <a:tableStyleId>{726CEF35-E87D-44F1-B121-F5B6ACD7697A}</a:tableStyleId>
              </a:tblPr>
              <a:tblGrid>
                <a:gridCol w="1709550"/>
                <a:gridCol w="1309100"/>
                <a:gridCol w="1287675"/>
              </a:tblGrid>
              <a:tr h="259600">
                <a:tc gridSpan="3">
                  <a:txBody>
                    <a:bodyPr/>
                    <a:lstStyle/>
                    <a:p>
                      <a:pPr indent="0" lvl="0" marL="0" rtl="0" algn="ctr">
                        <a:spcBef>
                          <a:spcPts val="0"/>
                        </a:spcBef>
                        <a:spcAft>
                          <a:spcPts val="0"/>
                        </a:spcAft>
                        <a:buNone/>
                      </a:pPr>
                      <a:r>
                        <a:rPr i="1" lang="en-GB" sz="1000"/>
                        <a:t>Background Information</a:t>
                      </a:r>
                      <a:endParaRPr i="1" sz="10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hMerge="1"/>
                <a:tc hMerge="1"/>
              </a:tr>
              <a:tr h="259800">
                <a:tc>
                  <a:txBody>
                    <a:bodyPr/>
                    <a:lstStyle/>
                    <a:p>
                      <a:pPr indent="0" lvl="0" marL="0" marR="0" rtl="0" algn="l">
                        <a:spcBef>
                          <a:spcPts val="0"/>
                        </a:spcBef>
                        <a:spcAft>
                          <a:spcPts val="0"/>
                        </a:spcAft>
                        <a:buNone/>
                      </a:pPr>
                      <a:r>
                        <a:rPr lang="en-GB" sz="900"/>
                        <a:t>Name </a:t>
                      </a:r>
                      <a:endParaRPr sz="900" u="none" cap="none" strike="noStrike"/>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Ore Phillips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u="none" cap="none" strike="noStrike"/>
                        <a:t>Vertical / Sponsor</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Financial Services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Horizontal/ Sector</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Competency/</a:t>
                      </a:r>
                      <a:r>
                        <a:rPr lang="en-GB" sz="900"/>
                        <a:t> </a:t>
                      </a:r>
                      <a:r>
                        <a:rPr lang="en-GB" sz="900"/>
                        <a:t>GTM</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rPr lang="en-GB" sz="800"/>
                        <a:t>CFT</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4925">
                <a:tc>
                  <a:txBody>
                    <a:bodyPr/>
                    <a:lstStyle/>
                    <a:p>
                      <a:pPr indent="0" lvl="0" marL="0" rtl="0" algn="l">
                        <a:spcBef>
                          <a:spcPts val="0"/>
                        </a:spcBef>
                        <a:spcAft>
                          <a:spcPts val="0"/>
                        </a:spcAft>
                        <a:buNone/>
                      </a:pPr>
                      <a:r>
                        <a:rPr lang="en-GB" sz="900">
                          <a:solidFill>
                            <a:schemeClr val="dk1"/>
                          </a:solidFill>
                        </a:rPr>
                        <a:t>VPL/Talent Consultant</a:t>
                      </a:r>
                      <a:endParaRPr sz="900">
                        <a:solidFill>
                          <a:schemeClr val="dk1"/>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Alison Moreira</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Relationship Leader / Coach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Ken LaManna/Jamie Buckley</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Current cohort</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solidFill>
                            <a:srgbClr val="FF0000"/>
                          </a:solidFill>
                        </a:rPr>
                        <a:t>SM3</a:t>
                      </a:r>
                      <a:endParaRPr sz="8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graphicFrame>
        <p:nvGraphicFramePr>
          <p:cNvPr id="251" name="Google Shape;251;p23"/>
          <p:cNvGraphicFramePr/>
          <p:nvPr/>
        </p:nvGraphicFramePr>
        <p:xfrm>
          <a:off x="4458725" y="457206"/>
          <a:ext cx="3000000" cy="3000000"/>
        </p:xfrm>
        <a:graphic>
          <a:graphicData uri="http://schemas.openxmlformats.org/drawingml/2006/table">
            <a:tbl>
              <a:tblPr firstRow="1">
                <a:noFill/>
                <a:tableStyleId>{726CEF35-E87D-44F1-B121-F5B6ACD7697A}</a:tableStyleId>
              </a:tblPr>
              <a:tblGrid>
                <a:gridCol w="1786350"/>
                <a:gridCol w="1511875"/>
                <a:gridCol w="1372100"/>
              </a:tblGrid>
              <a:tr h="238300">
                <a:tc>
                  <a:txBody>
                    <a:bodyPr/>
                    <a:lstStyle/>
                    <a:p>
                      <a:pPr indent="0" lvl="0" marL="0" rtl="0" algn="l">
                        <a:spcBef>
                          <a:spcPts val="0"/>
                        </a:spcBef>
                        <a:spcAft>
                          <a:spcPts val="0"/>
                        </a:spcAft>
                        <a:buNone/>
                      </a:pPr>
                      <a:r>
                        <a:rPr i="1" lang="en-GB" sz="900">
                          <a:solidFill>
                            <a:srgbClr val="FFFFFF"/>
                          </a:solidFill>
                        </a:rPr>
                        <a:t>Key Metrics</a:t>
                      </a:r>
                      <a:endParaRPr i="1" sz="9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PY19</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PY20 To Date</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362575">
                <a:tc>
                  <a:txBody>
                    <a:bodyPr/>
                    <a:lstStyle/>
                    <a:p>
                      <a:pPr indent="0" lvl="0" marL="0" marR="0" rtl="0" algn="l">
                        <a:spcBef>
                          <a:spcPts val="0"/>
                        </a:spcBef>
                        <a:spcAft>
                          <a:spcPts val="0"/>
                        </a:spcAft>
                        <a:buNone/>
                      </a:pPr>
                      <a:r>
                        <a:rPr lang="en-GB" sz="900"/>
                        <a:t>PY Client Utilization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lang="en-GB" sz="900"/>
                        <a:t>93%</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lang="en-GB" sz="900"/>
                        <a:t>106.7%</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Time Sheet Compliance</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900"/>
                        <a:t>98.6%</a:t>
                      </a:r>
                      <a:endParaRPr sz="9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Snapshot Reinvest (Y/N)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GB" sz="900"/>
                        <a:t>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GB" sz="900"/>
                        <a:t>WIP</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1325">
                <a:tc>
                  <a:txBody>
                    <a:bodyPr/>
                    <a:lstStyle/>
                    <a:p>
                      <a:pPr indent="0" lvl="0" marL="0" rtl="0" algn="l">
                        <a:spcBef>
                          <a:spcPts val="0"/>
                        </a:spcBef>
                        <a:spcAft>
                          <a:spcPts val="0"/>
                        </a:spcAft>
                        <a:buNone/>
                      </a:pPr>
                      <a:r>
                        <a:rPr lang="en-GB" sz="900"/>
                        <a:t>FY18 / 19 Tier (for reference only)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700"/>
                        <a:buFont typeface="Arial"/>
                        <a:buNone/>
                      </a:pPr>
                      <a:r>
                        <a:rPr lang="en-GB" sz="1000">
                          <a:solidFill>
                            <a:schemeClr val="dk1"/>
                          </a:solidFill>
                        </a:rPr>
                        <a:t>FY18: 2</a:t>
                      </a:r>
                      <a:endParaRPr sz="1000">
                        <a:solidFill>
                          <a:schemeClr val="dk1"/>
                        </a:solidFill>
                      </a:endParaRPr>
                    </a:p>
                    <a:p>
                      <a:pPr indent="0" lvl="0" marL="0" rtl="0" algn="ctr">
                        <a:spcBef>
                          <a:spcPts val="0"/>
                        </a:spcBef>
                        <a:spcAft>
                          <a:spcPts val="0"/>
                        </a:spcAft>
                        <a:buClr>
                          <a:schemeClr val="dk1"/>
                        </a:buClr>
                        <a:buSzPts val="700"/>
                        <a:buFont typeface="Arial"/>
                        <a:buNone/>
                      </a:pPr>
                      <a:r>
                        <a:rPr lang="en-GB" sz="1000">
                          <a:solidFill>
                            <a:schemeClr val="dk1"/>
                          </a:solidFill>
                        </a:rPr>
                        <a:t>FY19: 2</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GB" sz="900"/>
                        <a:t>TBD</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0600">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Yrs of Service / In grade</a:t>
                      </a:r>
                      <a:endParaRPr sz="9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t>4</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t>5</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52" name="Google Shape;252;p23"/>
          <p:cNvGraphicFramePr/>
          <p:nvPr/>
        </p:nvGraphicFramePr>
        <p:xfrm>
          <a:off x="152400" y="2499931"/>
          <a:ext cx="3000000" cy="3000000"/>
        </p:xfrm>
        <a:graphic>
          <a:graphicData uri="http://schemas.openxmlformats.org/drawingml/2006/table">
            <a:tbl>
              <a:tblPr firstRow="1">
                <a:noFill/>
                <a:tableStyleId>{726CEF35-E87D-44F1-B121-F5B6ACD7697A}</a:tableStyleId>
              </a:tblPr>
              <a:tblGrid>
                <a:gridCol w="1709550"/>
                <a:gridCol w="3963525"/>
                <a:gridCol w="3303575"/>
              </a:tblGrid>
              <a:tr h="2071725">
                <a:tc rowSpan="3">
                  <a:txBody>
                    <a:bodyPr/>
                    <a:lstStyle/>
                    <a:p>
                      <a:pPr indent="0" lvl="0" marL="0" rtl="0" algn="l">
                        <a:spcBef>
                          <a:spcPts val="0"/>
                        </a:spcBef>
                        <a:spcAft>
                          <a:spcPts val="0"/>
                        </a:spcAft>
                        <a:buNone/>
                      </a:pPr>
                      <a:r>
                        <a:rPr b="0" lang="en-GB" sz="900">
                          <a:solidFill>
                            <a:srgbClr val="000000"/>
                          </a:solidFill>
                        </a:rPr>
                        <a:t>Proposed Business Case / Readiness of Candidate</a:t>
                      </a:r>
                      <a:endParaRPr b="0" sz="900">
                        <a:solidFill>
                          <a:srgbClr val="000000"/>
                        </a:solidFill>
                      </a:endParaRPr>
                    </a:p>
                    <a:p>
                      <a:pPr indent="0" lvl="0" marL="0" rtl="0" algn="l">
                        <a:spcBef>
                          <a:spcPts val="0"/>
                        </a:spcBef>
                        <a:spcAft>
                          <a:spcPts val="0"/>
                        </a:spcAft>
                        <a:buNone/>
                      </a:pPr>
                      <a:r>
                        <a:t/>
                      </a:r>
                      <a:endParaRPr b="0" sz="900">
                        <a:solidFill>
                          <a:srgbClr val="000000"/>
                        </a:solidFill>
                      </a:endParaRPr>
                    </a:p>
                    <a:p>
                      <a:pPr indent="0" lvl="0" marL="0" rtl="0" algn="l">
                        <a:spcBef>
                          <a:spcPts val="0"/>
                        </a:spcBef>
                        <a:spcAft>
                          <a:spcPts val="0"/>
                        </a:spcAft>
                        <a:buNone/>
                      </a:pPr>
                      <a:r>
                        <a:t/>
                      </a:r>
                      <a:endParaRPr b="0" sz="900">
                        <a:solidFill>
                          <a:srgbClr val="000000"/>
                        </a:solidFill>
                      </a:endParaRPr>
                    </a:p>
                    <a:p>
                      <a:pPr indent="0" lvl="0" marL="0" rtl="0" algn="l">
                        <a:spcBef>
                          <a:spcPts val="0"/>
                        </a:spcBef>
                        <a:spcAft>
                          <a:spcPts val="0"/>
                        </a:spcAft>
                        <a:buNone/>
                      </a:pPr>
                      <a:r>
                        <a:t/>
                      </a:r>
                      <a:endParaRPr b="0" sz="900">
                        <a:solidFill>
                          <a:srgbClr val="000000"/>
                        </a:solidFill>
                      </a:endParaRPr>
                    </a:p>
                    <a:p>
                      <a:pPr indent="0" lvl="0" marL="0" rtl="0" algn="l">
                        <a:spcBef>
                          <a:spcPts val="0"/>
                        </a:spcBef>
                        <a:spcAft>
                          <a:spcPts val="0"/>
                        </a:spcAft>
                        <a:buNone/>
                      </a:pPr>
                      <a:r>
                        <a:t/>
                      </a:r>
                      <a:endParaRPr b="0" sz="900">
                        <a:solidFill>
                          <a:srgbClr val="000000"/>
                        </a:solidFill>
                      </a:endParaRPr>
                    </a:p>
                    <a:p>
                      <a:pPr indent="0" lvl="0" marL="0" rtl="0" algn="l">
                        <a:spcBef>
                          <a:spcPts val="0"/>
                        </a:spcBef>
                        <a:spcAft>
                          <a:spcPts val="0"/>
                        </a:spcAft>
                        <a:buNone/>
                      </a:pPr>
                      <a:r>
                        <a:rPr b="0" lang="en-GB" sz="900">
                          <a:solidFill>
                            <a:srgbClr val="000000"/>
                          </a:solidFill>
                        </a:rPr>
                        <a:t> </a:t>
                      </a:r>
                      <a:endParaRPr b="0" sz="9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rowSpan="2">
                  <a:txBody>
                    <a:bodyPr/>
                    <a:lstStyle/>
                    <a:p>
                      <a:pPr indent="0" lvl="0" marL="0" rtl="0" algn="l">
                        <a:spcBef>
                          <a:spcPts val="0"/>
                        </a:spcBef>
                        <a:spcAft>
                          <a:spcPts val="0"/>
                        </a:spcAft>
                        <a:buNone/>
                      </a:pPr>
                      <a:r>
                        <a:rPr lang="en-GB" sz="700">
                          <a:solidFill>
                            <a:srgbClr val="000000"/>
                          </a:solidFill>
                          <a:latin typeface="Georgia"/>
                          <a:ea typeface="Georgia"/>
                          <a:cs typeface="Georgia"/>
                          <a:sym typeface="Georgia"/>
                        </a:rPr>
                        <a:t>1</a:t>
                      </a:r>
                      <a:r>
                        <a:rPr i="1" lang="en-GB" sz="700">
                          <a:solidFill>
                            <a:srgbClr val="000000"/>
                          </a:solidFill>
                          <a:latin typeface="Georgia"/>
                          <a:ea typeface="Georgia"/>
                          <a:cs typeface="Georgia"/>
                          <a:sym typeface="Georgia"/>
                        </a:rPr>
                        <a:t>.</a:t>
                      </a:r>
                      <a:r>
                        <a:rPr b="1" lang="en-GB" sz="700">
                          <a:solidFill>
                            <a:srgbClr val="000000"/>
                          </a:solidFill>
                          <a:latin typeface="Georgia"/>
                          <a:ea typeface="Georgia"/>
                          <a:cs typeface="Georgia"/>
                          <a:sym typeface="Georgia"/>
                        </a:rPr>
                        <a:t>Ore is currently </a:t>
                      </a:r>
                      <a:r>
                        <a:rPr b="1" lang="en-GB" sz="700" u="sng">
                          <a:solidFill>
                            <a:srgbClr val="000000"/>
                          </a:solidFill>
                          <a:latin typeface="Georgia"/>
                          <a:ea typeface="Georgia"/>
                          <a:cs typeface="Georgia"/>
                          <a:sym typeface="Georgia"/>
                        </a:rPr>
                        <a:t>acting Director personally leading all CFT efforts and relationships at a CFT growth client</a:t>
                      </a:r>
                      <a:r>
                        <a:rPr b="1" lang="en-GB" sz="700">
                          <a:solidFill>
                            <a:srgbClr val="000000"/>
                          </a:solidFill>
                          <a:latin typeface="Georgia"/>
                          <a:ea typeface="Georgia"/>
                          <a:cs typeface="Georgia"/>
                          <a:sym typeface="Georgia"/>
                        </a:rPr>
                        <a:t> (Aries) that is in year 2 of a 3 yr, 71 country business transformation planned to go through the end of 2021.</a:t>
                      </a:r>
                      <a:r>
                        <a:rPr b="1" i="1" lang="en-GB" sz="700">
                          <a:solidFill>
                            <a:srgbClr val="000000"/>
                          </a:solidFill>
                          <a:latin typeface="Georgia"/>
                          <a:ea typeface="Georgia"/>
                          <a:cs typeface="Georgia"/>
                          <a:sym typeface="Georgia"/>
                        </a:rPr>
                        <a:t> </a:t>
                      </a:r>
                      <a:endParaRPr i="1" sz="700">
                        <a:solidFill>
                          <a:srgbClr val="000000"/>
                        </a:solidFill>
                        <a:latin typeface="Georgia"/>
                        <a:ea typeface="Georgia"/>
                        <a:cs typeface="Georgia"/>
                        <a:sym typeface="Georgia"/>
                      </a:endParaRPr>
                    </a:p>
                    <a:p>
                      <a:pPr indent="-94849" lvl="0" marL="100799" rtl="0" algn="l">
                        <a:spcBef>
                          <a:spcPts val="0"/>
                        </a:spcBef>
                        <a:spcAft>
                          <a:spcPts val="0"/>
                        </a:spcAft>
                        <a:buSzPts val="700"/>
                        <a:buFont typeface="Georgia"/>
                        <a:buChar char="●"/>
                      </a:pPr>
                      <a:r>
                        <a:rPr lang="en-GB" sz="700">
                          <a:solidFill>
                            <a:srgbClr val="000000"/>
                          </a:solidFill>
                          <a:latin typeface="Georgia"/>
                          <a:ea typeface="Georgia"/>
                          <a:cs typeface="Georgia"/>
                          <a:sym typeface="Georgia"/>
                        </a:rPr>
                        <a:t>Positioning:</a:t>
                      </a:r>
                      <a:r>
                        <a:rPr b="0" lang="en-GB" sz="700">
                          <a:solidFill>
                            <a:srgbClr val="000000"/>
                          </a:solidFill>
                          <a:latin typeface="Georgia"/>
                          <a:ea typeface="Georgia"/>
                          <a:cs typeface="Georgia"/>
                          <a:sym typeface="Georgia"/>
                        </a:rPr>
                        <a:t> O</a:t>
                      </a:r>
                      <a:r>
                        <a:rPr b="0" lang="en-GB" sz="700">
                          <a:solidFill>
                            <a:schemeClr val="dk1"/>
                          </a:solidFill>
                          <a:latin typeface="Georgia"/>
                          <a:ea typeface="Georgia"/>
                          <a:cs typeface="Georgia"/>
                          <a:sym typeface="Georgia"/>
                        </a:rPr>
                        <a:t>re is currently acting Director personally leading all CFT efforts and relationships at a CFT growth client (Aries) that is in year 2 of a 3+ yr, 71 country business transformation planned to go through the end of 2021. </a:t>
                      </a:r>
                      <a:endParaRPr b="0" sz="700">
                        <a:solidFill>
                          <a:schemeClr val="dk1"/>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Revenue Stability and Growth: </a:t>
                      </a:r>
                      <a:endParaRPr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 20 Ore led CFT efforts to grow CFT billed revenues from $0 to $4M (growing from a 3 to 12 person team),  and supported x-los additional billed revenue of $8M . ($12M x-los).</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 21 Ore is the PwC face and leader of a CFT FY21 pipeline of $6-$7M  of which $1M is already signed work. (x-los pipeline $14-$15) </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Note:POST COVID, CFT led by Ore has signed two new “phase 1” SOW’s worth $2M for work starting mid April and going into FY21. The broader transformation is highly public and considered business critical with the BU leader communicating a plan to aggressively push forward to completion in spite of COVID-19</a:t>
                      </a:r>
                      <a:endParaRPr b="0" sz="700">
                        <a:solidFill>
                          <a:schemeClr val="dk1"/>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Expanding Relationships:</a:t>
                      </a:r>
                      <a:r>
                        <a:rPr b="0" lang="en-GB" sz="700">
                          <a:solidFill>
                            <a:schemeClr val="dk1"/>
                          </a:solidFill>
                          <a:latin typeface="Georgia"/>
                          <a:ea typeface="Georgia"/>
                          <a:cs typeface="Georgia"/>
                          <a:sym typeface="Georgia"/>
                        </a:rPr>
                        <a:t> He owns the CFT relationship with the client project financial sponsors (Aries Controller, Head of Treasury,  CFO, Program Manager)  </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Ore beginning as the face of CFT relationship with the Aries Controller, established new relationship with the Head of Treasury (leading to 1 of 2 Post COVID signed SOWs), deepened our relationship with Transformation Program Manager (leading to the second Post COVID SOW) and deepened existing relationship with the BU CFO (delivering full finance finance function operating model to the CFO)</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Broader Teaming:</a:t>
                      </a:r>
                      <a:r>
                        <a:rPr b="0" lang="en-GB" sz="700">
                          <a:solidFill>
                            <a:schemeClr val="dk1"/>
                          </a:solidFill>
                          <a:latin typeface="Georgia"/>
                          <a:ea typeface="Georgia"/>
                          <a:cs typeface="Georgia"/>
                          <a:sym typeface="Georgia"/>
                        </a:rPr>
                        <a:t>  In addition to leading all CFT work, he leads the x-los handling all of all  PMO onboarding and billing across advisory, tax, assurance</a:t>
                      </a:r>
                      <a:endParaRPr sz="700">
                        <a:solidFill>
                          <a:schemeClr val="dk1"/>
                        </a:solidFill>
                        <a:latin typeface="Georgia"/>
                        <a:ea typeface="Georgia"/>
                        <a:cs typeface="Georgia"/>
                        <a:sym typeface="Georgia"/>
                      </a:endParaRPr>
                    </a:p>
                  </a:txBody>
                  <a:tcPr marT="0" marB="0" marR="91450" marL="288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700">
                          <a:solidFill>
                            <a:schemeClr val="dk1"/>
                          </a:solidFill>
                          <a:latin typeface="Georgia"/>
                          <a:ea typeface="Georgia"/>
                          <a:cs typeface="Georgia"/>
                          <a:sym typeface="Georgia"/>
                        </a:rPr>
                        <a:t>3. CFT currently has $0 in revenues from the FinTech industry. A fast growing industry now having more than 30 players worth &gt;$1B. </a:t>
                      </a:r>
                      <a:r>
                        <a:rPr lang="en-GB" sz="700" u="sng">
                          <a:solidFill>
                            <a:schemeClr val="dk1"/>
                          </a:solidFill>
                          <a:latin typeface="Georgia"/>
                          <a:ea typeface="Georgia"/>
                          <a:cs typeface="Georgia"/>
                          <a:sym typeface="Georgia"/>
                        </a:rPr>
                        <a:t>Ore’s experiences, revenue growth and active pipeline @Aries and Leo positions him to drive further revenue @fintechs</a:t>
                      </a:r>
                      <a:endParaRPr sz="700" u="sng">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@Google supported CFT SME input into CMAAS engagement related to FS offering. Following up on potential opportunity to grow relationship </a:t>
                      </a:r>
                      <a:endParaRPr b="0"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@Leo (swiss based global fintech) completed initial process build out and planned to support Swiss Firm delivery of services with opportunity for growth</a:t>
                      </a:r>
                      <a:endParaRPr b="0" sz="700">
                        <a:solidFill>
                          <a:schemeClr val="dk1"/>
                        </a:solidFill>
                        <a:latin typeface="Georgia"/>
                        <a:ea typeface="Georgia"/>
                        <a:cs typeface="Georgia"/>
                        <a:sym typeface="Georgia"/>
                      </a:endParaRPr>
                    </a:p>
                    <a:p>
                      <a:pPr indent="-50399" lvl="0" marL="86399" rtl="0" algn="l">
                        <a:spcBef>
                          <a:spcPts val="0"/>
                        </a:spcBef>
                        <a:spcAft>
                          <a:spcPts val="0"/>
                        </a:spcAft>
                        <a:buNone/>
                      </a:pPr>
                      <a:r>
                        <a:rPr b="0" lang="en-GB" sz="700">
                          <a:solidFill>
                            <a:schemeClr val="dk1"/>
                          </a:solidFill>
                          <a:latin typeface="Georgia"/>
                          <a:ea typeface="Georgia"/>
                          <a:cs typeface="Georgia"/>
                          <a:sym typeface="Georgia"/>
                        </a:rPr>
                        <a:t>Like Aries and Leo, other FinTechs/Techs are expanding more deeply into the Financial Services space and requiring Finance function transformation in the following ways:</a:t>
                      </a:r>
                      <a:endParaRPr b="0"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Op model: Tech/FinTech Players are unfamiliar with staffing #s and structure required to scale up to support FS operations </a:t>
                      </a:r>
                      <a:endParaRPr b="0"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Process design: Design of FS centric process that center around a flow of funds/monetary assets (digital or cash) </a:t>
                      </a:r>
                      <a:endParaRPr b="0"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Risk+Controls design: Assistance in understanding risk+control environment given greater regulatory scrutiny in FS than tech  </a:t>
                      </a:r>
                      <a:endParaRPr b="0"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Program Mgmt: Deep experience managing FS specific initiatives which tend to be more global and more complex than traditional tech programs</a:t>
                      </a:r>
                      <a:endParaRPr b="0" sz="700">
                        <a:solidFill>
                          <a:schemeClr val="dk1"/>
                        </a:solidFill>
                        <a:latin typeface="Georgia"/>
                        <a:ea typeface="Georgia"/>
                        <a:cs typeface="Georgia"/>
                        <a:sym typeface="Georgia"/>
                      </a:endParaRPr>
                    </a:p>
                  </a:txBody>
                  <a:tcPr marT="0" marB="0" marR="91450" marL="288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43500">
                <a:tc vMerge="1"/>
                <a:tc vMerge="1"/>
                <a:tc rowSpan="2">
                  <a:txBody>
                    <a:bodyPr/>
                    <a:lstStyle/>
                    <a:p>
                      <a:pPr indent="0" lvl="0" marL="0" rtl="0" algn="l">
                        <a:spcBef>
                          <a:spcPts val="0"/>
                        </a:spcBef>
                        <a:spcAft>
                          <a:spcPts val="0"/>
                        </a:spcAft>
                        <a:buClr>
                          <a:schemeClr val="dk1"/>
                        </a:buClr>
                        <a:buSzPts val="1100"/>
                        <a:buFont typeface="Arial"/>
                        <a:buNone/>
                      </a:pPr>
                      <a:r>
                        <a:rPr b="1" lang="en-GB" sz="700">
                          <a:solidFill>
                            <a:schemeClr val="dk1"/>
                          </a:solidFill>
                          <a:latin typeface="Georgia"/>
                          <a:ea typeface="Georgia"/>
                          <a:cs typeface="Georgia"/>
                          <a:sym typeface="Georgia"/>
                        </a:rPr>
                        <a:t>4</a:t>
                      </a:r>
                      <a:r>
                        <a:rPr b="1" lang="en-GB" sz="700">
                          <a:solidFill>
                            <a:schemeClr val="dk1"/>
                          </a:solidFill>
                          <a:latin typeface="Georgia"/>
                          <a:ea typeface="Georgia"/>
                          <a:cs typeface="Georgia"/>
                          <a:sym typeface="Georgia"/>
                        </a:rPr>
                        <a:t>. Ore is a revenue leakage + O2C process/implementation expert </a:t>
                      </a:r>
                      <a:endParaRPr b="1"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1" lang="en-GB" sz="700">
                          <a:solidFill>
                            <a:schemeClr val="dk1"/>
                          </a:solidFill>
                          <a:latin typeface="Georgia"/>
                          <a:ea typeface="Georgia"/>
                          <a:cs typeface="Georgia"/>
                          <a:sym typeface="Georgia"/>
                        </a:rPr>
                        <a:t>Revenue Leakage Expertise: </a:t>
                      </a:r>
                      <a:r>
                        <a:rPr lang="en-GB" sz="700">
                          <a:solidFill>
                            <a:schemeClr val="dk1"/>
                          </a:solidFill>
                          <a:latin typeface="Georgia"/>
                          <a:ea typeface="Georgia"/>
                          <a:cs typeface="Georgia"/>
                          <a:sym typeface="Georgia"/>
                        </a:rPr>
                        <a:t>He has helped develop and is positioned to deliver a timely - given COVID-19 -  CFT revenue leakage/optimization offering (led by Jamie B.)</a:t>
                      </a: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shared at Digital Realty and State Street proposals</a:t>
                      </a:r>
                      <a:endParaRPr sz="700">
                        <a:solidFill>
                          <a:schemeClr val="dk1"/>
                        </a:solidFill>
                        <a:latin typeface="Georgia"/>
                        <a:ea typeface="Georgia"/>
                        <a:cs typeface="Georgia"/>
                        <a:sym typeface="Georgia"/>
                      </a:endParaRPr>
                    </a:p>
                    <a:p>
                      <a:pPr indent="-130849" lvl="2" marL="2195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@ICE Lead an organic revenue leakage analysis on billing transformation</a:t>
                      </a:r>
                      <a:endParaRPr sz="700">
                        <a:solidFill>
                          <a:schemeClr val="dk1"/>
                        </a:solidFill>
                        <a:latin typeface="Georgia"/>
                        <a:ea typeface="Georgia"/>
                        <a:cs typeface="Georgia"/>
                        <a:sym typeface="Georgia"/>
                      </a:endParaRPr>
                    </a:p>
                    <a:p>
                      <a:pPr indent="-130849" lvl="2" marL="2195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@Visa CSS delivered on 10 week revenue op engagement at Visa CSS BU</a:t>
                      </a:r>
                      <a:endParaRPr b="1" sz="700">
                        <a:solidFill>
                          <a:schemeClr val="dk1"/>
                        </a:solidFill>
                        <a:latin typeface="Georgia"/>
                        <a:ea typeface="Georgia"/>
                        <a:cs typeface="Georgia"/>
                        <a:sym typeface="Georgia"/>
                      </a:endParaRPr>
                    </a:p>
                    <a:p>
                      <a:pPr indent="-94849" lvl="0" marL="86399" rtl="0" algn="l">
                        <a:spcBef>
                          <a:spcPts val="0"/>
                        </a:spcBef>
                        <a:spcAft>
                          <a:spcPts val="0"/>
                        </a:spcAft>
                        <a:buClr>
                          <a:schemeClr val="dk1"/>
                        </a:buClr>
                        <a:buSzPts val="700"/>
                        <a:buFont typeface="Georgia"/>
                        <a:buChar char="●"/>
                      </a:pPr>
                      <a:r>
                        <a:rPr b="1" lang="en-GB" sz="700">
                          <a:solidFill>
                            <a:schemeClr val="dk1"/>
                          </a:solidFill>
                          <a:latin typeface="Georgia"/>
                          <a:ea typeface="Georgia"/>
                          <a:cs typeface="Georgia"/>
                          <a:sym typeface="Georgia"/>
                        </a:rPr>
                        <a:t>Billing Transformation Expertise: </a:t>
                      </a:r>
                      <a:r>
                        <a:rPr lang="en-GB" sz="700">
                          <a:solidFill>
                            <a:schemeClr val="dk1"/>
                          </a:solidFill>
                          <a:latin typeface="Georgia"/>
                          <a:ea typeface="Georgia"/>
                          <a:cs typeface="Georgia"/>
                          <a:sym typeface="Georgia"/>
                        </a:rPr>
                        <a:t>Contributor to pursuit + delivery for significant billing transformation wins </a:t>
                      </a:r>
                      <a:endParaRPr i="1" sz="700">
                        <a:solidFill>
                          <a:schemeClr val="dk1"/>
                        </a:solidFill>
                        <a:latin typeface="Georgia"/>
                        <a:ea typeface="Georgia"/>
                        <a:cs typeface="Georgia"/>
                        <a:sym typeface="Georgia"/>
                      </a:endParaRPr>
                    </a:p>
                    <a:p>
                      <a:pPr indent="-94849" lvl="1" marL="1944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@ICE (FY15-19): Lead Mgr on 5+ billing transformation go lives</a:t>
                      </a:r>
                      <a:endParaRPr sz="700">
                        <a:solidFill>
                          <a:schemeClr val="dk1"/>
                        </a:solidFill>
                        <a:latin typeface="Georgia"/>
                        <a:ea typeface="Georgia"/>
                        <a:cs typeface="Georgia"/>
                        <a:sym typeface="Georgia"/>
                      </a:endParaRPr>
                    </a:p>
                    <a:p>
                      <a:pPr indent="-94849" lvl="1" marL="1944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@StateStreet (FY19): Developed proposal+participated in client pitch call</a:t>
                      </a:r>
                      <a:endParaRPr b="1" sz="700">
                        <a:solidFill>
                          <a:schemeClr val="dk1"/>
                        </a:solidFill>
                        <a:latin typeface="Georgia"/>
                        <a:ea typeface="Georgia"/>
                        <a:cs typeface="Georgia"/>
                        <a:sym typeface="Georgia"/>
                      </a:endParaRPr>
                    </a:p>
                    <a:p>
                      <a:pPr indent="-94849" lvl="1" marL="194400" rtl="0" algn="l">
                        <a:spcBef>
                          <a:spcPts val="0"/>
                        </a:spcBef>
                        <a:spcAft>
                          <a:spcPts val="0"/>
                        </a:spcAft>
                        <a:buClr>
                          <a:schemeClr val="dk1"/>
                        </a:buClr>
                        <a:buSzPts val="700"/>
                        <a:buFont typeface="Georgia"/>
                        <a:buChar char="○"/>
                      </a:pPr>
                      <a:r>
                        <a:rPr b="1" lang="en-GB" sz="700">
                          <a:solidFill>
                            <a:schemeClr val="dk1"/>
                          </a:solidFill>
                          <a:latin typeface="Georgia"/>
                          <a:ea typeface="Georgia"/>
                          <a:cs typeface="Georgia"/>
                          <a:sym typeface="Georgia"/>
                        </a:rPr>
                        <a:t>@</a:t>
                      </a:r>
                      <a:r>
                        <a:rPr lang="en-GB" sz="700">
                          <a:solidFill>
                            <a:schemeClr val="dk1"/>
                          </a:solidFill>
                          <a:latin typeface="Georgia"/>
                          <a:ea typeface="Georgia"/>
                          <a:cs typeface="Georgia"/>
                          <a:sym typeface="Georgia"/>
                        </a:rPr>
                        <a:t>Digital Realty (FY19)</a:t>
                      </a: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Penned initial ORMB proposal/attended orals</a:t>
                      </a:r>
                      <a:endParaRPr sz="700">
                        <a:solidFill>
                          <a:schemeClr val="dk1"/>
                        </a:solidFill>
                        <a:latin typeface="Georgia"/>
                        <a:ea typeface="Georgia"/>
                        <a:cs typeface="Georgia"/>
                        <a:sym typeface="Georgia"/>
                      </a:endParaRPr>
                    </a:p>
                    <a:p>
                      <a:pPr indent="-94849" lvl="1" marL="1944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@Visa FY19: Proposal member+delivered program health check to CIO </a:t>
                      </a:r>
                      <a:endParaRPr sz="700">
                        <a:solidFill>
                          <a:schemeClr val="dk1"/>
                        </a:solidFill>
                        <a:latin typeface="Georgia"/>
                        <a:ea typeface="Georgia"/>
                        <a:cs typeface="Georgia"/>
                        <a:sym typeface="Georgia"/>
                      </a:endParaRPr>
                    </a:p>
                  </a:txBody>
                  <a:tcPr marT="0" marB="0" marR="91450" marL="288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90375">
                <a:tc vMerge="1"/>
                <a:tc>
                  <a:txBody>
                    <a:bodyPr/>
                    <a:lstStyle/>
                    <a:p>
                      <a:pPr indent="0" lvl="0" marL="0" rtl="0" algn="l">
                        <a:spcBef>
                          <a:spcPts val="0"/>
                        </a:spcBef>
                        <a:spcAft>
                          <a:spcPts val="0"/>
                        </a:spcAft>
                        <a:buNone/>
                      </a:pPr>
                      <a:r>
                        <a:rPr lang="en-GB" sz="700">
                          <a:solidFill>
                            <a:schemeClr val="dk1"/>
                          </a:solidFill>
                          <a:latin typeface="Georgia"/>
                          <a:ea typeface="Georgia"/>
                          <a:cs typeface="Georgia"/>
                          <a:sym typeface="Georgia"/>
                        </a:rPr>
                        <a:t>2. </a:t>
                      </a:r>
                      <a:r>
                        <a:rPr b="1" lang="en-GB" sz="700">
                          <a:solidFill>
                            <a:schemeClr val="dk1"/>
                          </a:solidFill>
                          <a:latin typeface="Georgia"/>
                          <a:ea typeface="Georgia"/>
                          <a:cs typeface="Georgia"/>
                          <a:sym typeface="Georgia"/>
                        </a:rPr>
                        <a:t>As he has done with Aries, Ore has historically supported, and is positioned to deliver finance Integration engagements resulting from the Deals pipeline. </a:t>
                      </a:r>
                      <a:endParaRPr b="1"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@GlobalPayments: provided targeted subject matter expertise to CFT post deal integration team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@Visa CSS BU: provided services revenue redesign,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@ICE following several 5+ acquisitions drove finance process and tech integration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@Ameriprise, BMO Harris Bank, US Bank, Assurant, GMAC, Deluxe Microsoft, Lawson delivered  on risk and  operational/financial controls engagements given his prior experience in the Risk Assurance, and Risk and Regulatory practices</a:t>
                      </a:r>
                      <a:endParaRPr b="1" sz="700">
                        <a:solidFill>
                          <a:schemeClr val="dk1"/>
                        </a:solidFill>
                        <a:latin typeface="Georgia"/>
                        <a:ea typeface="Georgia"/>
                        <a:cs typeface="Georgia"/>
                        <a:sym typeface="Georgia"/>
                      </a:endParaRPr>
                    </a:p>
                  </a:txBody>
                  <a:tcPr marT="0" marB="0" marR="91450" marL="288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vMerge="1"/>
              </a:tr>
              <a:tr h="361200">
                <a:tc>
                  <a:txBody>
                    <a:bodyPr/>
                    <a:lstStyle/>
                    <a:p>
                      <a:pPr indent="0" lvl="0" marL="0" marR="0" rtl="0" algn="l">
                        <a:spcBef>
                          <a:spcPts val="0"/>
                        </a:spcBef>
                        <a:spcAft>
                          <a:spcPts val="0"/>
                        </a:spcAft>
                        <a:buNone/>
                      </a:pPr>
                      <a:r>
                        <a:rPr lang="en-GB" sz="900"/>
                        <a:t>Key Clients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12+ yrs, 3 practices &amp; 2 countries, 15+ clients across 3 industries</a:t>
                      </a:r>
                      <a:r>
                        <a:rPr lang="en-GB" sz="700">
                          <a:solidFill>
                            <a:schemeClr val="dk1"/>
                          </a:solidFill>
                          <a:latin typeface="Georgia"/>
                          <a:ea typeface="Georgia"/>
                          <a:cs typeface="Georgia"/>
                          <a:sym typeface="Georgia"/>
                        </a:rPr>
                        <a:t>: FS/FinTech/Tech</a:t>
                      </a:r>
                      <a:endParaRPr sz="700">
                        <a:solidFill>
                          <a:schemeClr val="dk1"/>
                        </a:solidFill>
                        <a:latin typeface="Georgia"/>
                        <a:ea typeface="Georgia"/>
                        <a:cs typeface="Georgia"/>
                        <a:sym typeface="Georgia"/>
                      </a:endParaRPr>
                    </a:p>
                    <a:p>
                      <a:pPr indent="-102049" lvl="0" marL="575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FS: ICE, NT, Fidelity, USBank, Ameriprise, BMO, GMAC, </a:t>
                      </a:r>
                      <a:endParaRPr sz="700">
                        <a:solidFill>
                          <a:schemeClr val="dk1"/>
                        </a:solidFill>
                        <a:latin typeface="Georgia"/>
                        <a:ea typeface="Georgia"/>
                        <a:cs typeface="Georgia"/>
                        <a:sym typeface="Georgia"/>
                      </a:endParaRPr>
                    </a:p>
                    <a:p>
                      <a:pPr indent="-102049" lvl="0" marL="575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Tech/FinTech: Intuit, Visa, Lawson, Microsoft, Imation</a:t>
                      </a:r>
                      <a:endParaRPr sz="700">
                        <a:solidFill>
                          <a:schemeClr val="dk1"/>
                        </a:solidFill>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02049" lvl="0" marL="575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Current: Client Aries  (Digital Launch), Leo (Digital Currency Launch)</a:t>
                      </a:r>
                      <a:endParaRPr sz="700">
                        <a:solidFill>
                          <a:schemeClr val="dk1"/>
                        </a:solidFill>
                        <a:latin typeface="Georgia"/>
                        <a:ea typeface="Georgia"/>
                        <a:cs typeface="Georgia"/>
                        <a:sym typeface="Georgia"/>
                      </a:endParaRPr>
                    </a:p>
                    <a:p>
                      <a:pPr indent="-102049" lvl="0" marL="575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Future: Client Aries (75%), Leo (5%), Other Fintech pursuits (10%): Google, Paypal, Coinbase, Visa. Revopt Pursuits (5%)</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0925">
                <a:tc>
                  <a:txBody>
                    <a:bodyPr/>
                    <a:lstStyle/>
                    <a:p>
                      <a:pPr indent="0" lvl="0" marL="0" marR="0" rtl="0" algn="l">
                        <a:spcBef>
                          <a:spcPts val="0"/>
                        </a:spcBef>
                        <a:spcAft>
                          <a:spcPts val="0"/>
                        </a:spcAft>
                        <a:buNone/>
                      </a:pPr>
                      <a:r>
                        <a:rPr lang="en-GB" sz="900"/>
                        <a:t>Distinctive Experiences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SzPts val="600"/>
                        <a:buNone/>
                      </a:pPr>
                      <a:r>
                        <a:rPr b="1" lang="en-GB" sz="700">
                          <a:solidFill>
                            <a:schemeClr val="dk1"/>
                          </a:solidFill>
                          <a:latin typeface="Georgia"/>
                          <a:ea typeface="Georgia"/>
                          <a:cs typeface="Georgia"/>
                          <a:sym typeface="Georgia"/>
                        </a:rPr>
                        <a:t>1. Distinctive Digital Currency Finance Transformation Leadership Experience - </a:t>
                      </a:r>
                      <a:r>
                        <a:rPr lang="en-GB" sz="700">
                          <a:solidFill>
                            <a:schemeClr val="dk1"/>
                          </a:solidFill>
                          <a:latin typeface="Georgia"/>
                          <a:ea typeface="Georgia"/>
                          <a:cs typeface="Georgia"/>
                          <a:sym typeface="Georgia"/>
                        </a:rPr>
                        <a:t>Accounting Operations/Treasury/FP&amp;A/Finance PMO/Tech (2019 - Present): </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Acting Director leading delivery of CFT transformation (Acct Operations, FP&amp;A and Treasury) engagement in which we are defining key finance processes and technology to support </a:t>
                      </a:r>
                      <a:r>
                        <a:rPr b="1" lang="en-GB" sz="700">
                          <a:solidFill>
                            <a:schemeClr val="dk1"/>
                          </a:solidFill>
                          <a:latin typeface="Georgia"/>
                          <a:ea typeface="Georgia"/>
                          <a:cs typeface="Georgia"/>
                          <a:sym typeface="Georgia"/>
                        </a:rPr>
                        <a:t>first of its kind Blockchain Digital Currency</a:t>
                      </a:r>
                      <a:r>
                        <a:rPr lang="en-GB" sz="700">
                          <a:solidFill>
                            <a:schemeClr val="dk1"/>
                          </a:solidFill>
                          <a:latin typeface="Georgia"/>
                          <a:ea typeface="Georgia"/>
                          <a:cs typeface="Georgia"/>
                          <a:sym typeface="Georgia"/>
                        </a:rPr>
                        <a:t> initiative.  Also working closely w/key global (PwC Switzerland) Blockchain and Stablecoin experts in delivery</a:t>
                      </a:r>
                      <a:endParaRPr b="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2. Unique International (US and EMEA) Finance Transformation Leadership Experience - </a:t>
                      </a:r>
                      <a:r>
                        <a:rPr lang="en-GB" sz="700">
                          <a:solidFill>
                            <a:schemeClr val="dk1"/>
                          </a:solidFill>
                          <a:latin typeface="Georgia"/>
                          <a:ea typeface="Georgia"/>
                          <a:cs typeface="Georgia"/>
                          <a:sym typeface="Georgia"/>
                        </a:rPr>
                        <a:t>Order to Cash (2015 - 2017)</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Demonstrated ability to lead across global boundaries. Delivered on three go lives in the UK with a combined team of US and UK staff while also maintaining leadership of 1 US implementation. Oversaw go lives and support in countries incld  UK, Italy, Israel along with 12 month relocation to UK. </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nvSpPr>
        <p:spPr>
          <a:xfrm>
            <a:off x="152400" y="152400"/>
            <a:ext cx="8534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dk1"/>
                </a:solidFill>
                <a:latin typeface="Georgia"/>
                <a:ea typeface="Georgia"/>
                <a:cs typeface="Georgia"/>
                <a:sym typeface="Georgia"/>
              </a:rPr>
              <a:t>2020 Advisory Director Candidate Business Case</a:t>
            </a:r>
            <a:endParaRPr sz="1800">
              <a:solidFill>
                <a:schemeClr val="dk1"/>
              </a:solidFill>
              <a:latin typeface="Arial"/>
              <a:ea typeface="Arial"/>
              <a:cs typeface="Arial"/>
              <a:sym typeface="Arial"/>
            </a:endParaRPr>
          </a:p>
        </p:txBody>
      </p:sp>
      <p:graphicFrame>
        <p:nvGraphicFramePr>
          <p:cNvPr id="258" name="Google Shape;258;p24"/>
          <p:cNvGraphicFramePr/>
          <p:nvPr/>
        </p:nvGraphicFramePr>
        <p:xfrm>
          <a:off x="152400" y="623931"/>
          <a:ext cx="3000000" cy="3000000"/>
        </p:xfrm>
        <a:graphic>
          <a:graphicData uri="http://schemas.openxmlformats.org/drawingml/2006/table">
            <a:tbl>
              <a:tblPr firstRow="1">
                <a:noFill/>
                <a:tableStyleId>{726CEF35-E87D-44F1-B121-F5B6ACD7697A}</a:tableStyleId>
              </a:tblPr>
              <a:tblGrid>
                <a:gridCol w="3185625"/>
                <a:gridCol w="2825300"/>
                <a:gridCol w="2564100"/>
              </a:tblGrid>
              <a:tr h="271700">
                <a:tc gridSpan="3">
                  <a:txBody>
                    <a:bodyPr/>
                    <a:lstStyle/>
                    <a:p>
                      <a:pPr indent="0" lvl="0" marL="0" rtl="0" algn="l">
                        <a:spcBef>
                          <a:spcPts val="0"/>
                        </a:spcBef>
                        <a:spcAft>
                          <a:spcPts val="0"/>
                        </a:spcAft>
                        <a:buNone/>
                      </a:pPr>
                      <a:r>
                        <a:rPr i="1" lang="en-GB" sz="1000"/>
                        <a:t>Candidate’s Name </a:t>
                      </a:r>
                      <a:endParaRPr i="1" sz="10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hMerge="1"/>
                <a:tc hMerge="1"/>
              </a:tr>
              <a:tr h="254700">
                <a:tc gridSpan="3">
                  <a:txBody>
                    <a:bodyPr/>
                    <a:lstStyle/>
                    <a:p>
                      <a:pPr indent="0" lvl="0" marL="0" rtl="0" algn="l">
                        <a:spcBef>
                          <a:spcPts val="0"/>
                        </a:spcBef>
                        <a:spcAft>
                          <a:spcPts val="0"/>
                        </a:spcAft>
                        <a:buNone/>
                      </a:pPr>
                      <a:r>
                        <a:rPr lang="en-GB" sz="900"/>
                        <a:t>Name  Ore Phillips</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bl>
          </a:graphicData>
        </a:graphic>
      </p:graphicFrame>
      <p:graphicFrame>
        <p:nvGraphicFramePr>
          <p:cNvPr id="259" name="Google Shape;259;p24"/>
          <p:cNvGraphicFramePr/>
          <p:nvPr/>
        </p:nvGraphicFramePr>
        <p:xfrm>
          <a:off x="152400" y="1104031"/>
          <a:ext cx="3000000" cy="3000000"/>
        </p:xfrm>
        <a:graphic>
          <a:graphicData uri="http://schemas.openxmlformats.org/drawingml/2006/table">
            <a:tbl>
              <a:tblPr firstRow="1">
                <a:noFill/>
                <a:tableStyleId>{726CEF35-E87D-44F1-B121-F5B6ACD7697A}</a:tableStyleId>
              </a:tblPr>
              <a:tblGrid>
                <a:gridCol w="1640525"/>
                <a:gridCol w="4370400"/>
                <a:gridCol w="2564100"/>
              </a:tblGrid>
              <a:tr h="1182925">
                <a:tc>
                  <a:txBody>
                    <a:bodyPr/>
                    <a:lstStyle/>
                    <a:p>
                      <a:pPr indent="0" lvl="0" marL="0" marR="0" rtl="0" algn="l">
                        <a:spcBef>
                          <a:spcPts val="0"/>
                        </a:spcBef>
                        <a:spcAft>
                          <a:spcPts val="0"/>
                        </a:spcAft>
                        <a:buNone/>
                      </a:pPr>
                      <a:r>
                        <a:rPr b="0" lang="en-GB" sz="900">
                          <a:solidFill>
                            <a:srgbClr val="000000"/>
                          </a:solidFill>
                        </a:rPr>
                        <a:t>Bringing </a:t>
                      </a:r>
                      <a:r>
                        <a:rPr lang="en-GB" sz="900">
                          <a:solidFill>
                            <a:srgbClr val="000000"/>
                          </a:solidFill>
                        </a:rPr>
                        <a:t>Advisory 2.0 Priorities</a:t>
                      </a:r>
                      <a:r>
                        <a:rPr b="0" lang="en-GB" sz="900">
                          <a:solidFill>
                            <a:srgbClr val="000000"/>
                          </a:solidFill>
                        </a:rPr>
                        <a:t> to our firm and clients  (e.g., Platforms, Integrated Solutions,BXT, Teaming, Operational Excellence)</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rPr b="0" lang="en-GB" sz="900">
                          <a:solidFill>
                            <a:srgbClr val="000000"/>
                          </a:solidFill>
                        </a:rPr>
                        <a:t> </a:t>
                      </a:r>
                      <a:endParaRPr b="0" sz="9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gridSpan="2">
                  <a:txBody>
                    <a:bodyPr/>
                    <a:lstStyle/>
                    <a:p>
                      <a:pPr indent="0" lvl="0" marL="0" rtl="0" algn="l">
                        <a:spcBef>
                          <a:spcPts val="0"/>
                        </a:spcBef>
                        <a:spcAft>
                          <a:spcPts val="0"/>
                        </a:spcAft>
                        <a:buNone/>
                      </a:pPr>
                      <a:r>
                        <a:rPr lang="en-GB" sz="700">
                          <a:solidFill>
                            <a:schemeClr val="dk1"/>
                          </a:solidFill>
                          <a:latin typeface="Georgia"/>
                          <a:ea typeface="Georgia"/>
                          <a:cs typeface="Georgia"/>
                          <a:sym typeface="Georgia"/>
                        </a:rPr>
                        <a:t>Digital Achievements</a:t>
                      </a:r>
                      <a:endParaRPr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Achieved </a:t>
                      </a:r>
                      <a:r>
                        <a:rPr lang="en-GB" sz="700">
                          <a:solidFill>
                            <a:schemeClr val="dk1"/>
                          </a:solidFill>
                          <a:latin typeface="Georgia"/>
                          <a:ea typeface="Georgia"/>
                          <a:cs typeface="Georgia"/>
                          <a:sym typeface="Georgia"/>
                        </a:rPr>
                        <a:t>Digital Lab “Lead Researcher” </a:t>
                      </a:r>
                      <a:r>
                        <a:rPr b="0" lang="en-GB" sz="700">
                          <a:solidFill>
                            <a:schemeClr val="dk1"/>
                          </a:solidFill>
                          <a:latin typeface="Georgia"/>
                          <a:ea typeface="Georgia"/>
                          <a:cs typeface="Georgia"/>
                          <a:sym typeface="Georgia"/>
                        </a:rPr>
                        <a:t>status - (Highest Level)  </a:t>
                      </a:r>
                      <a:endParaRPr b="0"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Leading Revenue Innovation Reporting Accelerator </a:t>
                      </a:r>
                      <a:r>
                        <a:rPr b="0" lang="en-GB" sz="700">
                          <a:solidFill>
                            <a:schemeClr val="dk1"/>
                          </a:solidFill>
                          <a:latin typeface="Georgia"/>
                          <a:ea typeface="Georgia"/>
                          <a:cs typeface="Georgia"/>
                          <a:sym typeface="Georgia"/>
                        </a:rPr>
                        <a:t>working group to (a) develop a reporting accelerator solution for billing systems (b) Deliver 2 specific revenue innovation reports that can be utilized across clients</a:t>
                      </a:r>
                      <a:endParaRPr b="0"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Projects Specific Activities</a:t>
                      </a:r>
                      <a:endParaRPr b="0" sz="700">
                        <a:solidFill>
                          <a:schemeClr val="dk1"/>
                        </a:solidFill>
                        <a:latin typeface="Georgia"/>
                        <a:ea typeface="Georgia"/>
                        <a:cs typeface="Georgia"/>
                        <a:sym typeface="Georgia"/>
                      </a:endParaRPr>
                    </a:p>
                    <a:p>
                      <a:pPr indent="-209550" lvl="1" marL="685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Leading team in building</a:t>
                      </a:r>
                      <a:r>
                        <a:rPr lang="en-GB" sz="700">
                          <a:solidFill>
                            <a:schemeClr val="dk1"/>
                          </a:solidFill>
                          <a:latin typeface="Georgia"/>
                          <a:ea typeface="Georgia"/>
                          <a:cs typeface="Georgia"/>
                          <a:sym typeface="Georgia"/>
                        </a:rPr>
                        <a:t> digital simulation to facilitate requirements</a:t>
                      </a:r>
                      <a:r>
                        <a:rPr b="0" lang="en-GB" sz="700">
                          <a:solidFill>
                            <a:schemeClr val="dk1"/>
                          </a:solidFill>
                          <a:latin typeface="Georgia"/>
                          <a:ea typeface="Georgia"/>
                          <a:cs typeface="Georgia"/>
                          <a:sym typeface="Georgia"/>
                        </a:rPr>
                        <a:t> gathering</a:t>
                      </a:r>
                      <a:endParaRPr b="0" sz="700">
                        <a:solidFill>
                          <a:schemeClr val="dk1"/>
                        </a:solidFill>
                        <a:latin typeface="Georgia"/>
                        <a:ea typeface="Georgia"/>
                        <a:cs typeface="Georgia"/>
                        <a:sym typeface="Georgia"/>
                      </a:endParaRPr>
                    </a:p>
                    <a:p>
                      <a:pPr indent="-209550" lvl="1" marL="685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PMO workstream on current (Aries) engagement is utilizing digital accelerator </a:t>
                      </a:r>
                      <a:r>
                        <a:rPr lang="en-GB" sz="700">
                          <a:solidFill>
                            <a:schemeClr val="dk1"/>
                          </a:solidFill>
                          <a:latin typeface="Georgia"/>
                          <a:ea typeface="Georgia"/>
                          <a:cs typeface="Georgia"/>
                          <a:sym typeface="Georgia"/>
                        </a:rPr>
                        <a:t>“Program management dashboard”</a:t>
                      </a:r>
                      <a:r>
                        <a:rPr b="0" lang="en-GB" sz="700">
                          <a:solidFill>
                            <a:schemeClr val="dk1"/>
                          </a:solidFill>
                          <a:latin typeface="Georgia"/>
                          <a:ea typeface="Georgia"/>
                          <a:cs typeface="Georgia"/>
                          <a:sym typeface="Georgia"/>
                        </a:rPr>
                        <a:t> to manage PMO reporting obligations for the finance transformation </a:t>
                      </a:r>
                      <a:endParaRPr b="0" sz="700">
                        <a:solidFill>
                          <a:schemeClr val="dk1"/>
                        </a:solidFill>
                        <a:latin typeface="Georgia"/>
                        <a:ea typeface="Georgia"/>
                        <a:cs typeface="Georgia"/>
                        <a:sym typeface="Georgia"/>
                      </a:endParaRPr>
                    </a:p>
                    <a:p>
                      <a:pPr indent="0" lvl="0" marL="342900" rtl="0" algn="l">
                        <a:spcBef>
                          <a:spcPts val="0"/>
                        </a:spcBef>
                        <a:spcAft>
                          <a:spcPts val="0"/>
                        </a:spcAft>
                        <a:buNone/>
                      </a:pPr>
                      <a:r>
                        <a:t/>
                      </a:r>
                      <a:endParaRPr i="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i="1" lang="en-GB" sz="700">
                          <a:solidFill>
                            <a:schemeClr val="dk1"/>
                          </a:solidFill>
                          <a:latin typeface="Georgia"/>
                          <a:ea typeface="Georgia"/>
                          <a:cs typeface="Georgia"/>
                          <a:sym typeface="Georgia"/>
                        </a:rPr>
                        <a:t>Revenue Leakage/Optimization</a:t>
                      </a:r>
                      <a:endParaRPr i="1"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Key player in developing revenue leakage/optimization approach and POV</a:t>
                      </a:r>
                      <a:endParaRPr b="0"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Participated in conversations with PwC GEPs for OCC and NASDAQ, as well as PwC Pricing Team introducing the opportunity</a:t>
                      </a:r>
                      <a:endParaRPr b="0"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04/26/18 – Jamie Buckley: “Ore has demonstrated an impressive vision in developing a new revenue</a:t>
                      </a:r>
                      <a:endParaRPr b="0" sz="700">
                        <a:solidFill>
                          <a:schemeClr val="dk1"/>
                        </a:solidFill>
                        <a:latin typeface="Georgia"/>
                        <a:ea typeface="Georgia"/>
                        <a:cs typeface="Georgia"/>
                        <a:sym typeface="Georgia"/>
                      </a:endParaRPr>
                    </a:p>
                    <a:p>
                      <a:pPr indent="0" lvl="0" marL="34290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optimization service offering for FTO. After executing on one of the first rev leakage projects, he pulled</a:t>
                      </a:r>
                      <a:endParaRPr b="0" sz="700">
                        <a:solidFill>
                          <a:schemeClr val="dk1"/>
                        </a:solidFill>
                        <a:latin typeface="Georgia"/>
                        <a:ea typeface="Georgia"/>
                        <a:cs typeface="Georgia"/>
                        <a:sym typeface="Georgia"/>
                      </a:endParaRPr>
                    </a:p>
                    <a:p>
                      <a:pPr indent="0" lvl="0" marL="34290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together the best practices across two projects and linked these to the firm's capabilities to create a new</a:t>
                      </a:r>
                      <a:endParaRPr b="0" sz="700">
                        <a:solidFill>
                          <a:schemeClr val="dk1"/>
                        </a:solidFill>
                        <a:latin typeface="Georgia"/>
                        <a:ea typeface="Georgia"/>
                        <a:cs typeface="Georgia"/>
                        <a:sym typeface="Georgia"/>
                      </a:endParaRPr>
                    </a:p>
                    <a:p>
                      <a:pPr indent="0" lvl="0" marL="34290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offering. He created a value based pricing model and approach to driving revenue leakage projects that</a:t>
                      </a:r>
                      <a:endParaRPr b="0" sz="700">
                        <a:solidFill>
                          <a:schemeClr val="dk1"/>
                        </a:solidFill>
                        <a:latin typeface="Georgia"/>
                        <a:ea typeface="Georgia"/>
                        <a:cs typeface="Georgia"/>
                        <a:sym typeface="Georgia"/>
                      </a:endParaRPr>
                    </a:p>
                    <a:p>
                      <a:pPr indent="0" lvl="0" marL="34290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will be both very enticing for a large swath of clients, but also provide significant upside for PwC. He has</a:t>
                      </a:r>
                      <a:endParaRPr b="0" sz="700">
                        <a:solidFill>
                          <a:schemeClr val="dk1"/>
                        </a:solidFill>
                        <a:latin typeface="Georgia"/>
                        <a:ea typeface="Georgia"/>
                        <a:cs typeface="Georgia"/>
                        <a:sym typeface="Georgia"/>
                      </a:endParaRPr>
                    </a:p>
                    <a:p>
                      <a:pPr indent="0" lvl="0" marL="34290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shown the strategic insight of a director, and has created a unique opportunity for FTO. "</a:t>
                      </a:r>
                      <a:endParaRPr b="0" i="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i="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i="1" lang="en-GB" sz="700">
                          <a:solidFill>
                            <a:schemeClr val="dk1"/>
                          </a:solidFill>
                          <a:latin typeface="Georgia"/>
                          <a:ea typeface="Georgia"/>
                          <a:cs typeface="Georgia"/>
                          <a:sym typeface="Georgia"/>
                        </a:rPr>
                        <a:t>Payments</a:t>
                      </a:r>
                      <a:endParaRPr i="1"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Managed the Issuer Working Group within the payments COI: Coordinating both the pursuit pipeline activities of practice directors and IP and training contributions of Associate through Manager (2013/2014) </a:t>
                      </a:r>
                      <a:endParaRPr b="0"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Lead Prepaid Intellectual Capital Team to develop a PwC POV and Prepaid Placemat for Client Pursuits (2014)</a:t>
                      </a:r>
                      <a:endParaRPr b="0" sz="700">
                        <a:solidFill>
                          <a:schemeClr val="dk1"/>
                        </a:solidFill>
                        <a:latin typeface="Georgia"/>
                        <a:ea typeface="Georgia"/>
                        <a:cs typeface="Georgia"/>
                        <a:sym typeface="Georgia"/>
                      </a:endParaRPr>
                    </a:p>
                    <a:p>
                      <a:pPr indent="-209550" lvl="1" marL="685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POV shared with SunTrust Bank, Comcast as well as PwC’s Payments COI and Banking COI</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r>
              <a:tr h="1182925">
                <a:tc>
                  <a:txBody>
                    <a:bodyPr/>
                    <a:lstStyle/>
                    <a:p>
                      <a:pPr indent="0" lvl="0" marL="0" marR="0" rtl="0" algn="l">
                        <a:spcBef>
                          <a:spcPts val="0"/>
                        </a:spcBef>
                        <a:spcAft>
                          <a:spcPts val="0"/>
                        </a:spcAft>
                        <a:buNone/>
                      </a:pPr>
                      <a:r>
                        <a:rPr b="1" lang="en-GB" sz="900"/>
                        <a:t>Your Tomorrow </a:t>
                      </a:r>
                      <a:r>
                        <a:rPr lang="en-GB" sz="900"/>
                        <a:t>contributions (e.g., Inclusive Leadership, </a:t>
                      </a:r>
                      <a:r>
                        <a:rPr lang="en-GB" sz="900"/>
                        <a:t>Infinite</a:t>
                      </a:r>
                      <a:r>
                        <a:rPr lang="en-GB" sz="900"/>
                        <a:t> Learning, Bringing Digital to Life, Well-being and Reinvest)</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gridSpan="2">
                  <a:txBody>
                    <a:bodyPr/>
                    <a:lstStyle/>
                    <a:p>
                      <a:pPr indent="0" lvl="0" marL="0" rtl="0" algn="l">
                        <a:spcBef>
                          <a:spcPts val="0"/>
                        </a:spcBef>
                        <a:spcAft>
                          <a:spcPts val="0"/>
                        </a:spcAft>
                        <a:buClr>
                          <a:schemeClr val="dk1"/>
                        </a:buClr>
                        <a:buSzPts val="1100"/>
                        <a:buFont typeface="Arial"/>
                        <a:buNone/>
                      </a:pPr>
                      <a:r>
                        <a:rPr b="1" lang="en-GB" sz="700">
                          <a:solidFill>
                            <a:schemeClr val="dk1"/>
                          </a:solidFill>
                          <a:latin typeface="Georgia"/>
                          <a:ea typeface="Georgia"/>
                          <a:cs typeface="Georgia"/>
                          <a:sym typeface="Georgia"/>
                        </a:rPr>
                        <a:t>Recruiting and Onboarding</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Investment in Supporting Intern and Full time recruiting into the CFT practice (Emory Goizueta Business School) (2019/2020)</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As member of Minneapolis Staff Advisory Council, Developed and Conducted Onboarding Survey to improve recruiting and onboarding processes (2014)</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Co-developed Advisory Business Case for Recruiting at the University of Minnesota (2013)</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Supporting Minneapolis office recruiting at the University of Minnesota (2007-2010)</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1" lang="en-GB" sz="700">
                          <a:solidFill>
                            <a:schemeClr val="dk1"/>
                          </a:solidFill>
                          <a:latin typeface="Georgia"/>
                          <a:ea typeface="Georgia"/>
                          <a:cs typeface="Georgia"/>
                          <a:sym typeface="Georgia"/>
                        </a:rPr>
                        <a:t>People Development </a:t>
                      </a:r>
                      <a:endParaRPr b="1"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Developed  9+ team members (including 5 in UK)  from no knowledge to delivery capable in the ORMB solution (2015-2017). 3 of whom have gone on to be managers at PwC</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Co-Instructor:  3 day Virtual Experienced Hire Training (2018)</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Training Developer and Co-Instructor: Introduction to Prepaid Cards (2014)</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Training Developer and Co-Instructor: for Card Issuing Training (2014)</a:t>
                      </a:r>
                      <a:endParaRPr sz="700">
                        <a:solidFill>
                          <a:schemeClr val="dk1"/>
                        </a:solidFill>
                        <a:latin typeface="Georgia"/>
                        <a:ea typeface="Georgia"/>
                        <a:cs typeface="Georgia"/>
                        <a:sym typeface="Georgia"/>
                      </a:endParaRPr>
                    </a:p>
                    <a:p>
                      <a:pPr indent="-120650" lvl="0" marL="1397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Advisory Start 2 day Intern Training Instructor (2013)</a:t>
                      </a:r>
                      <a:endParaRPr sz="700">
                        <a:solidFill>
                          <a:schemeClr val="dk1"/>
                        </a:solidFill>
                        <a:latin typeface="Georgia"/>
                        <a:ea typeface="Georgia"/>
                        <a:cs typeface="Georgia"/>
                        <a:sym typeface="Georgia"/>
                      </a:endParaRPr>
                    </a:p>
                    <a:p>
                      <a:pPr indent="0" lvl="0" marL="0" rtl="0" algn="l">
                        <a:spcBef>
                          <a:spcPts val="0"/>
                        </a:spcBef>
                        <a:spcAft>
                          <a:spcPts val="0"/>
                        </a:spcAft>
                        <a:buNone/>
                      </a:pPr>
                      <a:r>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b="1" i="1" lang="en-GB" sz="700">
                          <a:solidFill>
                            <a:schemeClr val="dk1"/>
                          </a:solidFill>
                          <a:latin typeface="Georgia"/>
                          <a:ea typeface="Georgia"/>
                          <a:cs typeface="Georgia"/>
                          <a:sym typeface="Georgia"/>
                        </a:rPr>
                        <a:t>Community Initiatives</a:t>
                      </a:r>
                      <a:endParaRPr b="1" i="1"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1" lang="en-GB" sz="700">
                          <a:solidFill>
                            <a:schemeClr val="dk1"/>
                          </a:solidFill>
                          <a:latin typeface="Georgia"/>
                          <a:ea typeface="Georgia"/>
                          <a:cs typeface="Georgia"/>
                          <a:sym typeface="Georgia"/>
                        </a:rPr>
                        <a:t>Contributor to community initiatives</a:t>
                      </a:r>
                      <a:r>
                        <a:rPr lang="en-GB" sz="700">
                          <a:solidFill>
                            <a:schemeClr val="dk1"/>
                          </a:solidFill>
                          <a:latin typeface="Georgia"/>
                          <a:ea typeface="Georgia"/>
                          <a:cs typeface="Georgia"/>
                          <a:sym typeface="Georgia"/>
                        </a:rPr>
                        <a:t> incld.: Junior Achievement, Special Olympics, Boys+Girls Club, Project Belize, Career Village</a:t>
                      </a:r>
                      <a:endParaRPr sz="700">
                        <a:solidFill>
                          <a:schemeClr val="dk1"/>
                        </a:solidFill>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5"/>
          <p:cNvSpPr txBox="1"/>
          <p:nvPr>
            <p:ph type="title"/>
          </p:nvPr>
        </p:nvSpPr>
        <p:spPr>
          <a:xfrm>
            <a:off x="533400" y="685800"/>
            <a:ext cx="8077200" cy="9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graveyard</a:t>
            </a:r>
            <a:endParaRPr/>
          </a:p>
        </p:txBody>
      </p:sp>
      <p:sp>
        <p:nvSpPr>
          <p:cNvPr id="266" name="Google Shape;266;p25"/>
          <p:cNvSpPr txBox="1"/>
          <p:nvPr>
            <p:ph idx="1" type="body"/>
          </p:nvPr>
        </p:nvSpPr>
        <p:spPr>
          <a:xfrm>
            <a:off x="533400" y="1752600"/>
            <a:ext cx="8077200" cy="4419600"/>
          </a:xfrm>
          <a:prstGeom prst="rect">
            <a:avLst/>
          </a:prstGeom>
        </p:spPr>
        <p:txBody>
          <a:bodyPr anchorCtr="0" anchor="t" bIns="91425" lIns="91425" spcFirstLastPara="1" rIns="91425" wrap="square" tIns="91425">
            <a:noAutofit/>
          </a:bodyPr>
          <a:lstStyle/>
          <a:p>
            <a:pPr indent="0" lvl="0" marL="0" rtl="0" algn="l">
              <a:spcBef>
                <a:spcPts val="0"/>
              </a:spcBef>
              <a:spcAft>
                <a:spcPts val="900"/>
              </a:spcAft>
              <a:buNone/>
            </a:pPr>
            <a:r>
              <a:t/>
            </a:r>
            <a:endParaRPr/>
          </a:p>
        </p:txBody>
      </p:sp>
      <p:sp>
        <p:nvSpPr>
          <p:cNvPr id="267" name="Google Shape;267;p25"/>
          <p:cNvSpPr txBox="1"/>
          <p:nvPr>
            <p:ph idx="12" type="sldNum"/>
          </p:nvPr>
        </p:nvSpPr>
        <p:spPr>
          <a:xfrm>
            <a:off x="7086600" y="6477000"/>
            <a:ext cx="1527000" cy="15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nvSpPr>
        <p:spPr>
          <a:xfrm>
            <a:off x="152400" y="152400"/>
            <a:ext cx="8534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dk1"/>
                </a:solidFill>
                <a:latin typeface="Georgia"/>
                <a:ea typeface="Georgia"/>
                <a:cs typeface="Georgia"/>
                <a:sym typeface="Georgia"/>
              </a:rPr>
              <a:t>2020 Advisory Director Candidate Business Case</a:t>
            </a:r>
            <a:endParaRPr sz="1800">
              <a:solidFill>
                <a:schemeClr val="dk1"/>
              </a:solidFill>
              <a:latin typeface="Arial"/>
              <a:ea typeface="Arial"/>
              <a:cs typeface="Arial"/>
              <a:sym typeface="Arial"/>
            </a:endParaRPr>
          </a:p>
        </p:txBody>
      </p:sp>
      <p:graphicFrame>
        <p:nvGraphicFramePr>
          <p:cNvPr id="273" name="Google Shape;273;p26"/>
          <p:cNvGraphicFramePr/>
          <p:nvPr/>
        </p:nvGraphicFramePr>
        <p:xfrm>
          <a:off x="152400" y="457206"/>
          <a:ext cx="3000000" cy="3000000"/>
        </p:xfrm>
        <a:graphic>
          <a:graphicData uri="http://schemas.openxmlformats.org/drawingml/2006/table">
            <a:tbl>
              <a:tblPr firstRow="1">
                <a:noFill/>
                <a:tableStyleId>{726CEF35-E87D-44F1-B121-F5B6ACD7697A}</a:tableStyleId>
              </a:tblPr>
              <a:tblGrid>
                <a:gridCol w="1709550"/>
                <a:gridCol w="1309100"/>
                <a:gridCol w="1287675"/>
              </a:tblGrid>
              <a:tr h="259600">
                <a:tc gridSpan="3">
                  <a:txBody>
                    <a:bodyPr/>
                    <a:lstStyle/>
                    <a:p>
                      <a:pPr indent="0" lvl="0" marL="0" rtl="0" algn="ctr">
                        <a:spcBef>
                          <a:spcPts val="0"/>
                        </a:spcBef>
                        <a:spcAft>
                          <a:spcPts val="0"/>
                        </a:spcAft>
                        <a:buNone/>
                      </a:pPr>
                      <a:r>
                        <a:rPr i="1" lang="en-GB" sz="1000"/>
                        <a:t>Background Information</a:t>
                      </a:r>
                      <a:endParaRPr i="1" sz="10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hMerge="1"/>
                <a:tc hMerge="1"/>
              </a:tr>
              <a:tr h="259800">
                <a:tc>
                  <a:txBody>
                    <a:bodyPr/>
                    <a:lstStyle/>
                    <a:p>
                      <a:pPr indent="0" lvl="0" marL="0" marR="0" rtl="0" algn="l">
                        <a:spcBef>
                          <a:spcPts val="0"/>
                        </a:spcBef>
                        <a:spcAft>
                          <a:spcPts val="0"/>
                        </a:spcAft>
                        <a:buNone/>
                      </a:pPr>
                      <a:r>
                        <a:rPr lang="en-GB" sz="900"/>
                        <a:t>Name </a:t>
                      </a:r>
                      <a:endParaRPr sz="900" u="none" cap="none" strike="noStrike"/>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Ore Phillips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u="none" cap="none" strike="noStrike"/>
                        <a:t>Vertical / Sponsor</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Financial Services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Horizontal/ Sector</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Competency/</a:t>
                      </a:r>
                      <a:r>
                        <a:rPr lang="en-GB" sz="900"/>
                        <a:t> </a:t>
                      </a:r>
                      <a:r>
                        <a:rPr lang="en-GB" sz="900"/>
                        <a:t>GTM</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rPr lang="en-GB" sz="800"/>
                        <a:t>CFT</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4925">
                <a:tc>
                  <a:txBody>
                    <a:bodyPr/>
                    <a:lstStyle/>
                    <a:p>
                      <a:pPr indent="0" lvl="0" marL="0" rtl="0" algn="l">
                        <a:spcBef>
                          <a:spcPts val="0"/>
                        </a:spcBef>
                        <a:spcAft>
                          <a:spcPts val="0"/>
                        </a:spcAft>
                        <a:buNone/>
                      </a:pPr>
                      <a:r>
                        <a:rPr lang="en-GB" sz="900">
                          <a:solidFill>
                            <a:schemeClr val="dk1"/>
                          </a:solidFill>
                        </a:rPr>
                        <a:t>VPL/Talent Consultant</a:t>
                      </a:r>
                      <a:endParaRPr sz="900">
                        <a:solidFill>
                          <a:schemeClr val="dk1"/>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Alison Moreira</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Relationship Leader / Coach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Ken LaManna/Jamie Buckley</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Current cohort</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solidFill>
                            <a:srgbClr val="FF0000"/>
                          </a:solidFill>
                        </a:rPr>
                        <a:t>SM3</a:t>
                      </a:r>
                      <a:endParaRPr sz="8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graphicFrame>
        <p:nvGraphicFramePr>
          <p:cNvPr id="274" name="Google Shape;274;p26"/>
          <p:cNvGraphicFramePr/>
          <p:nvPr/>
        </p:nvGraphicFramePr>
        <p:xfrm>
          <a:off x="4458725" y="457206"/>
          <a:ext cx="3000000" cy="3000000"/>
        </p:xfrm>
        <a:graphic>
          <a:graphicData uri="http://schemas.openxmlformats.org/drawingml/2006/table">
            <a:tbl>
              <a:tblPr firstRow="1">
                <a:noFill/>
                <a:tableStyleId>{726CEF35-E87D-44F1-B121-F5B6ACD7697A}</a:tableStyleId>
              </a:tblPr>
              <a:tblGrid>
                <a:gridCol w="1786350"/>
                <a:gridCol w="1511875"/>
                <a:gridCol w="1372100"/>
              </a:tblGrid>
              <a:tr h="238300">
                <a:tc>
                  <a:txBody>
                    <a:bodyPr/>
                    <a:lstStyle/>
                    <a:p>
                      <a:pPr indent="0" lvl="0" marL="0" rtl="0" algn="l">
                        <a:spcBef>
                          <a:spcPts val="0"/>
                        </a:spcBef>
                        <a:spcAft>
                          <a:spcPts val="0"/>
                        </a:spcAft>
                        <a:buNone/>
                      </a:pPr>
                      <a:r>
                        <a:rPr i="1" lang="en-GB" sz="900">
                          <a:solidFill>
                            <a:srgbClr val="FFFFFF"/>
                          </a:solidFill>
                        </a:rPr>
                        <a:t>Key Metrics</a:t>
                      </a:r>
                      <a:endParaRPr i="1" sz="9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PY19</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PY20 To Date</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362575">
                <a:tc>
                  <a:txBody>
                    <a:bodyPr/>
                    <a:lstStyle/>
                    <a:p>
                      <a:pPr indent="0" lvl="0" marL="0" marR="0" rtl="0" algn="l">
                        <a:spcBef>
                          <a:spcPts val="0"/>
                        </a:spcBef>
                        <a:spcAft>
                          <a:spcPts val="0"/>
                        </a:spcAft>
                        <a:buNone/>
                      </a:pPr>
                      <a:r>
                        <a:rPr lang="en-GB" sz="900"/>
                        <a:t>PY Client Utilization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lang="en-GB" sz="900"/>
                        <a:t>93%</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Font typeface="Arial"/>
                        <a:buNone/>
                      </a:pPr>
                      <a:r>
                        <a:rPr lang="en-GB" sz="900"/>
                        <a:t>106.7%</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Time Sheet Compliance</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900"/>
                        <a:t>98.6%</a:t>
                      </a:r>
                      <a:endParaRPr sz="9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Snapshot Reinvest (Y/N)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GB" sz="900"/>
                        <a:t>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GB" sz="900"/>
                        <a:t>WIP</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1325">
                <a:tc>
                  <a:txBody>
                    <a:bodyPr/>
                    <a:lstStyle/>
                    <a:p>
                      <a:pPr indent="0" lvl="0" marL="0" rtl="0" algn="l">
                        <a:spcBef>
                          <a:spcPts val="0"/>
                        </a:spcBef>
                        <a:spcAft>
                          <a:spcPts val="0"/>
                        </a:spcAft>
                        <a:buNone/>
                      </a:pPr>
                      <a:r>
                        <a:rPr lang="en-GB" sz="900"/>
                        <a:t>FY18 / 19 Tier (for reference only)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700"/>
                        <a:buFont typeface="Arial"/>
                        <a:buNone/>
                      </a:pPr>
                      <a:r>
                        <a:rPr lang="en-GB" sz="1000">
                          <a:solidFill>
                            <a:schemeClr val="dk1"/>
                          </a:solidFill>
                        </a:rPr>
                        <a:t>FY18: 2</a:t>
                      </a:r>
                      <a:endParaRPr sz="1000">
                        <a:solidFill>
                          <a:schemeClr val="dk1"/>
                        </a:solidFill>
                      </a:endParaRPr>
                    </a:p>
                    <a:p>
                      <a:pPr indent="0" lvl="0" marL="0" rtl="0" algn="ctr">
                        <a:spcBef>
                          <a:spcPts val="0"/>
                        </a:spcBef>
                        <a:spcAft>
                          <a:spcPts val="0"/>
                        </a:spcAft>
                        <a:buClr>
                          <a:schemeClr val="dk1"/>
                        </a:buClr>
                        <a:buSzPts val="700"/>
                        <a:buFont typeface="Arial"/>
                        <a:buNone/>
                      </a:pPr>
                      <a:r>
                        <a:rPr lang="en-GB" sz="1000">
                          <a:solidFill>
                            <a:schemeClr val="dk1"/>
                          </a:solidFill>
                        </a:rPr>
                        <a:t>FY19: 2</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GB" sz="900"/>
                        <a:t>TBD</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0600">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Yrs of Service / In grade</a:t>
                      </a:r>
                      <a:endParaRPr sz="9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t>4</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t>5</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75" name="Google Shape;275;p26"/>
          <p:cNvGraphicFramePr/>
          <p:nvPr/>
        </p:nvGraphicFramePr>
        <p:xfrm>
          <a:off x="152400" y="2499931"/>
          <a:ext cx="3000000" cy="3000000"/>
        </p:xfrm>
        <a:graphic>
          <a:graphicData uri="http://schemas.openxmlformats.org/drawingml/2006/table">
            <a:tbl>
              <a:tblPr firstRow="1">
                <a:noFill/>
                <a:tableStyleId>{726CEF35-E87D-44F1-B121-F5B6ACD7697A}</a:tableStyleId>
              </a:tblPr>
              <a:tblGrid>
                <a:gridCol w="1709550"/>
                <a:gridCol w="3963525"/>
                <a:gridCol w="3303575"/>
              </a:tblGrid>
              <a:tr h="1296125">
                <a:tc>
                  <a:txBody>
                    <a:bodyPr/>
                    <a:lstStyle/>
                    <a:p>
                      <a:pPr indent="0" lvl="0" marL="0" rtl="0" algn="l">
                        <a:spcBef>
                          <a:spcPts val="0"/>
                        </a:spcBef>
                        <a:spcAft>
                          <a:spcPts val="0"/>
                        </a:spcAft>
                        <a:buNone/>
                      </a:pPr>
                      <a:r>
                        <a:rPr b="0" lang="en-GB" sz="900">
                          <a:solidFill>
                            <a:srgbClr val="000000"/>
                          </a:solidFill>
                        </a:rPr>
                        <a:t>Proposed Business Case / Readiness of Candidate</a:t>
                      </a:r>
                      <a:endParaRPr b="0" sz="900">
                        <a:solidFill>
                          <a:srgbClr val="000000"/>
                        </a:solidFill>
                      </a:endParaRPr>
                    </a:p>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GB" sz="900"/>
                        <a:t>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i="1" lang="en-GB" sz="700">
                          <a:solidFill>
                            <a:srgbClr val="000000"/>
                          </a:solidFill>
                          <a:latin typeface="Georgia"/>
                          <a:ea typeface="Georgia"/>
                          <a:cs typeface="Georgia"/>
                          <a:sym typeface="Georgia"/>
                        </a:rPr>
                        <a:t>A.</a:t>
                      </a:r>
                      <a:r>
                        <a:rPr lang="en-GB" sz="700">
                          <a:solidFill>
                            <a:schemeClr val="dk1"/>
                          </a:solidFill>
                          <a:latin typeface="Georgia"/>
                          <a:ea typeface="Georgia"/>
                          <a:cs typeface="Georgia"/>
                          <a:sym typeface="Georgia"/>
                        </a:rPr>
                        <a:t>Ore is currently </a:t>
                      </a:r>
                      <a:r>
                        <a:rPr lang="en-GB" sz="700" u="sng">
                          <a:solidFill>
                            <a:schemeClr val="dk1"/>
                          </a:solidFill>
                          <a:latin typeface="Georgia"/>
                          <a:ea typeface="Georgia"/>
                          <a:cs typeface="Georgia"/>
                          <a:sym typeface="Georgia"/>
                        </a:rPr>
                        <a:t>acting Director personally leading all CFT efforts and relationships at a CFT growth client</a:t>
                      </a:r>
                      <a:r>
                        <a:rPr lang="en-GB" sz="700">
                          <a:solidFill>
                            <a:schemeClr val="dk1"/>
                          </a:solidFill>
                          <a:latin typeface="Georgia"/>
                          <a:ea typeface="Georgia"/>
                          <a:cs typeface="Georgia"/>
                          <a:sym typeface="Georgia"/>
                        </a:rPr>
                        <a:t> (Aries) that is in year 2 of a 3 yr, 71 country business transformation planned to go through the end of 2021.</a:t>
                      </a:r>
                      <a:r>
                        <a:rPr i="1" lang="en-GB" sz="700">
                          <a:solidFill>
                            <a:srgbClr val="000000"/>
                          </a:solidFill>
                          <a:latin typeface="Georgia"/>
                          <a:ea typeface="Georgia"/>
                          <a:cs typeface="Georgia"/>
                          <a:sym typeface="Georgia"/>
                        </a:rPr>
                        <a:t> </a:t>
                      </a:r>
                      <a:endParaRPr i="1" sz="700">
                        <a:solidFill>
                          <a:srgbClr val="000000"/>
                        </a:solidFill>
                        <a:latin typeface="Georgia"/>
                        <a:ea typeface="Georgia"/>
                        <a:cs typeface="Georgia"/>
                        <a:sym typeface="Georgia"/>
                      </a:endParaRPr>
                    </a:p>
                    <a:p>
                      <a:pPr indent="0" lvl="0" marL="0" rtl="0" algn="l">
                        <a:spcBef>
                          <a:spcPts val="0"/>
                        </a:spcBef>
                        <a:spcAft>
                          <a:spcPts val="0"/>
                        </a:spcAft>
                        <a:buNone/>
                      </a:pPr>
                      <a:r>
                        <a:rPr i="1" lang="en-GB" sz="700">
                          <a:solidFill>
                            <a:srgbClr val="000000"/>
                          </a:solidFill>
                          <a:latin typeface="Georgia"/>
                          <a:ea typeface="Georgia"/>
                          <a:cs typeface="Georgia"/>
                          <a:sym typeface="Georgia"/>
                        </a:rPr>
                        <a:t> Beginning with his primary Client (Aries), Ore is positioned to lead the delivery of “post deal” finance function standup and integration engagements with expertise in (a)  Finance Op Model, (b) Functional Process +Controls Transformation (c) Finance/Tech Program Management </a:t>
                      </a:r>
                      <a:endParaRPr i="1" sz="700">
                        <a:solidFill>
                          <a:srgbClr val="000000"/>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Positioning: </a:t>
                      </a:r>
                      <a:r>
                        <a:rPr b="0" lang="en-GB" sz="700">
                          <a:solidFill>
                            <a:schemeClr val="dk1"/>
                          </a:solidFill>
                          <a:latin typeface="Georgia"/>
                          <a:ea typeface="Georgia"/>
                          <a:cs typeface="Georgia"/>
                          <a:sym typeface="Georgia"/>
                        </a:rPr>
                        <a:t>Ore is currently acting Director personally leading all CFT efforts and relationships at a CFT growth client (Aries) that is in year 2 of a 3+ yr, 71 country business transformation planned to go through the end of 2021. </a:t>
                      </a:r>
                      <a:endParaRPr b="0" sz="700">
                        <a:solidFill>
                          <a:schemeClr val="dk1"/>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Revenue Stability and Growth: </a:t>
                      </a:r>
                      <a:endParaRPr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In FY 20 Ore led CFT efforts to grow CFT billed revenues from $0 to $4M (growing from a 3 to 12 person team),  and supported broader x-los additional billed revenue of $8M related to the business transformation. ($12M x-los).</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For FY 21 Ore is the PwC face and leader of a CFT FY21 pipeline of $6-$7M  of which $1M is already signed work. (x-los pipeline $14-$15) </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Note:POST COVID, CFT led by Ore has signed two new “phase 1” SOW’s worth $2M for work starting mid April and going into FY21. The broader transformation is highly public and considered business critical with the BU leader communicating a plan to aggressively push forward to completion in spite of COVID-19</a:t>
                      </a:r>
                      <a:endParaRPr b="0" sz="700">
                        <a:solidFill>
                          <a:schemeClr val="dk1"/>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Expanding Relationships: </a:t>
                      </a:r>
                      <a:r>
                        <a:rPr b="0" lang="en-GB" sz="700">
                          <a:solidFill>
                            <a:schemeClr val="dk1"/>
                          </a:solidFill>
                          <a:latin typeface="Georgia"/>
                          <a:ea typeface="Georgia"/>
                          <a:cs typeface="Georgia"/>
                          <a:sym typeface="Georgia"/>
                        </a:rPr>
                        <a:t>He owns the CFT relationship with the client project financial sponsors (Aries Controller, Head of Treasury,  CFO, Program Manager)  </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Ore beginning as the face of CFT relationship with the Aries Controller, established new relationship with the Head of Treasury (leading to 1 of 2 Post COVID signed SOWs), deepened our relationship with Transformation Program Manager (leading to the second Post COVID SOW) and deepened existing relationship with the BU CFO (delivering full finance finance function operating model to the CFO)</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Broader Teaming: </a:t>
                      </a:r>
                      <a:r>
                        <a:rPr b="0" lang="en-GB" sz="700">
                          <a:solidFill>
                            <a:schemeClr val="dk1"/>
                          </a:solidFill>
                          <a:latin typeface="Georgia"/>
                          <a:ea typeface="Georgia"/>
                          <a:cs typeface="Georgia"/>
                          <a:sym typeface="Georgia"/>
                        </a:rPr>
                        <a:t> In addition to leading all CFT work, he leads the x-los handling all of all  PMO onboarding and billing across advisory, tax, assurance</a:t>
                      </a:r>
                      <a:endParaRPr b="0" sz="700">
                        <a:solidFill>
                          <a:srgbClr val="000000"/>
                        </a:solidFill>
                        <a:latin typeface="Georgia"/>
                        <a:ea typeface="Georgia"/>
                        <a:cs typeface="Georgia"/>
                        <a:sym typeface="Georgia"/>
                      </a:endParaRPr>
                    </a:p>
                  </a:txBody>
                  <a:tcPr marT="0" marB="0" marR="9145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i="1" lang="en-GB" sz="700">
                          <a:solidFill>
                            <a:srgbClr val="000000"/>
                          </a:solidFill>
                          <a:latin typeface="Georgia"/>
                          <a:ea typeface="Georgia"/>
                          <a:cs typeface="Georgia"/>
                          <a:sym typeface="Georgia"/>
                        </a:rPr>
                        <a:t>B. Ore is secondarily positioned to continue a track record of enabling expansion of CFT’s revenue/client base through the revenue optimization and billing transformation engagements in the revenue innovation sub-practice. </a:t>
                      </a:r>
                      <a:endParaRPr i="1" sz="700">
                        <a:solidFill>
                          <a:srgbClr val="000000"/>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Revenue Leakage Expertise: </a:t>
                      </a:r>
                      <a:r>
                        <a:rPr b="0" lang="en-GB" sz="700">
                          <a:solidFill>
                            <a:schemeClr val="dk1"/>
                          </a:solidFill>
                          <a:latin typeface="Georgia"/>
                          <a:ea typeface="Georgia"/>
                          <a:cs typeface="Georgia"/>
                          <a:sym typeface="Georgia"/>
                        </a:rPr>
                        <a:t>He has used his O2C expertise to help develop a timely - given COVID-19 -  CFT revenue leakage/optimization offering (led by Jamie Buckley)</a:t>
                      </a:r>
                      <a:r>
                        <a:rPr lang="en-GB" sz="700">
                          <a:solidFill>
                            <a:schemeClr val="dk1"/>
                          </a:solidFill>
                          <a:latin typeface="Georgia"/>
                          <a:ea typeface="Georgia"/>
                          <a:cs typeface="Georgia"/>
                          <a:sym typeface="Georgia"/>
                        </a:rPr>
                        <a:t> </a:t>
                      </a:r>
                      <a:r>
                        <a:rPr b="0" lang="en-GB" sz="700">
                          <a:solidFill>
                            <a:schemeClr val="dk1"/>
                          </a:solidFill>
                          <a:latin typeface="Georgia"/>
                          <a:ea typeface="Georgia"/>
                          <a:cs typeface="Georgia"/>
                          <a:sym typeface="Georgia"/>
                        </a:rPr>
                        <a:t>which he is positioned to deliver</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After leading an organic revenue leakage analysis on the 5+ year (&gt;$20M) billing transformation at ICE, Ore helped craft a revenue leakage/optimization POV which was shared in Digital Realty and State Street billing transformation proposals, as well as with multiple PwC GEPS (incld. OCC, and NASDAQ)</a:t>
                      </a:r>
                      <a:endParaRPr b="0" i="1"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Ore has also delivered on revenue opportunity engagement at Visa CSS business unit and is fully skilled up to pursue and deliver on revenue optimization assessments, both as part of, or independent of broader billing transformation efforts. </a:t>
                      </a:r>
                      <a:endParaRPr sz="700">
                        <a:solidFill>
                          <a:schemeClr val="dk1"/>
                        </a:solidFill>
                        <a:latin typeface="Georgia"/>
                        <a:ea typeface="Georgia"/>
                        <a:cs typeface="Georgia"/>
                        <a:sym typeface="Georgia"/>
                      </a:endParaRPr>
                    </a:p>
                    <a:p>
                      <a:pPr indent="-94849" lvl="0" marL="1007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Billing Transformation Expertise: </a:t>
                      </a:r>
                      <a:r>
                        <a:rPr b="0" lang="en-GB" sz="700">
                          <a:solidFill>
                            <a:schemeClr val="dk1"/>
                          </a:solidFill>
                          <a:latin typeface="Georgia"/>
                          <a:ea typeface="Georgia"/>
                          <a:cs typeface="Georgia"/>
                          <a:sym typeface="Georgia"/>
                        </a:rPr>
                        <a:t>He has been a significant contributor to both the pursuit AND the delivery for 3+ significant billing transformation innovation engagement wins </a:t>
                      </a:r>
                      <a:endParaRPr b="0" i="1"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@ICE (FY15-19): Conducted the initial Assessment that ultimately  ended up in a 5+ Yr &gt;$20M CFT revenue billing transformation. Led Manager on 5+ go lives on this engagement</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@State Street (FY19): Ore was the pen on the proposal, participant in client pitch conference calls supporting Jamie Buckley/Tapan N. Ore also penned the first draft SOW after the win.</a:t>
                      </a:r>
                      <a:r>
                        <a:rPr lang="en-GB" sz="700">
                          <a:solidFill>
                            <a:schemeClr val="dk1"/>
                          </a:solidFill>
                          <a:latin typeface="Georgia"/>
                          <a:ea typeface="Georgia"/>
                          <a:cs typeface="Georgia"/>
                          <a:sym typeface="Georgia"/>
                        </a:rPr>
                        <a:t> </a:t>
                      </a:r>
                      <a:endParaRPr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t>
                      </a:r>
                      <a:r>
                        <a:rPr b="0" lang="en-GB" sz="700">
                          <a:solidFill>
                            <a:schemeClr val="dk1"/>
                          </a:solidFill>
                          <a:latin typeface="Georgia"/>
                          <a:ea typeface="Georgia"/>
                          <a:cs typeface="Georgia"/>
                          <a:sym typeface="Georgia"/>
                        </a:rPr>
                        <a:t>Digital Realty (FY19)</a:t>
                      </a:r>
                      <a:r>
                        <a:rPr lang="en-GB" sz="700">
                          <a:solidFill>
                            <a:schemeClr val="dk1"/>
                          </a:solidFill>
                          <a:latin typeface="Georgia"/>
                          <a:ea typeface="Georgia"/>
                          <a:cs typeface="Georgia"/>
                          <a:sym typeface="Georgia"/>
                        </a:rPr>
                        <a:t>: </a:t>
                      </a:r>
                      <a:r>
                        <a:rPr b="0" lang="en-GB" sz="700">
                          <a:solidFill>
                            <a:schemeClr val="dk1"/>
                          </a:solidFill>
                          <a:latin typeface="Georgia"/>
                          <a:ea typeface="Georgia"/>
                          <a:cs typeface="Georgia"/>
                          <a:sym typeface="Georgia"/>
                        </a:rPr>
                        <a:t>Penned first stage ORMB proposal (incld. approach+ pricing) supporting Tapan N./Jamie B. and attended the orals, until ORMB was no longer the chosen solution</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@Visa FY19: Proposal team member and was subsequently day to day lead that delivered an O2C implementation health check to Visa CIO </a:t>
                      </a:r>
                      <a:endParaRPr b="0" sz="700">
                        <a:solidFill>
                          <a:schemeClr val="dk1"/>
                        </a:solidFill>
                        <a:latin typeface="Georgia"/>
                        <a:ea typeface="Georgia"/>
                        <a:cs typeface="Georgia"/>
                        <a:sym typeface="Georgia"/>
                      </a:endParaRPr>
                    </a:p>
                    <a:p>
                      <a:pPr indent="-130850" lvl="1" marL="23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@Western Union and @Moneygram  supported Mitch Ivey and Warren Elizerin billing transformation proposal losses </a:t>
                      </a:r>
                      <a:endParaRPr sz="700">
                        <a:solidFill>
                          <a:schemeClr val="dk1"/>
                        </a:solidFill>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90375">
                <a:tc>
                  <a:txBody>
                    <a:bodyPr/>
                    <a:lstStyle/>
                    <a:p>
                      <a:pPr indent="0" lvl="0" marL="0" marR="0" rtl="0" algn="l">
                        <a:spcBef>
                          <a:spcPts val="0"/>
                        </a:spcBef>
                        <a:spcAft>
                          <a:spcPts val="0"/>
                        </a:spcAft>
                        <a:buNone/>
                      </a:pPr>
                      <a:r>
                        <a:rPr lang="en-GB" sz="900"/>
                        <a:t>Key Clients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12+ yrs, 3 practices &amp; 2 countries, 15+ clients across 3 industries</a:t>
                      </a:r>
                      <a:r>
                        <a:rPr lang="en-GB" sz="700">
                          <a:solidFill>
                            <a:schemeClr val="dk1"/>
                          </a:solidFill>
                          <a:latin typeface="Georgia"/>
                          <a:ea typeface="Georgia"/>
                          <a:cs typeface="Georgia"/>
                          <a:sym typeface="Georgia"/>
                        </a:rPr>
                        <a:t>: FS/FinTech/Tech</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Current: Client Aries  (FS Digital BU Launch) - significant CFT growth opportunity</a:t>
                      </a:r>
                      <a:endParaRPr b="1"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latin typeface="Georgia"/>
                          <a:ea typeface="Georgia"/>
                          <a:cs typeface="Georgia"/>
                          <a:sym typeface="Georgia"/>
                        </a:rPr>
                        <a:t>Future: Client Aries (FS Business Unit)  90%, Rev Opt and Deals Opportunities (10%)</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FS: ICE, NT, Fidelity, USBank, Ameriprise, BMO, GMAC, </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Tech/FinTech: Intuit, Visa, Lawson, Microsoft, Imation</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0925">
                <a:tc>
                  <a:txBody>
                    <a:bodyPr/>
                    <a:lstStyle/>
                    <a:p>
                      <a:pPr indent="0" lvl="0" marL="0" marR="0" rtl="0" algn="l">
                        <a:spcBef>
                          <a:spcPts val="0"/>
                        </a:spcBef>
                        <a:spcAft>
                          <a:spcPts val="0"/>
                        </a:spcAft>
                        <a:buNone/>
                      </a:pPr>
                      <a:r>
                        <a:rPr lang="en-GB" sz="900"/>
                        <a:t>Distinctive Experiences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SzPts val="600"/>
                        <a:buNone/>
                      </a:pPr>
                      <a:r>
                        <a:rPr b="1" lang="en-GB" sz="700">
                          <a:solidFill>
                            <a:schemeClr val="dk1"/>
                          </a:solidFill>
                          <a:latin typeface="Georgia"/>
                          <a:ea typeface="Georgia"/>
                          <a:cs typeface="Georgia"/>
                          <a:sym typeface="Georgia"/>
                        </a:rPr>
                        <a:t>1. Distinctive Digital Currency Finance Transformation Leadership Experience - </a:t>
                      </a:r>
                      <a:r>
                        <a:rPr lang="en-GB" sz="700">
                          <a:solidFill>
                            <a:schemeClr val="dk1"/>
                          </a:solidFill>
                          <a:latin typeface="Georgia"/>
                          <a:ea typeface="Georgia"/>
                          <a:cs typeface="Georgia"/>
                          <a:sym typeface="Georgia"/>
                        </a:rPr>
                        <a:t>Accounting Operations/Treasury/FP&amp;A/Finance PMO/Tech (2019 - Present): </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Acting Director leading delivery of CFT transformation (Acct Operations, FP&amp;A and Treasury) engagement in which we are defining key finance processes and technology to support </a:t>
                      </a:r>
                      <a:r>
                        <a:rPr b="1" lang="en-GB" sz="700">
                          <a:solidFill>
                            <a:schemeClr val="dk1"/>
                          </a:solidFill>
                          <a:latin typeface="Georgia"/>
                          <a:ea typeface="Georgia"/>
                          <a:cs typeface="Georgia"/>
                          <a:sym typeface="Georgia"/>
                        </a:rPr>
                        <a:t>first of its kind Blockchain Digital Currency</a:t>
                      </a:r>
                      <a:r>
                        <a:rPr lang="en-GB" sz="700">
                          <a:solidFill>
                            <a:schemeClr val="dk1"/>
                          </a:solidFill>
                          <a:latin typeface="Georgia"/>
                          <a:ea typeface="Georgia"/>
                          <a:cs typeface="Georgia"/>
                          <a:sym typeface="Georgia"/>
                        </a:rPr>
                        <a:t> initiative.  Also working closely w/key global (PwC Switzerland) Blockchain and Stablecoin experts in delivery</a:t>
                      </a:r>
                      <a:endParaRPr b="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2. Unique International (US and EMEA) Finance Transformation Leadership Experience - </a:t>
                      </a:r>
                      <a:r>
                        <a:rPr lang="en-GB" sz="700">
                          <a:solidFill>
                            <a:schemeClr val="dk1"/>
                          </a:solidFill>
                          <a:latin typeface="Georgia"/>
                          <a:ea typeface="Georgia"/>
                          <a:cs typeface="Georgia"/>
                          <a:sym typeface="Georgia"/>
                        </a:rPr>
                        <a:t>Order to Cash (2015 - 2017)</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Demonstrated ability to lead across global boundaries. Delivered on three go lives in the UK with a combined team of US and UK staff while also maintaining leadership of 1 US implementation. Oversaw go lives and support in countries incld  UK, Italy, Israel along with 12 month relocation to UK. </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nvSpPr>
        <p:spPr>
          <a:xfrm>
            <a:off x="152400" y="152400"/>
            <a:ext cx="8534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dk1"/>
                </a:solidFill>
                <a:latin typeface="Georgia"/>
                <a:ea typeface="Georgia"/>
                <a:cs typeface="Georgia"/>
                <a:sym typeface="Georgia"/>
              </a:rPr>
              <a:t>2020 Advisory Director Candidate Business Case</a:t>
            </a:r>
            <a:endParaRPr sz="1800">
              <a:solidFill>
                <a:schemeClr val="dk1"/>
              </a:solidFill>
              <a:latin typeface="Arial"/>
              <a:ea typeface="Arial"/>
              <a:cs typeface="Arial"/>
              <a:sym typeface="Arial"/>
            </a:endParaRPr>
          </a:p>
        </p:txBody>
      </p:sp>
      <p:graphicFrame>
        <p:nvGraphicFramePr>
          <p:cNvPr id="281" name="Google Shape;281;p27"/>
          <p:cNvGraphicFramePr/>
          <p:nvPr/>
        </p:nvGraphicFramePr>
        <p:xfrm>
          <a:off x="152400" y="457206"/>
          <a:ext cx="3000000" cy="3000000"/>
        </p:xfrm>
        <a:graphic>
          <a:graphicData uri="http://schemas.openxmlformats.org/drawingml/2006/table">
            <a:tbl>
              <a:tblPr firstRow="1">
                <a:noFill/>
                <a:tableStyleId>{726CEF35-E87D-44F1-B121-F5B6ACD7697A}</a:tableStyleId>
              </a:tblPr>
              <a:tblGrid>
                <a:gridCol w="1709550"/>
                <a:gridCol w="1309100"/>
                <a:gridCol w="1287675"/>
              </a:tblGrid>
              <a:tr h="259600">
                <a:tc gridSpan="3">
                  <a:txBody>
                    <a:bodyPr/>
                    <a:lstStyle/>
                    <a:p>
                      <a:pPr indent="0" lvl="0" marL="0" rtl="0" algn="ctr">
                        <a:spcBef>
                          <a:spcPts val="0"/>
                        </a:spcBef>
                        <a:spcAft>
                          <a:spcPts val="0"/>
                        </a:spcAft>
                        <a:buNone/>
                      </a:pPr>
                      <a:r>
                        <a:rPr i="1" lang="en-GB" sz="1000"/>
                        <a:t>Background Information</a:t>
                      </a:r>
                      <a:endParaRPr i="1" sz="10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hMerge="1"/>
                <a:tc hMerge="1"/>
              </a:tr>
              <a:tr h="259800">
                <a:tc>
                  <a:txBody>
                    <a:bodyPr/>
                    <a:lstStyle/>
                    <a:p>
                      <a:pPr indent="0" lvl="0" marL="0" marR="0" rtl="0" algn="l">
                        <a:spcBef>
                          <a:spcPts val="0"/>
                        </a:spcBef>
                        <a:spcAft>
                          <a:spcPts val="0"/>
                        </a:spcAft>
                        <a:buNone/>
                      </a:pPr>
                      <a:r>
                        <a:rPr lang="en-GB" sz="900"/>
                        <a:t>Name </a:t>
                      </a:r>
                      <a:endParaRPr sz="900" u="none" cap="none" strike="noStrike"/>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Ore Phillips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u="none" cap="none" strike="noStrike"/>
                        <a:t>Vertical / Sponsor</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Financial Services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Horizontal/ Sector</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Competency/</a:t>
                      </a:r>
                      <a:r>
                        <a:rPr lang="en-GB" sz="900"/>
                        <a:t> </a:t>
                      </a:r>
                      <a:r>
                        <a:rPr lang="en-GB" sz="900"/>
                        <a:t>GTM</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rPr lang="en-GB" sz="800"/>
                        <a:t>CFT</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4925">
                <a:tc>
                  <a:txBody>
                    <a:bodyPr/>
                    <a:lstStyle/>
                    <a:p>
                      <a:pPr indent="0" lvl="0" marL="0" rtl="0" algn="l">
                        <a:spcBef>
                          <a:spcPts val="0"/>
                        </a:spcBef>
                        <a:spcAft>
                          <a:spcPts val="0"/>
                        </a:spcAft>
                        <a:buNone/>
                      </a:pPr>
                      <a:r>
                        <a:rPr lang="en-GB" sz="900">
                          <a:solidFill>
                            <a:schemeClr val="dk1"/>
                          </a:solidFill>
                        </a:rPr>
                        <a:t>VPL/Talent Consultant</a:t>
                      </a:r>
                      <a:endParaRPr sz="900">
                        <a:solidFill>
                          <a:schemeClr val="dk1"/>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Alison Moreira</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Relationship Leader / Coach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Ken LaManna/Jamie Buckley</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Current cohort</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solidFill>
                            <a:srgbClr val="FF0000"/>
                          </a:solidFill>
                        </a:rPr>
                        <a:t>SM3</a:t>
                      </a:r>
                      <a:endParaRPr sz="8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graphicFrame>
        <p:nvGraphicFramePr>
          <p:cNvPr id="282" name="Google Shape;282;p27"/>
          <p:cNvGraphicFramePr/>
          <p:nvPr/>
        </p:nvGraphicFramePr>
        <p:xfrm>
          <a:off x="4458725" y="457206"/>
          <a:ext cx="3000000" cy="3000000"/>
        </p:xfrm>
        <a:graphic>
          <a:graphicData uri="http://schemas.openxmlformats.org/drawingml/2006/table">
            <a:tbl>
              <a:tblPr firstRow="1">
                <a:noFill/>
                <a:tableStyleId>{726CEF35-E87D-44F1-B121-F5B6ACD7697A}</a:tableStyleId>
              </a:tblPr>
              <a:tblGrid>
                <a:gridCol w="1786350"/>
                <a:gridCol w="1511875"/>
                <a:gridCol w="1372100"/>
              </a:tblGrid>
              <a:tr h="238300">
                <a:tc>
                  <a:txBody>
                    <a:bodyPr/>
                    <a:lstStyle/>
                    <a:p>
                      <a:pPr indent="0" lvl="0" marL="0" rtl="0" algn="l">
                        <a:spcBef>
                          <a:spcPts val="0"/>
                        </a:spcBef>
                        <a:spcAft>
                          <a:spcPts val="0"/>
                        </a:spcAft>
                        <a:buNone/>
                      </a:pPr>
                      <a:r>
                        <a:rPr i="1" lang="en-GB" sz="900">
                          <a:solidFill>
                            <a:srgbClr val="FFFFFF"/>
                          </a:solidFill>
                        </a:rPr>
                        <a:t>Key Metrics</a:t>
                      </a:r>
                      <a:endParaRPr i="1" sz="9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PY19</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PY20 To Date</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362575">
                <a:tc>
                  <a:txBody>
                    <a:bodyPr/>
                    <a:lstStyle/>
                    <a:p>
                      <a:pPr indent="0" lvl="0" marL="0" marR="0" rtl="0" algn="l">
                        <a:spcBef>
                          <a:spcPts val="0"/>
                        </a:spcBef>
                        <a:spcAft>
                          <a:spcPts val="0"/>
                        </a:spcAft>
                        <a:buNone/>
                      </a:pPr>
                      <a:r>
                        <a:rPr lang="en-GB" sz="900"/>
                        <a:t>PY Client Utilization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Font typeface="Arial"/>
                        <a:buNone/>
                      </a:pPr>
                      <a:r>
                        <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Font typeface="Arial"/>
                        <a:buNone/>
                      </a:pPr>
                      <a:r>
                        <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Time Sheet Compliance</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Snapshot Reinvest (Y/N)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900"/>
                        <a:t>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1325">
                <a:tc>
                  <a:txBody>
                    <a:bodyPr/>
                    <a:lstStyle/>
                    <a:p>
                      <a:pPr indent="0" lvl="0" marL="0" rtl="0" algn="l">
                        <a:spcBef>
                          <a:spcPts val="0"/>
                        </a:spcBef>
                        <a:spcAft>
                          <a:spcPts val="0"/>
                        </a:spcAft>
                        <a:buNone/>
                      </a:pPr>
                      <a:r>
                        <a:rPr lang="en-GB" sz="900"/>
                        <a:t>FY18 / 19 Tier (for reference only)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700"/>
                        <a:buFont typeface="Arial"/>
                        <a:buNone/>
                      </a:pPr>
                      <a:r>
                        <a:rPr lang="en-GB" sz="1000">
                          <a:solidFill>
                            <a:schemeClr val="dk1"/>
                          </a:solidFill>
                        </a:rPr>
                        <a:t>FY18: 2</a:t>
                      </a:r>
                      <a:endParaRPr sz="1000">
                        <a:solidFill>
                          <a:schemeClr val="dk1"/>
                        </a:solidFill>
                      </a:endParaRPr>
                    </a:p>
                    <a:p>
                      <a:pPr indent="0" lvl="0" marL="0" rtl="0" algn="l">
                        <a:spcBef>
                          <a:spcPts val="0"/>
                        </a:spcBef>
                        <a:spcAft>
                          <a:spcPts val="0"/>
                        </a:spcAft>
                        <a:buClr>
                          <a:schemeClr val="dk1"/>
                        </a:buClr>
                        <a:buSzPts val="700"/>
                        <a:buFont typeface="Arial"/>
                        <a:buNone/>
                      </a:pPr>
                      <a:r>
                        <a:rPr lang="en-GB" sz="1000">
                          <a:solidFill>
                            <a:schemeClr val="dk1"/>
                          </a:solidFill>
                        </a:rPr>
                        <a:t>FY19: 2</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0600">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Yrs of Service / In grade</a:t>
                      </a:r>
                      <a:endParaRPr sz="9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solidFill>
                            <a:srgbClr val="FF0000"/>
                          </a:solidFill>
                        </a:rPr>
                        <a:t>5</a:t>
                      </a:r>
                      <a:endParaRPr i="0" sz="800">
                        <a:solidFill>
                          <a:srgbClr val="FF0000"/>
                        </a:solidFill>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83" name="Google Shape;283;p27"/>
          <p:cNvGraphicFramePr/>
          <p:nvPr/>
        </p:nvGraphicFramePr>
        <p:xfrm>
          <a:off x="152400" y="2499931"/>
          <a:ext cx="3000000" cy="3000000"/>
        </p:xfrm>
        <a:graphic>
          <a:graphicData uri="http://schemas.openxmlformats.org/drawingml/2006/table">
            <a:tbl>
              <a:tblPr firstRow="1">
                <a:noFill/>
                <a:tableStyleId>{726CEF35-E87D-44F1-B121-F5B6ACD7697A}</a:tableStyleId>
              </a:tblPr>
              <a:tblGrid>
                <a:gridCol w="1709550"/>
                <a:gridCol w="3963525"/>
                <a:gridCol w="3303575"/>
              </a:tblGrid>
              <a:tr h="1296125">
                <a:tc rowSpan="3">
                  <a:txBody>
                    <a:bodyPr/>
                    <a:lstStyle/>
                    <a:p>
                      <a:pPr indent="0" lvl="0" marL="0" rtl="0" algn="l">
                        <a:spcBef>
                          <a:spcPts val="0"/>
                        </a:spcBef>
                        <a:spcAft>
                          <a:spcPts val="0"/>
                        </a:spcAft>
                        <a:buNone/>
                      </a:pPr>
                      <a:r>
                        <a:rPr b="0" lang="en-GB" sz="900">
                          <a:solidFill>
                            <a:srgbClr val="000000"/>
                          </a:solidFill>
                        </a:rPr>
                        <a:t>Proposed Business Case / Readiness of Candidate</a:t>
                      </a:r>
                      <a:endParaRPr b="0" sz="900">
                        <a:solidFill>
                          <a:srgbClr val="000000"/>
                        </a:solidFill>
                      </a:endParaRPr>
                    </a:p>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GB" sz="900"/>
                        <a:t>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gridSpan="2">
                  <a:txBody>
                    <a:bodyPr/>
                    <a:lstStyle/>
                    <a:p>
                      <a:pPr indent="0" lvl="0" marL="0" rtl="0" algn="l">
                        <a:spcBef>
                          <a:spcPts val="0"/>
                        </a:spcBef>
                        <a:spcAft>
                          <a:spcPts val="0"/>
                        </a:spcAft>
                        <a:buNone/>
                      </a:pPr>
                      <a:r>
                        <a:rPr b="1" lang="en-GB" sz="700">
                          <a:solidFill>
                            <a:schemeClr val="dk1"/>
                          </a:solidFill>
                          <a:latin typeface="Georgia"/>
                          <a:ea typeface="Georgia"/>
                          <a:cs typeface="Georgia"/>
                          <a:sym typeface="Georgia"/>
                        </a:rPr>
                        <a:t>1. </a:t>
                      </a:r>
                      <a:r>
                        <a:rPr lang="en-GB" sz="700">
                          <a:solidFill>
                            <a:schemeClr val="dk1"/>
                          </a:solidFill>
                          <a:latin typeface="Georgia"/>
                          <a:ea typeface="Georgia"/>
                          <a:cs typeface="Georgia"/>
                          <a:sym typeface="Georgia"/>
                        </a:rPr>
                        <a:t>Ore is currently </a:t>
                      </a:r>
                      <a:r>
                        <a:rPr b="1" lang="en-GB" sz="700" u="sng">
                          <a:solidFill>
                            <a:schemeClr val="dk1"/>
                          </a:solidFill>
                          <a:latin typeface="Georgia"/>
                          <a:ea typeface="Georgia"/>
                          <a:cs typeface="Georgia"/>
                          <a:sym typeface="Georgia"/>
                        </a:rPr>
                        <a:t>actin</a:t>
                      </a:r>
                      <a:r>
                        <a:rPr lang="en-GB" sz="700" u="sng">
                          <a:solidFill>
                            <a:schemeClr val="dk1"/>
                          </a:solidFill>
                          <a:latin typeface="Georgia"/>
                          <a:ea typeface="Georgia"/>
                          <a:cs typeface="Georgia"/>
                          <a:sym typeface="Georgia"/>
                        </a:rPr>
                        <a:t>g </a:t>
                      </a:r>
                      <a:r>
                        <a:rPr b="1" lang="en-GB" sz="700" u="sng">
                          <a:solidFill>
                            <a:schemeClr val="dk1"/>
                          </a:solidFill>
                          <a:latin typeface="Georgia"/>
                          <a:ea typeface="Georgia"/>
                          <a:cs typeface="Georgia"/>
                          <a:sym typeface="Georgia"/>
                        </a:rPr>
                        <a:t>Director personally </a:t>
                      </a:r>
                      <a:r>
                        <a:rPr lang="en-GB" sz="700" u="sng">
                          <a:solidFill>
                            <a:schemeClr val="dk1"/>
                          </a:solidFill>
                          <a:latin typeface="Georgia"/>
                          <a:ea typeface="Georgia"/>
                          <a:cs typeface="Georgia"/>
                          <a:sym typeface="Georgia"/>
                        </a:rPr>
                        <a:t>leading all CFT efforts and relationships at a CFT</a:t>
                      </a:r>
                      <a:r>
                        <a:rPr b="1" lang="en-GB" sz="700" u="sng">
                          <a:solidFill>
                            <a:schemeClr val="dk1"/>
                          </a:solidFill>
                          <a:latin typeface="Georgia"/>
                          <a:ea typeface="Georgia"/>
                          <a:cs typeface="Georgia"/>
                          <a:sym typeface="Georgia"/>
                        </a:rPr>
                        <a:t> growth client</a:t>
                      </a:r>
                      <a:r>
                        <a:rPr b="1" lang="en-GB" sz="700">
                          <a:solidFill>
                            <a:schemeClr val="dk1"/>
                          </a:solidFill>
                          <a:latin typeface="Georgia"/>
                          <a:ea typeface="Georgia"/>
                          <a:cs typeface="Georgia"/>
                          <a:sym typeface="Georgia"/>
                        </a:rPr>
                        <a:t> (Aries) that is in year </a:t>
                      </a:r>
                      <a:r>
                        <a:rPr lang="en-GB" sz="700">
                          <a:solidFill>
                            <a:schemeClr val="dk1"/>
                          </a:solidFill>
                          <a:latin typeface="Georgia"/>
                          <a:ea typeface="Georgia"/>
                          <a:cs typeface="Georgia"/>
                          <a:sym typeface="Georgia"/>
                        </a:rPr>
                        <a:t>2</a:t>
                      </a:r>
                      <a:r>
                        <a:rPr b="1" lang="en-GB" sz="700">
                          <a:solidFill>
                            <a:schemeClr val="dk1"/>
                          </a:solidFill>
                          <a:latin typeface="Georgia"/>
                          <a:ea typeface="Georgia"/>
                          <a:cs typeface="Georgia"/>
                          <a:sym typeface="Georgia"/>
                        </a:rPr>
                        <a:t> of a 3 yr</a:t>
                      </a:r>
                      <a:r>
                        <a:rPr lang="en-GB" sz="700">
                          <a:solidFill>
                            <a:schemeClr val="dk1"/>
                          </a:solidFill>
                          <a:latin typeface="Georgia"/>
                          <a:ea typeface="Georgia"/>
                          <a:cs typeface="Georgia"/>
                          <a:sym typeface="Georgia"/>
                        </a:rPr>
                        <a:t>, </a:t>
                      </a:r>
                      <a:r>
                        <a:rPr b="1" lang="en-GB" sz="700">
                          <a:solidFill>
                            <a:schemeClr val="dk1"/>
                          </a:solidFill>
                          <a:latin typeface="Georgia"/>
                          <a:ea typeface="Georgia"/>
                          <a:cs typeface="Georgia"/>
                          <a:sym typeface="Georgia"/>
                        </a:rPr>
                        <a:t>71 country business </a:t>
                      </a:r>
                      <a:r>
                        <a:rPr lang="en-GB" sz="700">
                          <a:solidFill>
                            <a:schemeClr val="dk1"/>
                          </a:solidFill>
                          <a:latin typeface="Georgia"/>
                          <a:ea typeface="Georgia"/>
                          <a:cs typeface="Georgia"/>
                          <a:sym typeface="Georgia"/>
                        </a:rPr>
                        <a:t>transformation</a:t>
                      </a: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planned to go through the end of 2021</a:t>
                      </a:r>
                      <a:r>
                        <a:rPr b="1" lang="en-GB" sz="700">
                          <a:solidFill>
                            <a:schemeClr val="dk1"/>
                          </a:solidFill>
                          <a:latin typeface="Georgia"/>
                          <a:ea typeface="Georgia"/>
                          <a:cs typeface="Georgia"/>
                          <a:sym typeface="Georgia"/>
                        </a:rPr>
                        <a:t>. He </a:t>
                      </a:r>
                      <a:r>
                        <a:rPr lang="en-GB" sz="700">
                          <a:solidFill>
                            <a:schemeClr val="dk1"/>
                          </a:solidFill>
                          <a:latin typeface="Georgia"/>
                          <a:ea typeface="Georgia"/>
                          <a:cs typeface="Georgia"/>
                          <a:sym typeface="Georgia"/>
                        </a:rPr>
                        <a:t>owns</a:t>
                      </a:r>
                      <a:r>
                        <a:rPr b="1" lang="en-GB" sz="700">
                          <a:solidFill>
                            <a:schemeClr val="dk1"/>
                          </a:solidFill>
                          <a:latin typeface="Georgia"/>
                          <a:ea typeface="Georgia"/>
                          <a:cs typeface="Georgia"/>
                          <a:sym typeface="Georgia"/>
                        </a:rPr>
                        <a:t> the CFT </a:t>
                      </a:r>
                      <a:r>
                        <a:rPr lang="en-GB" sz="700">
                          <a:solidFill>
                            <a:schemeClr val="dk1"/>
                          </a:solidFill>
                          <a:latin typeface="Georgia"/>
                          <a:ea typeface="Georgia"/>
                          <a:cs typeface="Georgia"/>
                          <a:sym typeface="Georgia"/>
                        </a:rPr>
                        <a:t>relationship with the client project financial sponsors (BU Controller, BU Treasurer + BU CFO) and is a key account team member supporting the x-los relationships and delivery of over $12+M (CFT $4M) billed in FY 20 </a:t>
                      </a:r>
                      <a:endParaRPr b="1"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In FY 20 Ore led CFT efforts to grow CFT billed revenues from $0 to $4M (growing from a 3 to 12 person team),  and supported broader x-los additional billed revenue of $8M related to the business transformation. ($12M x-los). In addition to leading all CFT work, he leads the x-los PMO handling all onboarding/billing across </a:t>
                      </a:r>
                      <a:r>
                        <a:rPr b="0" lang="en-GB" sz="700">
                          <a:solidFill>
                            <a:schemeClr val="dk1"/>
                          </a:solidFill>
                          <a:latin typeface="Georgia"/>
                          <a:ea typeface="Georgia"/>
                          <a:cs typeface="Georgia"/>
                          <a:sym typeface="Georgia"/>
                        </a:rPr>
                        <a:t>Adv/Tax/ Assurance</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For FY 21 given an October 2020 wave 1 (18 of 70 countries) go live, and Wave 2 and 3 planned for mid and late 2021, Ore is the PwC face and leader of a CFT FY21 pipeline of $6-$7M  (of which $1M is already signed work for the June to August period). Note:POST COVID, CFT led by Ore has signed two new SOW’s worth $2M for work starting mid April. The broader transformation is highly public and considered business critical with the BU leader communicating a plan to aggressively push forward to completion.</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Ore is the face of our relationship with the BU Controller (CFT project financial sponsor), established new relationship with the BU Head of Treasury (leading to 1 of 2 Post COVID signed SOWs), deepened our relationship with Program Manager (leading to the second Post COVID SOW) and deepened existing relationship with the BU CFO (delivered full finance finance function operating model to the CFO)</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rgbClr val="FF0000"/>
                        </a:buClr>
                        <a:buSzPts val="700"/>
                        <a:buFont typeface="Georgia"/>
                        <a:buChar char="●"/>
                      </a:pPr>
                      <a:r>
                        <a:rPr b="0" lang="en-GB" sz="700">
                          <a:solidFill>
                            <a:srgbClr val="FF0000"/>
                          </a:solidFill>
                          <a:latin typeface="Georgia"/>
                          <a:ea typeface="Georgia"/>
                          <a:cs typeface="Georgia"/>
                          <a:sym typeface="Georgia"/>
                        </a:rPr>
                        <a:t>As noted by Client GEP - “--------------”</a:t>
                      </a:r>
                      <a:endParaRPr b="0" sz="700">
                        <a:solidFill>
                          <a:srgbClr val="000000"/>
                        </a:solidFill>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r>
              <a:tr h="1280425">
                <a:tc vMerge="1"/>
                <a:tc gridSpan="2">
                  <a:txBody>
                    <a:bodyPr/>
                    <a:lstStyle/>
                    <a:p>
                      <a:pPr indent="0" lvl="0" marL="0" rtl="0" algn="l">
                        <a:spcBef>
                          <a:spcPts val="0"/>
                        </a:spcBef>
                        <a:spcAft>
                          <a:spcPts val="0"/>
                        </a:spcAft>
                        <a:buClr>
                          <a:schemeClr val="dk1"/>
                        </a:buClr>
                        <a:buSzPts val="1100"/>
                        <a:buFont typeface="Arial"/>
                        <a:buNone/>
                      </a:pPr>
                      <a:r>
                        <a:rPr b="1" lang="en-GB" sz="700">
                          <a:solidFill>
                            <a:schemeClr val="dk1"/>
                          </a:solidFill>
                          <a:latin typeface="Georgia"/>
                          <a:ea typeface="Georgia"/>
                          <a:cs typeface="Georgia"/>
                          <a:sym typeface="Georgia"/>
                        </a:rPr>
                        <a:t>2. Ore is positioned to continue a track record of </a:t>
                      </a:r>
                      <a:r>
                        <a:rPr b="1" lang="en-GB" sz="700" u="sng">
                          <a:solidFill>
                            <a:schemeClr val="dk1"/>
                          </a:solidFill>
                          <a:latin typeface="Georgia"/>
                          <a:ea typeface="Georgia"/>
                          <a:cs typeface="Georgia"/>
                          <a:sym typeface="Georgia"/>
                        </a:rPr>
                        <a:t>enabling expansion of CFT’s revenue/client base through a revenue leakage offering he helped develop.</a:t>
                      </a:r>
                      <a:r>
                        <a:rPr b="1" lang="en-GB" sz="700">
                          <a:solidFill>
                            <a:schemeClr val="dk1"/>
                          </a:solidFill>
                          <a:latin typeface="Georgia"/>
                          <a:ea typeface="Georgia"/>
                          <a:cs typeface="Georgia"/>
                          <a:sym typeface="Georgia"/>
                        </a:rPr>
                        <a:t> </a:t>
                      </a:r>
                      <a:endParaRPr b="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1" lang="en-GB" sz="700">
                          <a:solidFill>
                            <a:schemeClr val="dk1"/>
                          </a:solidFill>
                          <a:latin typeface="Georgia"/>
                          <a:ea typeface="Georgia"/>
                          <a:cs typeface="Georgia"/>
                          <a:sym typeface="Georgia"/>
                        </a:rPr>
                        <a:t>(A)  He has used his O2C expertise to help develop a timely - given COVID-19 -</a:t>
                      </a:r>
                      <a:r>
                        <a:rPr lang="en-GB" sz="700">
                          <a:solidFill>
                            <a:schemeClr val="dk1"/>
                          </a:solidFill>
                          <a:latin typeface="Georgia"/>
                          <a:ea typeface="Georgia"/>
                          <a:cs typeface="Georgia"/>
                          <a:sym typeface="Georgia"/>
                        </a:rPr>
                        <a:t> </a:t>
                      </a:r>
                      <a:r>
                        <a:rPr b="1" lang="en-GB" sz="700">
                          <a:solidFill>
                            <a:schemeClr val="dk1"/>
                          </a:solidFill>
                          <a:latin typeface="Georgia"/>
                          <a:ea typeface="Georgia"/>
                          <a:cs typeface="Georgia"/>
                          <a:sym typeface="Georgia"/>
                        </a:rPr>
                        <a:t> CFT revenue leakage/optimization offering (led by Jamie Buckley) </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After leading an organic revenue leakage analysis on the 5+ year (&gt;$20M) billing transformation at ICE, Ore helped craft a revenue leakage/optimization POV which was shared in Digital Realty and State Street billing transformation proposals, as well as with multiple PwC GEPS (incld. OCC, and NASDAQ)</a:t>
                      </a:r>
                      <a:endParaRPr i="1"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Ore has also delivered on revenue opportunity engagement at Visa CSS business unit and is fully skilled up to pursue and deliver on revenue optimization assessments, both as part of, or independent of broader billing transformation efforts.  Given the macro environment, we expect an increase in appetite for this service.</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1" lang="en-GB" sz="700">
                          <a:solidFill>
                            <a:schemeClr val="dk1"/>
                          </a:solidFill>
                          <a:latin typeface="Georgia"/>
                          <a:ea typeface="Georgia"/>
                          <a:cs typeface="Georgia"/>
                          <a:sym typeface="Georgia"/>
                        </a:rPr>
                        <a:t>(B) He has been a significant contributor to the pursuit process for 3+ significant revenue innovation wins and  </a:t>
                      </a:r>
                      <a:endParaRPr i="1"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@State Street FY19: Ore was the pen on the proposal for Jamie Buckley/Tapan N., internal pursuit action items (pricing, pitch reframing) and attended conference calls w/client leading to the win. Ore also penned the first draft SOW post win.</a:t>
                      </a:r>
                      <a:r>
                        <a:rPr b="1" lang="en-GB" sz="700">
                          <a:solidFill>
                            <a:schemeClr val="dk1"/>
                          </a:solidFill>
                          <a:latin typeface="Georgia"/>
                          <a:ea typeface="Georgia"/>
                          <a:cs typeface="Georgia"/>
                          <a:sym typeface="Georgia"/>
                        </a:rPr>
                        <a:t> </a:t>
                      </a:r>
                      <a:endParaRPr b="1"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1" lang="en-GB" sz="700">
                          <a:solidFill>
                            <a:schemeClr val="dk1"/>
                          </a:solidFill>
                          <a:latin typeface="Georgia"/>
                          <a:ea typeface="Georgia"/>
                          <a:cs typeface="Georgia"/>
                          <a:sym typeface="Georgia"/>
                        </a:rPr>
                        <a:t>@</a:t>
                      </a:r>
                      <a:r>
                        <a:rPr lang="en-GB" sz="700">
                          <a:solidFill>
                            <a:schemeClr val="dk1"/>
                          </a:solidFill>
                          <a:latin typeface="Georgia"/>
                          <a:ea typeface="Georgia"/>
                          <a:cs typeface="Georgia"/>
                          <a:sym typeface="Georgia"/>
                        </a:rPr>
                        <a:t>Digital Realty FY19</a:t>
                      </a: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Penned first stage ORMB proposal (incld. approach+ pricing) for Tapan N./Jamie B.,  attended the orals, until ORMB was no longer the chosen solution</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@Visa FY19: Ore was on the proposal team that won and was the day to day lead that delivered an O2C implementation health to Visa CIO </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@ICE (FY15-19): Conducted the initial Assessment that ultimately  ended up in a 5+ Yr &gt;$20M CFT revenue billing transformation. Led multiple go lives on this engagement</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@Western Union loss: Proposal driver and led the pitch for the orals conf. call (Partner: Mitch Ivey) @Moneygram International: Proposal writer and supported client Q&amp;A  </a:t>
                      </a:r>
                      <a:endParaRPr b="1" sz="700">
                        <a:solidFill>
                          <a:schemeClr val="dk1"/>
                        </a:solidFill>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r>
              <a:tr h="638575">
                <a:tc vMerge="1"/>
                <a:tc gridSpan="2">
                  <a:txBody>
                    <a:bodyPr/>
                    <a:lstStyle/>
                    <a:p>
                      <a:pPr indent="0" lvl="0" marL="0" rtl="0" algn="l">
                        <a:spcBef>
                          <a:spcPts val="0"/>
                        </a:spcBef>
                        <a:spcAft>
                          <a:spcPts val="0"/>
                        </a:spcAft>
                        <a:buClr>
                          <a:schemeClr val="dk1"/>
                        </a:buClr>
                        <a:buSzPts val="1100"/>
                        <a:buFont typeface="Arial"/>
                        <a:buNone/>
                      </a:pPr>
                      <a:r>
                        <a:rPr lang="en-GB" sz="700">
                          <a:solidFill>
                            <a:schemeClr val="dk1"/>
                          </a:solidFill>
                          <a:latin typeface="Georgia"/>
                          <a:ea typeface="Georgia"/>
                          <a:cs typeface="Georgia"/>
                          <a:sym typeface="Georgia"/>
                        </a:rPr>
                        <a:t>3. As the deals platform expects ___________________, Ore</a:t>
                      </a:r>
                      <a:r>
                        <a:rPr b="1" lang="en-GB" sz="700">
                          <a:solidFill>
                            <a:schemeClr val="dk1"/>
                          </a:solidFill>
                          <a:latin typeface="Georgia"/>
                          <a:ea typeface="Georgia"/>
                          <a:cs typeface="Georgia"/>
                          <a:sym typeface="Georgia"/>
                        </a:rPr>
                        <a:t> is also positioned to deliver finance function standup engagements resulting from the Deals pipeline, just as he has done at Aries. </a:t>
                      </a:r>
                      <a:r>
                        <a:rPr lang="en-GB" sz="700">
                          <a:solidFill>
                            <a:schemeClr val="dk1"/>
                          </a:solidFill>
                          <a:latin typeface="Georgia"/>
                          <a:ea typeface="Georgia"/>
                          <a:cs typeface="Georgia"/>
                          <a:sym typeface="Georgia"/>
                        </a:rPr>
                        <a:t>He has historically delivered on the following core post deal capabilities </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1" lang="en-GB" sz="700">
                          <a:solidFill>
                            <a:schemeClr val="dk1"/>
                          </a:solidFill>
                          <a:latin typeface="Georgia"/>
                          <a:ea typeface="Georgia"/>
                          <a:cs typeface="Georgia"/>
                          <a:sym typeface="Georgia"/>
                        </a:rPr>
                        <a:t>(a)  </a:t>
                      </a:r>
                      <a:r>
                        <a:rPr b="1" i="1" lang="en-GB" sz="700">
                          <a:solidFill>
                            <a:schemeClr val="dk1"/>
                          </a:solidFill>
                          <a:latin typeface="Georgia"/>
                          <a:ea typeface="Georgia"/>
                          <a:cs typeface="Georgia"/>
                          <a:sym typeface="Georgia"/>
                        </a:rPr>
                        <a:t>Finance Op Model, (b) Process + Controls Architecture Design (c)Finance/Tech PMO Expertise - </a:t>
                      </a:r>
                      <a:r>
                        <a:rPr lang="en-GB" sz="700">
                          <a:solidFill>
                            <a:schemeClr val="dk1"/>
                          </a:solidFill>
                          <a:latin typeface="Georgia"/>
                          <a:ea typeface="Georgia"/>
                          <a:cs typeface="Georgia"/>
                          <a:sym typeface="Georgia"/>
                        </a:rPr>
                        <a:t>@Aries, Currently standing up finance function for new FS venture including op model, finance process design and Finance program management, @USBank Org Structure, Op model and Process Design for New venture, @Visa CSS BU Services revenue redesign, @ICE drove finance process and tech integration, @Ameriprise, BMO Harris Bank, US Bank, Assurant, GMAC, Deluxe, Microsoft, Lawson delivered  on risk and operational/financial risk and controls engagements given his prior experience in the Risk+Reg and Risk Assurance practices</a:t>
                      </a:r>
                      <a:endParaRPr sz="700">
                        <a:solidFill>
                          <a:schemeClr val="dk1"/>
                        </a:solidFill>
                        <a:latin typeface="Georgia"/>
                        <a:ea typeface="Georgia"/>
                        <a:cs typeface="Georgia"/>
                        <a:sym typeface="Georgia"/>
                      </a:endParaRPr>
                    </a:p>
                    <a:p>
                      <a:pPr indent="0" lvl="0" marL="0" rtl="0" algn="l">
                        <a:spcBef>
                          <a:spcPts val="0"/>
                        </a:spcBef>
                        <a:spcAft>
                          <a:spcPts val="0"/>
                        </a:spcAft>
                        <a:buNone/>
                      </a:pPr>
                      <a:r>
                        <a:t/>
                      </a:r>
                      <a:endParaRPr b="1" sz="700">
                        <a:solidFill>
                          <a:schemeClr val="dk1"/>
                        </a:solidFill>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r>
              <a:tr h="390375">
                <a:tc>
                  <a:txBody>
                    <a:bodyPr/>
                    <a:lstStyle/>
                    <a:p>
                      <a:pPr indent="0" lvl="0" marL="0" marR="0" rtl="0" algn="l">
                        <a:spcBef>
                          <a:spcPts val="0"/>
                        </a:spcBef>
                        <a:spcAft>
                          <a:spcPts val="0"/>
                        </a:spcAft>
                        <a:buNone/>
                      </a:pPr>
                      <a:r>
                        <a:rPr lang="en-GB" sz="900"/>
                        <a:t>Key Clients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12+ yrs, 3 practices &amp; 2 countries,</a:t>
                      </a:r>
                      <a:r>
                        <a:rPr b="1" lang="en-GB" sz="700">
                          <a:solidFill>
                            <a:schemeClr val="dk1"/>
                          </a:solidFill>
                          <a:latin typeface="Georgia"/>
                          <a:ea typeface="Georgia"/>
                          <a:cs typeface="Georgia"/>
                          <a:sym typeface="Georgia"/>
                        </a:rPr>
                        <a:t> 15+ clients across 3 industries</a:t>
                      </a:r>
                      <a:r>
                        <a:rPr lang="en-GB" sz="700">
                          <a:solidFill>
                            <a:schemeClr val="dk1"/>
                          </a:solidFill>
                          <a:latin typeface="Georgia"/>
                          <a:ea typeface="Georgia"/>
                          <a:cs typeface="Georgia"/>
                          <a:sym typeface="Georgia"/>
                        </a:rPr>
                        <a:t>: FS/FinTech/Tech</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Current: Client Aries  (FS Digital BU Launch) - significant CFT growth opportunity</a:t>
                      </a:r>
                      <a:endParaRPr b="1"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latin typeface="Georgia"/>
                          <a:ea typeface="Georgia"/>
                          <a:cs typeface="Georgia"/>
                          <a:sym typeface="Georgia"/>
                        </a:rPr>
                        <a:t>Future: Client Aries (FS Business Unit)  90%, Rev Opt and Deals Opportunities (10%)</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FS: ICE, NT, Fidelity, USBank, Ameriprise, BMO, GMAC, </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Tech/FinTech: Intuit, Visa, Lawson, Microsoft, Imation</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0925">
                <a:tc>
                  <a:txBody>
                    <a:bodyPr/>
                    <a:lstStyle/>
                    <a:p>
                      <a:pPr indent="0" lvl="0" marL="0" marR="0" rtl="0" algn="l">
                        <a:spcBef>
                          <a:spcPts val="0"/>
                        </a:spcBef>
                        <a:spcAft>
                          <a:spcPts val="0"/>
                        </a:spcAft>
                        <a:buNone/>
                      </a:pPr>
                      <a:r>
                        <a:rPr lang="en-GB" sz="900"/>
                        <a:t>Distinctive Experiences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SzPts val="600"/>
                        <a:buNone/>
                      </a:pPr>
                      <a:r>
                        <a:rPr b="1" lang="en-GB" sz="700">
                          <a:solidFill>
                            <a:schemeClr val="dk1"/>
                          </a:solidFill>
                          <a:latin typeface="Georgia"/>
                          <a:ea typeface="Georgia"/>
                          <a:cs typeface="Georgia"/>
                          <a:sym typeface="Georgia"/>
                        </a:rPr>
                        <a:t>1. Distinctive Digital Currency Finance Transformation Leadership Experience - </a:t>
                      </a:r>
                      <a:r>
                        <a:rPr lang="en-GB" sz="700">
                          <a:solidFill>
                            <a:schemeClr val="dk1"/>
                          </a:solidFill>
                          <a:latin typeface="Georgia"/>
                          <a:ea typeface="Georgia"/>
                          <a:cs typeface="Georgia"/>
                          <a:sym typeface="Georgia"/>
                        </a:rPr>
                        <a:t>Accounting Operations/Treasury/FP&amp;A/Finance PMO/Tech (2019 - 2020): </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Acting Director leading delivery of CFT transformation (Acct Operations, FP&amp;A and Treasury) engagement in which we are defining key finance processes and technology to support </a:t>
                      </a:r>
                      <a:r>
                        <a:rPr b="1" lang="en-GB" sz="700">
                          <a:solidFill>
                            <a:schemeClr val="dk1"/>
                          </a:solidFill>
                          <a:latin typeface="Georgia"/>
                          <a:ea typeface="Georgia"/>
                          <a:cs typeface="Georgia"/>
                          <a:sym typeface="Georgia"/>
                        </a:rPr>
                        <a:t>first of its kind Blockchain Digital Currency</a:t>
                      </a:r>
                      <a:r>
                        <a:rPr lang="en-GB" sz="700">
                          <a:solidFill>
                            <a:schemeClr val="dk1"/>
                          </a:solidFill>
                          <a:latin typeface="Georgia"/>
                          <a:ea typeface="Georgia"/>
                          <a:cs typeface="Georgia"/>
                          <a:sym typeface="Georgia"/>
                        </a:rPr>
                        <a:t> initiative.  Also working closely w/key global (PwC Switzerland) Blockchain and Stablecoin experts in delivery</a:t>
                      </a:r>
                      <a:endParaRPr b="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2. Unique International (US and EMEA) Finance Transformation Leadership Experience - </a:t>
                      </a:r>
                      <a:r>
                        <a:rPr lang="en-GB" sz="700">
                          <a:solidFill>
                            <a:schemeClr val="dk1"/>
                          </a:solidFill>
                          <a:latin typeface="Georgia"/>
                          <a:ea typeface="Georgia"/>
                          <a:cs typeface="Georgia"/>
                          <a:sym typeface="Georgia"/>
                        </a:rPr>
                        <a:t>Order to Cash (2015 - 2017)</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Demonstrated ability to lead across global boundaries. Delivered on three go lives in the UK with a combined team of US and UK staff while also maintaining leadership of 1 US implementation. Oversaw go lives and support in countries incld  UK, Italy, Israel along with 12 month relocation to UK. </a:t>
                      </a:r>
                      <a:endParaRPr sz="700">
                        <a:latin typeface="Georgia"/>
                        <a:ea typeface="Georgia"/>
                        <a:cs typeface="Georgia"/>
                        <a:sym typeface="Georgia"/>
                      </a:endParaRPr>
                    </a:p>
                  </a:txBody>
                  <a:tcPr marT="0" marB="0"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nvSpPr>
        <p:spPr>
          <a:xfrm>
            <a:off x="152400" y="152400"/>
            <a:ext cx="8534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dk1"/>
                </a:solidFill>
                <a:latin typeface="Georgia"/>
                <a:ea typeface="Georgia"/>
                <a:cs typeface="Georgia"/>
                <a:sym typeface="Georgia"/>
              </a:rPr>
              <a:t>2020 Advisory Director Candidate Business Case</a:t>
            </a:r>
            <a:endParaRPr sz="1800">
              <a:solidFill>
                <a:schemeClr val="dk1"/>
              </a:solidFill>
              <a:latin typeface="Arial"/>
              <a:ea typeface="Arial"/>
              <a:cs typeface="Arial"/>
              <a:sym typeface="Arial"/>
            </a:endParaRPr>
          </a:p>
        </p:txBody>
      </p:sp>
      <p:graphicFrame>
        <p:nvGraphicFramePr>
          <p:cNvPr id="289" name="Google Shape;289;p28"/>
          <p:cNvGraphicFramePr/>
          <p:nvPr/>
        </p:nvGraphicFramePr>
        <p:xfrm>
          <a:off x="152400" y="457206"/>
          <a:ext cx="3000000" cy="3000000"/>
        </p:xfrm>
        <a:graphic>
          <a:graphicData uri="http://schemas.openxmlformats.org/drawingml/2006/table">
            <a:tbl>
              <a:tblPr firstRow="1">
                <a:noFill/>
                <a:tableStyleId>{726CEF35-E87D-44F1-B121-F5B6ACD7697A}</a:tableStyleId>
              </a:tblPr>
              <a:tblGrid>
                <a:gridCol w="1767925"/>
                <a:gridCol w="1250725"/>
                <a:gridCol w="1287675"/>
              </a:tblGrid>
              <a:tr h="259600">
                <a:tc gridSpan="3">
                  <a:txBody>
                    <a:bodyPr/>
                    <a:lstStyle/>
                    <a:p>
                      <a:pPr indent="0" lvl="0" marL="0" rtl="0" algn="ctr">
                        <a:spcBef>
                          <a:spcPts val="0"/>
                        </a:spcBef>
                        <a:spcAft>
                          <a:spcPts val="0"/>
                        </a:spcAft>
                        <a:buNone/>
                      </a:pPr>
                      <a:r>
                        <a:rPr i="1" lang="en-GB" sz="1000"/>
                        <a:t>Background Information</a:t>
                      </a:r>
                      <a:endParaRPr i="1" sz="10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hMerge="1"/>
                <a:tc hMerge="1"/>
              </a:tr>
              <a:tr h="259800">
                <a:tc>
                  <a:txBody>
                    <a:bodyPr/>
                    <a:lstStyle/>
                    <a:p>
                      <a:pPr indent="0" lvl="0" marL="0" marR="0" rtl="0" algn="l">
                        <a:spcBef>
                          <a:spcPts val="0"/>
                        </a:spcBef>
                        <a:spcAft>
                          <a:spcPts val="0"/>
                        </a:spcAft>
                        <a:buNone/>
                      </a:pPr>
                      <a:r>
                        <a:rPr lang="en-GB" sz="900"/>
                        <a:t>Name </a:t>
                      </a:r>
                      <a:endParaRPr sz="900" u="none" cap="none" strike="noStrike"/>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Ore Phillips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u="none" cap="none" strike="noStrike"/>
                        <a:t>Vertical / Sponsor</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Financial Services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Horizontal/ Sector</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Competency/</a:t>
                      </a:r>
                      <a:r>
                        <a:rPr lang="en-GB" sz="900"/>
                        <a:t> </a:t>
                      </a:r>
                      <a:r>
                        <a:rPr lang="en-GB" sz="900"/>
                        <a:t>GTM</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rPr lang="en-GB" sz="800"/>
                        <a:t>CFT</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4925">
                <a:tc>
                  <a:txBody>
                    <a:bodyPr/>
                    <a:lstStyle/>
                    <a:p>
                      <a:pPr indent="0" lvl="0" marL="0" rtl="0" algn="l">
                        <a:spcBef>
                          <a:spcPts val="0"/>
                        </a:spcBef>
                        <a:spcAft>
                          <a:spcPts val="0"/>
                        </a:spcAft>
                        <a:buNone/>
                      </a:pPr>
                      <a:r>
                        <a:rPr lang="en-GB" sz="900">
                          <a:solidFill>
                            <a:schemeClr val="dk1"/>
                          </a:solidFill>
                        </a:rPr>
                        <a:t>VPL/Talent Consultant</a:t>
                      </a:r>
                      <a:endParaRPr sz="900">
                        <a:solidFill>
                          <a:schemeClr val="dk1"/>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Alison Moreira</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Relationship Leader / Coach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Ken LaManna/Jamie Buckley</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Current cohort</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solidFill>
                            <a:srgbClr val="FF0000"/>
                          </a:solidFill>
                        </a:rPr>
                        <a:t>SM3</a:t>
                      </a:r>
                      <a:endParaRPr sz="8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graphicFrame>
        <p:nvGraphicFramePr>
          <p:cNvPr id="290" name="Google Shape;290;p28"/>
          <p:cNvGraphicFramePr/>
          <p:nvPr/>
        </p:nvGraphicFramePr>
        <p:xfrm>
          <a:off x="4458725" y="457206"/>
          <a:ext cx="3000000" cy="3000000"/>
        </p:xfrm>
        <a:graphic>
          <a:graphicData uri="http://schemas.openxmlformats.org/drawingml/2006/table">
            <a:tbl>
              <a:tblPr firstRow="1">
                <a:noFill/>
                <a:tableStyleId>{726CEF35-E87D-44F1-B121-F5B6ACD7697A}</a:tableStyleId>
              </a:tblPr>
              <a:tblGrid>
                <a:gridCol w="1786350"/>
                <a:gridCol w="1511875"/>
                <a:gridCol w="1372100"/>
              </a:tblGrid>
              <a:tr h="238300">
                <a:tc>
                  <a:txBody>
                    <a:bodyPr/>
                    <a:lstStyle/>
                    <a:p>
                      <a:pPr indent="0" lvl="0" marL="0" rtl="0" algn="l">
                        <a:spcBef>
                          <a:spcPts val="0"/>
                        </a:spcBef>
                        <a:spcAft>
                          <a:spcPts val="0"/>
                        </a:spcAft>
                        <a:buNone/>
                      </a:pPr>
                      <a:r>
                        <a:rPr i="1" lang="en-GB" sz="900">
                          <a:solidFill>
                            <a:srgbClr val="FFFFFF"/>
                          </a:solidFill>
                        </a:rPr>
                        <a:t>Key Metrics</a:t>
                      </a:r>
                      <a:endParaRPr i="1" sz="9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PY19</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PY20 To Date</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362575">
                <a:tc>
                  <a:txBody>
                    <a:bodyPr/>
                    <a:lstStyle/>
                    <a:p>
                      <a:pPr indent="0" lvl="0" marL="0" marR="0" rtl="0" algn="l">
                        <a:spcBef>
                          <a:spcPts val="0"/>
                        </a:spcBef>
                        <a:spcAft>
                          <a:spcPts val="0"/>
                        </a:spcAft>
                        <a:buNone/>
                      </a:pPr>
                      <a:r>
                        <a:rPr lang="en-GB" sz="900"/>
                        <a:t>PY </a:t>
                      </a:r>
                      <a:r>
                        <a:rPr lang="en-GB" sz="900"/>
                        <a:t>Client Utilization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Font typeface="Arial"/>
                        <a:buNone/>
                      </a:pPr>
                      <a:r>
                        <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Font typeface="Arial"/>
                        <a:buNone/>
                      </a:pPr>
                      <a:r>
                        <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Time Sheet Compliance</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2525">
                <a:tc>
                  <a:txBody>
                    <a:bodyPr/>
                    <a:lstStyle/>
                    <a:p>
                      <a:pPr indent="0" lvl="0" marL="0" marR="0" rtl="0" algn="l">
                        <a:spcBef>
                          <a:spcPts val="0"/>
                        </a:spcBef>
                        <a:spcAft>
                          <a:spcPts val="0"/>
                        </a:spcAft>
                        <a:buNone/>
                      </a:pPr>
                      <a:r>
                        <a:rPr lang="en-GB" sz="900"/>
                        <a:t>Snapshot Reinvest (Y/N)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900"/>
                        <a:t>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1325">
                <a:tc>
                  <a:txBody>
                    <a:bodyPr/>
                    <a:lstStyle/>
                    <a:p>
                      <a:pPr indent="0" lvl="0" marL="0" rtl="0" algn="l">
                        <a:spcBef>
                          <a:spcPts val="0"/>
                        </a:spcBef>
                        <a:spcAft>
                          <a:spcPts val="0"/>
                        </a:spcAft>
                        <a:buNone/>
                      </a:pPr>
                      <a:r>
                        <a:rPr lang="en-GB" sz="900"/>
                        <a:t>FY18 / 19 Tier (for reference only)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700"/>
                        <a:buFont typeface="Arial"/>
                        <a:buNone/>
                      </a:pPr>
                      <a:r>
                        <a:rPr lang="en-GB" sz="1000">
                          <a:solidFill>
                            <a:schemeClr val="dk1"/>
                          </a:solidFill>
                        </a:rPr>
                        <a:t>FY18: 2</a:t>
                      </a:r>
                      <a:endParaRPr sz="1000">
                        <a:solidFill>
                          <a:schemeClr val="dk1"/>
                        </a:solidFill>
                      </a:endParaRPr>
                    </a:p>
                    <a:p>
                      <a:pPr indent="0" lvl="0" marL="0" rtl="0" algn="l">
                        <a:spcBef>
                          <a:spcPts val="0"/>
                        </a:spcBef>
                        <a:spcAft>
                          <a:spcPts val="0"/>
                        </a:spcAft>
                        <a:buClr>
                          <a:schemeClr val="dk1"/>
                        </a:buClr>
                        <a:buSzPts val="700"/>
                        <a:buFont typeface="Arial"/>
                        <a:buNone/>
                      </a:pPr>
                      <a:r>
                        <a:rPr lang="en-GB" sz="1000">
                          <a:solidFill>
                            <a:schemeClr val="dk1"/>
                          </a:solidFill>
                        </a:rPr>
                        <a:t>FY19: 2</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0600">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Yrs of Service / In grade</a:t>
                      </a:r>
                      <a:endParaRPr sz="9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solidFill>
                            <a:srgbClr val="FF0000"/>
                          </a:solidFill>
                        </a:rPr>
                        <a:t>5</a:t>
                      </a:r>
                      <a:endParaRPr i="0" sz="800">
                        <a:solidFill>
                          <a:srgbClr val="FF0000"/>
                        </a:solidFill>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91" name="Google Shape;291;p28"/>
          <p:cNvGraphicFramePr/>
          <p:nvPr/>
        </p:nvGraphicFramePr>
        <p:xfrm>
          <a:off x="152400" y="2499931"/>
          <a:ext cx="3000000" cy="3000000"/>
        </p:xfrm>
        <a:graphic>
          <a:graphicData uri="http://schemas.openxmlformats.org/drawingml/2006/table">
            <a:tbl>
              <a:tblPr firstRow="1">
                <a:noFill/>
                <a:tableStyleId>{726CEF35-E87D-44F1-B121-F5B6ACD7697A}</a:tableStyleId>
              </a:tblPr>
              <a:tblGrid>
                <a:gridCol w="1767925"/>
                <a:gridCol w="3905150"/>
                <a:gridCol w="3303575"/>
              </a:tblGrid>
              <a:tr h="3115850">
                <a:tc>
                  <a:txBody>
                    <a:bodyPr/>
                    <a:lstStyle/>
                    <a:p>
                      <a:pPr indent="0" lvl="0" marL="0" marR="0" rtl="0" algn="l">
                        <a:spcBef>
                          <a:spcPts val="0"/>
                        </a:spcBef>
                        <a:spcAft>
                          <a:spcPts val="0"/>
                        </a:spcAft>
                        <a:buNone/>
                      </a:pPr>
                      <a:r>
                        <a:rPr b="0" lang="en-GB" sz="900">
                          <a:solidFill>
                            <a:srgbClr val="000000"/>
                          </a:solidFill>
                        </a:rPr>
                        <a:t>Proposed</a:t>
                      </a:r>
                      <a:r>
                        <a:rPr b="0" lang="en-GB" sz="900">
                          <a:solidFill>
                            <a:srgbClr val="000000"/>
                          </a:solidFill>
                        </a:rPr>
                        <a:t> Business Case</a:t>
                      </a:r>
                      <a:r>
                        <a:rPr b="0" lang="en-GB" sz="900">
                          <a:solidFill>
                            <a:srgbClr val="000000"/>
                          </a:solidFill>
                        </a:rPr>
                        <a:t> / Readiness of Candidate</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rPr b="0" lang="en-GB" sz="900">
                          <a:solidFill>
                            <a:srgbClr val="000000"/>
                          </a:solidFill>
                        </a:rPr>
                        <a:t> </a:t>
                      </a:r>
                      <a:endParaRPr b="0" sz="9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gridSpan="2">
                  <a:txBody>
                    <a:bodyPr/>
                    <a:lstStyle/>
                    <a:p>
                      <a:pPr indent="0" lvl="0" marL="0" rtl="0" algn="l">
                        <a:spcBef>
                          <a:spcPts val="0"/>
                        </a:spcBef>
                        <a:spcAft>
                          <a:spcPts val="0"/>
                        </a:spcAft>
                        <a:buNone/>
                      </a:pPr>
                      <a:r>
                        <a:rPr b="1" lang="en-GB" sz="700">
                          <a:solidFill>
                            <a:schemeClr val="dk1"/>
                          </a:solidFill>
                          <a:latin typeface="Georgia"/>
                          <a:ea typeface="Georgia"/>
                          <a:cs typeface="Georgia"/>
                          <a:sym typeface="Georgia"/>
                        </a:rPr>
                        <a:t>1. </a:t>
                      </a:r>
                      <a:r>
                        <a:rPr lang="en-GB" sz="700">
                          <a:solidFill>
                            <a:schemeClr val="dk1"/>
                          </a:solidFill>
                          <a:latin typeface="Georgia"/>
                          <a:ea typeface="Georgia"/>
                          <a:cs typeface="Georgia"/>
                          <a:sym typeface="Georgia"/>
                        </a:rPr>
                        <a:t>Ore is currently </a:t>
                      </a:r>
                      <a:r>
                        <a:rPr b="1" lang="en-GB" sz="700">
                          <a:solidFill>
                            <a:schemeClr val="dk1"/>
                          </a:solidFill>
                          <a:latin typeface="Georgia"/>
                          <a:ea typeface="Georgia"/>
                          <a:cs typeface="Georgia"/>
                          <a:sym typeface="Georgia"/>
                        </a:rPr>
                        <a:t>actin</a:t>
                      </a:r>
                      <a:r>
                        <a:rPr lang="en-GB" sz="700">
                          <a:solidFill>
                            <a:schemeClr val="dk1"/>
                          </a:solidFill>
                          <a:latin typeface="Georgia"/>
                          <a:ea typeface="Georgia"/>
                          <a:cs typeface="Georgia"/>
                          <a:sym typeface="Georgia"/>
                        </a:rPr>
                        <a:t>g </a:t>
                      </a:r>
                      <a:r>
                        <a:rPr b="1" lang="en-GB" sz="700">
                          <a:solidFill>
                            <a:schemeClr val="dk1"/>
                          </a:solidFill>
                          <a:latin typeface="Georgia"/>
                          <a:ea typeface="Georgia"/>
                          <a:cs typeface="Georgia"/>
                          <a:sym typeface="Georgia"/>
                        </a:rPr>
                        <a:t>Director for Finance transformation at a CFT growth client (Aries) that is in year 1 of a 3 year (71 country) business </a:t>
                      </a:r>
                      <a:r>
                        <a:rPr lang="en-GB" sz="700">
                          <a:solidFill>
                            <a:schemeClr val="dk1"/>
                          </a:solidFill>
                          <a:latin typeface="Georgia"/>
                          <a:ea typeface="Georgia"/>
                          <a:cs typeface="Georgia"/>
                          <a:sym typeface="Georgia"/>
                        </a:rPr>
                        <a:t>transformation</a:t>
                      </a: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planned to go through the end of 2021</a:t>
                      </a:r>
                      <a:r>
                        <a:rPr b="1" lang="en-GB" sz="700">
                          <a:solidFill>
                            <a:schemeClr val="dk1"/>
                          </a:solidFill>
                          <a:latin typeface="Georgia"/>
                          <a:ea typeface="Georgia"/>
                          <a:cs typeface="Georgia"/>
                          <a:sym typeface="Georgia"/>
                        </a:rPr>
                        <a:t>. He </a:t>
                      </a:r>
                      <a:r>
                        <a:rPr lang="en-GB" sz="700">
                          <a:solidFill>
                            <a:schemeClr val="dk1"/>
                          </a:solidFill>
                          <a:latin typeface="Georgia"/>
                          <a:ea typeface="Georgia"/>
                          <a:cs typeface="Georgia"/>
                          <a:sym typeface="Georgia"/>
                        </a:rPr>
                        <a:t>owns</a:t>
                      </a:r>
                      <a:r>
                        <a:rPr b="1" lang="en-GB" sz="700">
                          <a:solidFill>
                            <a:schemeClr val="dk1"/>
                          </a:solidFill>
                          <a:latin typeface="Georgia"/>
                          <a:ea typeface="Georgia"/>
                          <a:cs typeface="Georgia"/>
                          <a:sym typeface="Georgia"/>
                        </a:rPr>
                        <a:t> the CFT </a:t>
                      </a:r>
                      <a:r>
                        <a:rPr lang="en-GB" sz="700">
                          <a:solidFill>
                            <a:schemeClr val="dk1"/>
                          </a:solidFill>
                          <a:latin typeface="Georgia"/>
                          <a:ea typeface="Georgia"/>
                          <a:cs typeface="Georgia"/>
                          <a:sym typeface="Georgia"/>
                        </a:rPr>
                        <a:t>relationship with the client project financial sponsors (BU Controller, BU Head of Treasury and BU CFO) and is a key account team member supporting the x-los relationships and delivery. FY20 $11M x-los revenue </a:t>
                      </a:r>
                      <a:endParaRPr b="1"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In FY 20 Ore led CFT efforts to grow CFT billed revenues from $0 to $4M (growing from a 3 to 12 </a:t>
                      </a:r>
                      <a:r>
                        <a:rPr b="0" lang="en-GB" sz="700">
                          <a:solidFill>
                            <a:schemeClr val="dk1"/>
                          </a:solidFill>
                          <a:latin typeface="Georgia"/>
                          <a:ea typeface="Georgia"/>
                          <a:cs typeface="Georgia"/>
                          <a:sym typeface="Georgia"/>
                        </a:rPr>
                        <a:t>person</a:t>
                      </a:r>
                      <a:r>
                        <a:rPr b="0" lang="en-GB" sz="700">
                          <a:solidFill>
                            <a:schemeClr val="dk1"/>
                          </a:solidFill>
                          <a:latin typeface="Georgia"/>
                          <a:ea typeface="Georgia"/>
                          <a:cs typeface="Georgia"/>
                          <a:sym typeface="Georgia"/>
                        </a:rPr>
                        <a:t> team),  and supported broader x-los additional billed revenue of $9M related to the business transformation. (total $11M x-los)</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For FY 21 given an October 2020 wave 1 (18 of 70 countries) go live, and Wave 2 and 3 planned for mid and late 2021, Ore is the PwC face and leader of a CFT FY21 pipeline of $6-$7M  (of which $1M is already signed work for the June to August period). Note:POST COVID CFT led by Ore has signed two brand new SOW’s worth $2M for work starting mid April to end August 31. The client views this transformation as critical and the head of BU has communicated a plan to aggressively push forward with the transformation.</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Ore is the face of our relationship with the BU Controller (CFT project financial sponsor), established new relationship with the BU Head of Treasury (leading to 1 of 2 Post COVID signed SOWs), deepened our relationship with Program Manager (leading to the second Post COVID SOW) and deepened existing relationship with the BU CFO (delivered finance operating model to the CFO)</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rgbClr val="FF0000"/>
                        </a:buClr>
                        <a:buSzPts val="700"/>
                        <a:buFont typeface="Georgia"/>
                        <a:buChar char="●"/>
                      </a:pPr>
                      <a:r>
                        <a:rPr b="0" lang="en-GB" sz="700">
                          <a:solidFill>
                            <a:srgbClr val="FF0000"/>
                          </a:solidFill>
                          <a:latin typeface="Georgia"/>
                          <a:ea typeface="Georgia"/>
                          <a:cs typeface="Georgia"/>
                          <a:sym typeface="Georgia"/>
                        </a:rPr>
                        <a:t>As noted by Client GEP - “--------------”</a:t>
                      </a:r>
                      <a:endParaRPr b="0" sz="700">
                        <a:solidFill>
                          <a:schemeClr val="dk1"/>
                        </a:solidFill>
                        <a:latin typeface="Georgia"/>
                        <a:ea typeface="Georgia"/>
                        <a:cs typeface="Georgia"/>
                        <a:sym typeface="Georgia"/>
                      </a:endParaRPr>
                    </a:p>
                    <a:p>
                      <a:pPr indent="0" lvl="0" marL="457200" rtl="0" algn="l">
                        <a:spcBef>
                          <a:spcPts val="0"/>
                        </a:spcBef>
                        <a:spcAft>
                          <a:spcPts val="0"/>
                        </a:spcAft>
                        <a:buNone/>
                      </a:pPr>
                      <a:r>
                        <a:t/>
                      </a:r>
                      <a:endParaRPr b="0"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2</a:t>
                      </a:r>
                      <a:r>
                        <a:rPr b="1" lang="en-GB" sz="700">
                          <a:solidFill>
                            <a:schemeClr val="dk1"/>
                          </a:solidFill>
                          <a:latin typeface="Georgia"/>
                          <a:ea typeface="Georgia"/>
                          <a:cs typeface="Georgia"/>
                          <a:sym typeface="Georgia"/>
                        </a:rPr>
                        <a:t>. Ore </a:t>
                      </a:r>
                      <a:r>
                        <a:rPr lang="en-GB" sz="700">
                          <a:solidFill>
                            <a:schemeClr val="dk1"/>
                          </a:solidFill>
                          <a:latin typeface="Georgia"/>
                          <a:ea typeface="Georgia"/>
                          <a:cs typeface="Georgia"/>
                          <a:sym typeface="Georgia"/>
                        </a:rPr>
                        <a:t>was a key player</a:t>
                      </a:r>
                      <a:r>
                        <a:rPr b="1" lang="en-GB" sz="700">
                          <a:solidFill>
                            <a:schemeClr val="dk1"/>
                          </a:solidFill>
                          <a:latin typeface="Georgia"/>
                          <a:ea typeface="Georgia"/>
                          <a:cs typeface="Georgia"/>
                          <a:sym typeface="Georgia"/>
                        </a:rPr>
                        <a:t> in </a:t>
                      </a:r>
                      <a:r>
                        <a:rPr lang="en-GB" sz="700">
                          <a:solidFill>
                            <a:schemeClr val="dk1"/>
                          </a:solidFill>
                          <a:latin typeface="Georgia"/>
                          <a:ea typeface="Georgia"/>
                          <a:cs typeface="Georgia"/>
                          <a:sym typeface="Georgia"/>
                        </a:rPr>
                        <a:t>developing</a:t>
                      </a:r>
                      <a:r>
                        <a:rPr b="1" lang="en-GB" sz="700">
                          <a:solidFill>
                            <a:schemeClr val="dk1"/>
                          </a:solidFill>
                          <a:latin typeface="Georgia"/>
                          <a:ea typeface="Georgia"/>
                          <a:cs typeface="Georgia"/>
                          <a:sym typeface="Georgia"/>
                        </a:rPr>
                        <a:t> the CFT </a:t>
                      </a:r>
                      <a:r>
                        <a:rPr lang="en-GB" sz="700">
                          <a:solidFill>
                            <a:schemeClr val="dk1"/>
                          </a:solidFill>
                          <a:latin typeface="Georgia"/>
                          <a:ea typeface="Georgia"/>
                          <a:cs typeface="Georgia"/>
                          <a:sym typeface="Georgia"/>
                        </a:rPr>
                        <a:t>r</a:t>
                      </a:r>
                      <a:r>
                        <a:rPr b="1" lang="en-GB" sz="700">
                          <a:solidFill>
                            <a:schemeClr val="dk1"/>
                          </a:solidFill>
                          <a:latin typeface="Georgia"/>
                          <a:ea typeface="Georgia"/>
                          <a:cs typeface="Georgia"/>
                          <a:sym typeface="Georgia"/>
                        </a:rPr>
                        <a:t>evenue leakage and </a:t>
                      </a:r>
                      <a:r>
                        <a:rPr lang="en-GB" sz="700">
                          <a:solidFill>
                            <a:schemeClr val="dk1"/>
                          </a:solidFill>
                          <a:latin typeface="Georgia"/>
                          <a:ea typeface="Georgia"/>
                          <a:cs typeface="Georgia"/>
                          <a:sym typeface="Georgia"/>
                        </a:rPr>
                        <a:t>o</a:t>
                      </a:r>
                      <a:r>
                        <a:rPr b="1" lang="en-GB" sz="700">
                          <a:solidFill>
                            <a:schemeClr val="dk1"/>
                          </a:solidFill>
                          <a:latin typeface="Georgia"/>
                          <a:ea typeface="Georgia"/>
                          <a:cs typeface="Georgia"/>
                          <a:sym typeface="Georgia"/>
                        </a:rPr>
                        <a:t>ptimization offering (</a:t>
                      </a:r>
                      <a:r>
                        <a:rPr lang="en-GB" sz="700">
                          <a:solidFill>
                            <a:schemeClr val="dk1"/>
                          </a:solidFill>
                          <a:latin typeface="Georgia"/>
                          <a:ea typeface="Georgia"/>
                          <a:cs typeface="Georgia"/>
                          <a:sym typeface="Georgia"/>
                        </a:rPr>
                        <a:t>supporting CFT Director Jamie Buckley) and is positioned to deliver on these engagements as part of the revenue innovation sub-practice</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After delivering as a lead manager on a 5+ year (&gt;$20M) billing transformation at ICE and leading an organic revenue leakage analysis component, Ore helped craft a revenue leakage/optimization POV which was shared in Digital Realty and State Street billing transformation proposals, as well as with multiple PwC GEPS (incld. OCC, and NASDAQ)</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Ore has also delivered on revenue opportunity engagement at Visa CSS business unit and is fully skilled up to pursue and deliver on revenue optimization assessments, both as part of, or independent of broader billing transformation efforts.  Given the macro environment, we expect an increase in appetite for this service.</a:t>
                      </a:r>
                      <a:endParaRPr b="0" sz="700">
                        <a:solidFill>
                          <a:schemeClr val="dk1"/>
                        </a:solidFill>
                        <a:latin typeface="Georgia"/>
                        <a:ea typeface="Georgia"/>
                        <a:cs typeface="Georgia"/>
                        <a:sym typeface="Georgia"/>
                      </a:endParaRPr>
                    </a:p>
                    <a:p>
                      <a:pPr indent="0" lvl="0" marL="0" rtl="0" algn="l">
                        <a:spcBef>
                          <a:spcPts val="0"/>
                        </a:spcBef>
                        <a:spcAft>
                          <a:spcPts val="0"/>
                        </a:spcAft>
                        <a:buNone/>
                      </a:pPr>
                      <a:r>
                        <a:t/>
                      </a:r>
                      <a:endParaRPr b="0" sz="700">
                        <a:solidFill>
                          <a:schemeClr val="dk1"/>
                        </a:solidFill>
                        <a:latin typeface="Georgia"/>
                        <a:ea typeface="Georgia"/>
                        <a:cs typeface="Georgia"/>
                        <a:sym typeface="Georgia"/>
                      </a:endParaRPr>
                    </a:p>
                    <a:p>
                      <a:pPr indent="0" lvl="0" marL="0" rtl="0" algn="l">
                        <a:spcBef>
                          <a:spcPts val="0"/>
                        </a:spcBef>
                        <a:spcAft>
                          <a:spcPts val="0"/>
                        </a:spcAft>
                        <a:buNone/>
                      </a:pPr>
                      <a:r>
                        <a:rPr b="0" lang="en-GB" sz="700">
                          <a:solidFill>
                            <a:schemeClr val="dk1"/>
                          </a:solidFill>
                          <a:latin typeface="Georgia"/>
                          <a:ea typeface="Georgia"/>
                          <a:cs typeface="Georgia"/>
                          <a:sym typeface="Georgia"/>
                        </a:rPr>
                        <a:t>3. As the deals practice expects ___________________, Ore</a:t>
                      </a:r>
                      <a:r>
                        <a:rPr lang="en-GB" sz="700">
                          <a:solidFill>
                            <a:schemeClr val="dk1"/>
                          </a:solidFill>
                          <a:latin typeface="Georgia"/>
                          <a:ea typeface="Georgia"/>
                          <a:cs typeface="Georgia"/>
                          <a:sym typeface="Georgia"/>
                        </a:rPr>
                        <a:t> is also positioned to deliver finance function standup engagements resulting from the Deals pipeline, just as he has done at Aries. </a:t>
                      </a:r>
                      <a:r>
                        <a:rPr b="0" lang="en-GB" sz="700">
                          <a:solidFill>
                            <a:schemeClr val="dk1"/>
                          </a:solidFill>
                          <a:latin typeface="Georgia"/>
                          <a:ea typeface="Georgia"/>
                          <a:cs typeface="Georgia"/>
                          <a:sym typeface="Georgia"/>
                        </a:rPr>
                        <a:t>He has historically delivered on the following core post deal capabilities </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  </a:t>
                      </a:r>
                      <a:r>
                        <a:rPr i="1" lang="en-GB" sz="700">
                          <a:solidFill>
                            <a:schemeClr val="dk1"/>
                          </a:solidFill>
                          <a:latin typeface="Georgia"/>
                          <a:ea typeface="Georgia"/>
                          <a:cs typeface="Georgia"/>
                          <a:sym typeface="Georgia"/>
                        </a:rPr>
                        <a:t>Finance Op Model, (b) Process (and controls) Design and (c)Finance/Tech PMO Expertise </a:t>
                      </a:r>
                      <a:r>
                        <a:rPr b="0" lang="en-GB" sz="700">
                          <a:solidFill>
                            <a:schemeClr val="dk1"/>
                          </a:solidFill>
                          <a:latin typeface="Georgia"/>
                          <a:ea typeface="Georgia"/>
                          <a:cs typeface="Georgia"/>
                          <a:sym typeface="Georgia"/>
                        </a:rPr>
                        <a:t>@Aries, Standing up finance function for new FS venture </a:t>
                      </a:r>
                      <a:r>
                        <a:rPr b="0" lang="en-GB" sz="700">
                          <a:solidFill>
                            <a:srgbClr val="000000"/>
                          </a:solidFill>
                          <a:latin typeface="Georgia"/>
                          <a:ea typeface="Georgia"/>
                          <a:cs typeface="Georgia"/>
                          <a:sym typeface="Georgia"/>
                        </a:rPr>
                        <a:t>including op model, finance process design and Finance program management, @USBank Org Structure, Op model and Process Design for new venture, @ Visa CSS BU Services Revenue redesign, @ICE following  several acquisitions (Trayport, IDCUK, NYSE)  drove finance process (order to cash)  and tech integration  @Ameriprise, BMO Harris Bank, US Bank, Assurant, GMAC, Deluxe Microsoft, Lawson delivered  on risk and  operational/financial controls engagements given his prior experience in the Risk Assurance, and Risk and Regulatory practices</a:t>
                      </a:r>
                      <a:endParaRPr b="0" sz="700">
                        <a:solidFill>
                          <a:srgbClr val="000000"/>
                        </a:solidFill>
                        <a:latin typeface="Georgia"/>
                        <a:ea typeface="Georgia"/>
                        <a:cs typeface="Georgia"/>
                        <a:sym typeface="Georgia"/>
                      </a:endParaRPr>
                    </a:p>
                    <a:p>
                      <a:pPr indent="0" lvl="0" marL="0" rtl="0" algn="l">
                        <a:spcBef>
                          <a:spcPts val="0"/>
                        </a:spcBef>
                        <a:spcAft>
                          <a:spcPts val="0"/>
                        </a:spcAft>
                        <a:buNone/>
                      </a:pPr>
                      <a:r>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4. Over the last 5 years Ore has demonstrated ability to  play a significant role in expanding CFT’s revenue and client base. He has used his order to cash expertise to support the proposal process 3+ significant revenue innovation wins - State Street, Digital Realty and ICE (and  2 losses - MGI and WU)</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b="0" i="1" lang="en-GB" sz="700">
                          <a:solidFill>
                            <a:schemeClr val="dk1"/>
                          </a:solidFill>
                          <a:latin typeface="Georgia"/>
                          <a:ea typeface="Georgia"/>
                          <a:cs typeface="Georgia"/>
                          <a:sym typeface="Georgia"/>
                        </a:rPr>
                        <a:t>FY 20 Wins supported</a:t>
                      </a:r>
                      <a:endParaRPr b="0" i="1"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@State Street $4M Win; as a key proposal driver, Ore  was the pen on the proposal supporting Jamie Buckley/Tapan N., executing action items from internal pursuit calls (including developing pricing, reframing pitch) and attended conference calls with the client and penned the first draft SOW after win was communicated</a:t>
                      </a:r>
                      <a:r>
                        <a:rPr lang="en-GB" sz="700">
                          <a:solidFill>
                            <a:schemeClr val="dk1"/>
                          </a:solidFill>
                          <a:latin typeface="Georgia"/>
                          <a:ea typeface="Georgia"/>
                          <a:cs typeface="Georgia"/>
                          <a:sym typeface="Georgia"/>
                        </a:rPr>
                        <a:t> </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t>
                      </a:r>
                      <a:r>
                        <a:rPr b="0" lang="en-GB" sz="700">
                          <a:solidFill>
                            <a:schemeClr val="dk1"/>
                          </a:solidFill>
                          <a:latin typeface="Georgia"/>
                          <a:ea typeface="Georgia"/>
                          <a:cs typeface="Georgia"/>
                          <a:sym typeface="Georgia"/>
                        </a:rPr>
                        <a:t>Digital Realty</a:t>
                      </a:r>
                      <a:r>
                        <a:rPr lang="en-GB" sz="700">
                          <a:solidFill>
                            <a:schemeClr val="dk1"/>
                          </a:solidFill>
                          <a:latin typeface="Georgia"/>
                          <a:ea typeface="Georgia"/>
                          <a:cs typeface="Georgia"/>
                          <a:sym typeface="Georgia"/>
                        </a:rPr>
                        <a:t>: </a:t>
                      </a:r>
                      <a:r>
                        <a:rPr b="0" lang="en-GB" sz="700">
                          <a:solidFill>
                            <a:schemeClr val="dk1"/>
                          </a:solidFill>
                          <a:latin typeface="Georgia"/>
                          <a:ea typeface="Georgia"/>
                          <a:cs typeface="Georgia"/>
                          <a:sym typeface="Georgia"/>
                        </a:rPr>
                        <a:t>Penned the first stage ORMB proposal (incld. revenue optimization opportunity) for Tapan N. and Jamie Buckley,  attended the initial in person  orals,  until ORMB ws no longer the chosen solution</a:t>
                      </a:r>
                      <a:endParaRPr b="0" sz="700">
                        <a:solidFill>
                          <a:schemeClr val="dk1"/>
                        </a:solidFill>
                        <a:latin typeface="Georgia"/>
                        <a:ea typeface="Georgia"/>
                        <a:cs typeface="Georgia"/>
                        <a:sym typeface="Georgia"/>
                      </a:endParaRPr>
                    </a:p>
                    <a:p>
                      <a:pPr indent="0" lvl="0" marL="0" rtl="0" algn="l">
                        <a:spcBef>
                          <a:spcPts val="0"/>
                        </a:spcBef>
                        <a:spcAft>
                          <a:spcPts val="0"/>
                        </a:spcAft>
                        <a:buNone/>
                      </a:pPr>
                      <a:r>
                        <a:rPr b="0" lang="en-GB" sz="700">
                          <a:solidFill>
                            <a:schemeClr val="dk1"/>
                          </a:solidFill>
                          <a:latin typeface="Georgia"/>
                          <a:ea typeface="Georgia"/>
                          <a:cs typeface="Georgia"/>
                          <a:sym typeface="Georgia"/>
                        </a:rPr>
                        <a:t>FY 15-19 Wins and Losses</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@ICE:  Conducted the original Billing Assessment that led to initial 18 month transformation and ended up in a 5+ Yr &gt;$20M CFT revenue billing transformation. Led multiple go lives on this engagement and deliver</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@Western Union Assessment $1M loss: Was the proposal driver and led the pitch for the orals conference call supporting Mitch Ivey  @Moneygram International: Was a key proposal writer and client Q&amp;A participant supporting (Warren Elizer and Mitch Ivey)  </a:t>
                      </a:r>
                      <a:endParaRPr b="0" sz="700">
                        <a:solidFill>
                          <a:srgbClr val="000000"/>
                        </a:solidFill>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r>
              <a:tr h="390375">
                <a:tc>
                  <a:txBody>
                    <a:bodyPr/>
                    <a:lstStyle/>
                    <a:p>
                      <a:pPr indent="0" lvl="0" marL="0" marR="0" rtl="0" algn="l">
                        <a:spcBef>
                          <a:spcPts val="0"/>
                        </a:spcBef>
                        <a:spcAft>
                          <a:spcPts val="0"/>
                        </a:spcAft>
                        <a:buNone/>
                      </a:pPr>
                      <a:r>
                        <a:rPr lang="en-GB" sz="900"/>
                        <a:t>Key Clients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Served 15+ clients across 3 industries - FS, FinTech, Tech</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Current: Client Aries  (FS Digital Business Launch) </a:t>
                      </a:r>
                      <a:endParaRPr b="1"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latin typeface="Georgia"/>
                          <a:ea typeface="Georgia"/>
                          <a:cs typeface="Georgia"/>
                          <a:sym typeface="Georgia"/>
                        </a:rPr>
                        <a:t>Future: Client Aries (FS Business Unit)  90%, Rev Opt and Deals Opportunities (10%)</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FS: ICE, NT, Fidelity, USBank, Ameriprise, BMO, GMAC, </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Tech/FinTech: Intuit, Visa, Lawson, Microsoft, Imation</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26725">
                <a:tc>
                  <a:txBody>
                    <a:bodyPr/>
                    <a:lstStyle/>
                    <a:p>
                      <a:pPr indent="0" lvl="0" marL="0" marR="0" rtl="0" algn="l">
                        <a:spcBef>
                          <a:spcPts val="0"/>
                        </a:spcBef>
                        <a:spcAft>
                          <a:spcPts val="0"/>
                        </a:spcAft>
                        <a:buNone/>
                      </a:pPr>
                      <a:r>
                        <a:rPr lang="en-GB" sz="900"/>
                        <a:t>Distinctive Experiences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SzPts val="600"/>
                        <a:buNone/>
                      </a:pPr>
                      <a:r>
                        <a:rPr b="1" lang="en-GB" sz="700">
                          <a:solidFill>
                            <a:schemeClr val="dk1"/>
                          </a:solidFill>
                          <a:latin typeface="Georgia"/>
                          <a:ea typeface="Georgia"/>
                          <a:cs typeface="Georgia"/>
                          <a:sym typeface="Georgia"/>
                        </a:rPr>
                        <a:t>1. </a:t>
                      </a:r>
                      <a:r>
                        <a:rPr b="1" lang="en-GB" sz="700">
                          <a:solidFill>
                            <a:schemeClr val="dk1"/>
                          </a:solidFill>
                          <a:latin typeface="Georgia"/>
                          <a:ea typeface="Georgia"/>
                          <a:cs typeface="Georgia"/>
                          <a:sym typeface="Georgia"/>
                        </a:rPr>
                        <a:t>Distinctive Digital Currency Finance Transformation Leadership Experience - </a:t>
                      </a:r>
                      <a:r>
                        <a:rPr lang="en-GB" sz="700">
                          <a:solidFill>
                            <a:schemeClr val="dk1"/>
                          </a:solidFill>
                          <a:latin typeface="Georgia"/>
                          <a:ea typeface="Georgia"/>
                          <a:cs typeface="Georgia"/>
                          <a:sym typeface="Georgia"/>
                        </a:rPr>
                        <a:t>Accounting Operations/Treasury/FP&amp;A/Finance PMO/Tech (2019 - 2020): </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Acting Director leading delivery of CFT transformation (Acct Operations, FP&amp;A and Treasury) engagement in which we are defining key finance processes and technology to support for </a:t>
                      </a:r>
                      <a:r>
                        <a:rPr b="1" lang="en-GB" sz="700">
                          <a:solidFill>
                            <a:schemeClr val="dk1"/>
                          </a:solidFill>
                          <a:latin typeface="Georgia"/>
                          <a:ea typeface="Georgia"/>
                          <a:cs typeface="Georgia"/>
                          <a:sym typeface="Georgia"/>
                        </a:rPr>
                        <a:t>first of its kind Blockchain Digital Currency</a:t>
                      </a:r>
                      <a:r>
                        <a:rPr lang="en-GB" sz="700">
                          <a:solidFill>
                            <a:schemeClr val="dk1"/>
                          </a:solidFill>
                          <a:latin typeface="Georgia"/>
                          <a:ea typeface="Georgia"/>
                          <a:cs typeface="Georgia"/>
                          <a:sym typeface="Georgia"/>
                        </a:rPr>
                        <a:t> initiative.  Also working closely Key global (PwC Switzerland) Blockchain and Stablecoin experts in delivery</a:t>
                      </a:r>
                      <a:endParaRPr b="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2. Unique International (US and EMEA) Finance Transformation Leadership Experience - </a:t>
                      </a:r>
                      <a:r>
                        <a:rPr lang="en-GB" sz="700">
                          <a:solidFill>
                            <a:schemeClr val="dk1"/>
                          </a:solidFill>
                          <a:latin typeface="Georgia"/>
                          <a:ea typeface="Georgia"/>
                          <a:cs typeface="Georgia"/>
                          <a:sym typeface="Georgia"/>
                        </a:rPr>
                        <a:t>Order to Cash (2015 - 2017)</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Demonstrated ability to lead across global boundaries. Delivered on three go lives in the UK with a combined team of US and UK staff while also maintaining leadership of 1 US implementation. </a:t>
                      </a:r>
                      <a:r>
                        <a:rPr lang="en-GB" sz="700">
                          <a:solidFill>
                            <a:schemeClr val="dk1"/>
                          </a:solidFill>
                          <a:latin typeface="Georgia"/>
                          <a:ea typeface="Georgia"/>
                          <a:cs typeface="Georgia"/>
                          <a:sym typeface="Georgia"/>
                        </a:rPr>
                        <a:t>Oversaw go lives and support in countries incld  UK, Italy, Israel along with 12 month relocation to UK. </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nvSpPr>
        <p:spPr>
          <a:xfrm>
            <a:off x="152400" y="152400"/>
            <a:ext cx="85344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800">
                <a:solidFill>
                  <a:schemeClr val="dk1"/>
                </a:solidFill>
                <a:latin typeface="Georgia"/>
                <a:ea typeface="Georgia"/>
                <a:cs typeface="Georgia"/>
                <a:sym typeface="Georgia"/>
              </a:rPr>
              <a:t>2020 Advisory Director Candidate Business Case</a:t>
            </a:r>
            <a:endParaRPr sz="1800">
              <a:solidFill>
                <a:schemeClr val="dk1"/>
              </a:solidFill>
              <a:latin typeface="Arial"/>
              <a:ea typeface="Arial"/>
              <a:cs typeface="Arial"/>
              <a:sym typeface="Arial"/>
            </a:endParaRPr>
          </a:p>
        </p:txBody>
      </p:sp>
      <p:graphicFrame>
        <p:nvGraphicFramePr>
          <p:cNvPr id="297" name="Google Shape;297;p29"/>
          <p:cNvGraphicFramePr/>
          <p:nvPr/>
        </p:nvGraphicFramePr>
        <p:xfrm>
          <a:off x="152400" y="457206"/>
          <a:ext cx="3000000" cy="3000000"/>
        </p:xfrm>
        <a:graphic>
          <a:graphicData uri="http://schemas.openxmlformats.org/drawingml/2006/table">
            <a:tbl>
              <a:tblPr firstRow="1">
                <a:noFill/>
                <a:tableStyleId>{726CEF35-E87D-44F1-B121-F5B6ACD7697A}</a:tableStyleId>
              </a:tblPr>
              <a:tblGrid>
                <a:gridCol w="1767925"/>
                <a:gridCol w="1250725"/>
                <a:gridCol w="1287675"/>
              </a:tblGrid>
              <a:tr h="259600">
                <a:tc gridSpan="3">
                  <a:txBody>
                    <a:bodyPr/>
                    <a:lstStyle/>
                    <a:p>
                      <a:pPr indent="0" lvl="0" marL="0" rtl="0" algn="ctr">
                        <a:spcBef>
                          <a:spcPts val="0"/>
                        </a:spcBef>
                        <a:spcAft>
                          <a:spcPts val="0"/>
                        </a:spcAft>
                        <a:buNone/>
                      </a:pPr>
                      <a:r>
                        <a:rPr i="1" lang="en-GB" sz="1000"/>
                        <a:t>Background Information</a:t>
                      </a:r>
                      <a:endParaRPr i="1" sz="10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hMerge="1"/>
                <a:tc hMerge="1"/>
              </a:tr>
              <a:tr h="259800">
                <a:tc>
                  <a:txBody>
                    <a:bodyPr/>
                    <a:lstStyle/>
                    <a:p>
                      <a:pPr indent="0" lvl="0" marL="0" marR="0" rtl="0" algn="l">
                        <a:spcBef>
                          <a:spcPts val="0"/>
                        </a:spcBef>
                        <a:spcAft>
                          <a:spcPts val="0"/>
                        </a:spcAft>
                        <a:buNone/>
                      </a:pPr>
                      <a:r>
                        <a:rPr lang="en-GB" sz="900"/>
                        <a:t>Name </a:t>
                      </a:r>
                      <a:endParaRPr sz="900" u="none" cap="none" strike="noStrike"/>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Ore Phillips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u="none" cap="none" strike="noStrike"/>
                        <a:t>Vertical / Sponsor</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rPr lang="en-GB" sz="800"/>
                        <a:t>Financial Services</a:t>
                      </a:r>
                      <a:endParaRPr sz="8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Horizontal/ Sector</a:t>
                      </a:r>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59800">
                <a:tc>
                  <a:txBody>
                    <a:bodyPr/>
                    <a:lstStyle/>
                    <a:p>
                      <a:pPr indent="0" lvl="0" marL="0" marR="0" rtl="0" algn="l">
                        <a:spcBef>
                          <a:spcPts val="0"/>
                        </a:spcBef>
                        <a:spcAft>
                          <a:spcPts val="0"/>
                        </a:spcAft>
                        <a:buNone/>
                      </a:pPr>
                      <a:r>
                        <a:rPr lang="en-GB" sz="900"/>
                        <a:t>Competency/</a:t>
                      </a:r>
                      <a:r>
                        <a:rPr lang="en-GB" sz="900"/>
                        <a:t> </a:t>
                      </a:r>
                      <a:r>
                        <a:rPr lang="en-GB" sz="900"/>
                        <a:t>GTM</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spcBef>
                          <a:spcPts val="0"/>
                        </a:spcBef>
                        <a:spcAft>
                          <a:spcPts val="0"/>
                        </a:spcAft>
                        <a:buNone/>
                      </a:pPr>
                      <a:r>
                        <a:rPr lang="en-GB" sz="800"/>
                        <a:t>CFT</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4925">
                <a:tc>
                  <a:txBody>
                    <a:bodyPr/>
                    <a:lstStyle/>
                    <a:p>
                      <a:pPr indent="0" lvl="0" marL="0" rtl="0" algn="l">
                        <a:spcBef>
                          <a:spcPts val="0"/>
                        </a:spcBef>
                        <a:spcAft>
                          <a:spcPts val="0"/>
                        </a:spcAft>
                        <a:buNone/>
                      </a:pPr>
                      <a:r>
                        <a:rPr lang="en-GB" sz="900">
                          <a:solidFill>
                            <a:schemeClr val="dk1"/>
                          </a:solidFill>
                        </a:rPr>
                        <a:t>VPL/Talent Consultant</a:t>
                      </a:r>
                      <a:endParaRPr sz="900">
                        <a:solidFill>
                          <a:schemeClr val="dk1"/>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Alison Moreira</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Relationship Leader / Coach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Ken LaManna/Jamie Buckley</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8125">
                <a:tc>
                  <a:txBody>
                    <a:bodyPr/>
                    <a:lstStyle/>
                    <a:p>
                      <a:pPr indent="0" lvl="0" marL="0" marR="0" rtl="0" algn="l">
                        <a:spcBef>
                          <a:spcPts val="0"/>
                        </a:spcBef>
                        <a:spcAft>
                          <a:spcPts val="0"/>
                        </a:spcAft>
                        <a:buNone/>
                      </a:pPr>
                      <a:r>
                        <a:rPr lang="en-GB" sz="900"/>
                        <a:t>Current cohort</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None/>
                      </a:pPr>
                      <a:r>
                        <a:rPr lang="en-GB" sz="800"/>
                        <a:t>SM2</a:t>
                      </a:r>
                      <a:endParaRPr sz="8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graphicFrame>
        <p:nvGraphicFramePr>
          <p:cNvPr id="298" name="Google Shape;298;p29"/>
          <p:cNvGraphicFramePr/>
          <p:nvPr/>
        </p:nvGraphicFramePr>
        <p:xfrm>
          <a:off x="4458725" y="457206"/>
          <a:ext cx="3000000" cy="3000000"/>
        </p:xfrm>
        <a:graphic>
          <a:graphicData uri="http://schemas.openxmlformats.org/drawingml/2006/table">
            <a:tbl>
              <a:tblPr firstRow="1">
                <a:noFill/>
                <a:tableStyleId>{726CEF35-E87D-44F1-B121-F5B6ACD7697A}</a:tableStyleId>
              </a:tblPr>
              <a:tblGrid>
                <a:gridCol w="1786350"/>
                <a:gridCol w="1511875"/>
                <a:gridCol w="1372100"/>
              </a:tblGrid>
              <a:tr h="259600">
                <a:tc>
                  <a:txBody>
                    <a:bodyPr/>
                    <a:lstStyle/>
                    <a:p>
                      <a:pPr indent="0" lvl="0" marL="0" rtl="0" algn="l">
                        <a:spcBef>
                          <a:spcPts val="0"/>
                        </a:spcBef>
                        <a:spcAft>
                          <a:spcPts val="0"/>
                        </a:spcAft>
                        <a:buNone/>
                      </a:pPr>
                      <a:r>
                        <a:rPr i="1" lang="en-GB" sz="900">
                          <a:solidFill>
                            <a:srgbClr val="FFFFFF"/>
                          </a:solidFill>
                        </a:rPr>
                        <a:t>Key Metrics</a:t>
                      </a:r>
                      <a:endParaRPr i="1" sz="9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PY19</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Font typeface="Georgia"/>
                        <a:buNone/>
                      </a:pPr>
                      <a:r>
                        <a:rPr i="1" lang="en-GB" sz="800"/>
                        <a:t>PY20 To Date</a:t>
                      </a:r>
                      <a:endParaRPr i="1" sz="800">
                        <a:solidFill>
                          <a:srgbClr val="FFFFFF"/>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395000">
                <a:tc>
                  <a:txBody>
                    <a:bodyPr/>
                    <a:lstStyle/>
                    <a:p>
                      <a:pPr indent="0" lvl="0" marL="0" marR="0" rtl="0" algn="l">
                        <a:spcBef>
                          <a:spcPts val="0"/>
                        </a:spcBef>
                        <a:spcAft>
                          <a:spcPts val="0"/>
                        </a:spcAft>
                        <a:buNone/>
                      </a:pPr>
                      <a:r>
                        <a:rPr lang="en-GB" sz="900"/>
                        <a:t>PY Client Utilization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Font typeface="Arial"/>
                        <a:buNone/>
                      </a:pPr>
                      <a:r>
                        <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Font typeface="Arial"/>
                        <a:buNone/>
                      </a:pPr>
                      <a:r>
                        <a:t/>
                      </a:r>
                      <a:endParaRPr i="0"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7800">
                <a:tc>
                  <a:txBody>
                    <a:bodyPr/>
                    <a:lstStyle/>
                    <a:p>
                      <a:pPr indent="0" lvl="0" marL="0" marR="0" rtl="0" algn="l">
                        <a:spcBef>
                          <a:spcPts val="0"/>
                        </a:spcBef>
                        <a:spcAft>
                          <a:spcPts val="0"/>
                        </a:spcAft>
                        <a:buNone/>
                      </a:pPr>
                      <a:r>
                        <a:rPr lang="en-GB" sz="900"/>
                        <a:t>Time Sheet Compliance</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7800">
                <a:tc>
                  <a:txBody>
                    <a:bodyPr/>
                    <a:lstStyle/>
                    <a:p>
                      <a:pPr indent="0" lvl="0" marL="0" marR="0" rtl="0" algn="l">
                        <a:spcBef>
                          <a:spcPts val="0"/>
                        </a:spcBef>
                        <a:spcAft>
                          <a:spcPts val="0"/>
                        </a:spcAft>
                        <a:buNone/>
                      </a:pPr>
                      <a:r>
                        <a:rPr lang="en-GB" sz="900"/>
                        <a:t>Snapshot Reinvest (Y /N)</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GB" sz="900"/>
                        <a:t>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9900">
                <a:tc>
                  <a:txBody>
                    <a:bodyPr/>
                    <a:lstStyle/>
                    <a:p>
                      <a:pPr indent="0" lvl="0" marL="0" rtl="0" algn="l">
                        <a:spcBef>
                          <a:spcPts val="0"/>
                        </a:spcBef>
                        <a:spcAft>
                          <a:spcPts val="0"/>
                        </a:spcAft>
                        <a:buNone/>
                      </a:pPr>
                      <a:r>
                        <a:rPr lang="en-GB" sz="900"/>
                        <a:t>FY18 / 19 Tier (for reference only)</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700"/>
                        <a:buFont typeface="Arial"/>
                        <a:buNone/>
                      </a:pPr>
                      <a:r>
                        <a:rPr lang="en-GB" sz="1000">
                          <a:solidFill>
                            <a:schemeClr val="dk1"/>
                          </a:solidFill>
                        </a:rPr>
                        <a:t>FY18: 2</a:t>
                      </a:r>
                      <a:endParaRPr sz="1000">
                        <a:solidFill>
                          <a:schemeClr val="dk1"/>
                        </a:solidFill>
                      </a:endParaRPr>
                    </a:p>
                    <a:p>
                      <a:pPr indent="0" lvl="0" marL="0" rtl="0" algn="l">
                        <a:spcBef>
                          <a:spcPts val="0"/>
                        </a:spcBef>
                        <a:spcAft>
                          <a:spcPts val="0"/>
                        </a:spcAft>
                        <a:buClr>
                          <a:schemeClr val="dk1"/>
                        </a:buClr>
                        <a:buSzPts val="700"/>
                        <a:buFont typeface="Arial"/>
                        <a:buNone/>
                      </a:pPr>
                      <a:r>
                        <a:rPr lang="en-GB" sz="1000">
                          <a:solidFill>
                            <a:schemeClr val="dk1"/>
                          </a:solidFill>
                        </a:rPr>
                        <a:t>FY19: 2</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9100">
                <a:tc>
                  <a:txBody>
                    <a:bodyPr/>
                    <a:lstStyle/>
                    <a:p>
                      <a:pPr indent="0" lvl="0" marL="0" rtl="0" algn="l">
                        <a:spcBef>
                          <a:spcPts val="0"/>
                        </a:spcBef>
                        <a:spcAft>
                          <a:spcPts val="0"/>
                        </a:spcAft>
                        <a:buClr>
                          <a:schemeClr val="dk1"/>
                        </a:buClr>
                        <a:buSzPts val="1100"/>
                        <a:buFont typeface="Arial"/>
                        <a:buNone/>
                      </a:pPr>
                      <a:r>
                        <a:rPr lang="en-GB" sz="900">
                          <a:solidFill>
                            <a:schemeClr val="dk1"/>
                          </a:solidFill>
                        </a:rPr>
                        <a:t>Yrs of Service / In grade</a:t>
                      </a:r>
                      <a:endParaRPr sz="900">
                        <a:solidFill>
                          <a:srgbClr val="FF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800"/>
                        <a:t>5?</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i="0" sz="800"/>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99" name="Google Shape;299;p29"/>
          <p:cNvGraphicFramePr/>
          <p:nvPr/>
        </p:nvGraphicFramePr>
        <p:xfrm>
          <a:off x="152400" y="2499931"/>
          <a:ext cx="3000000" cy="3000000"/>
        </p:xfrm>
        <a:graphic>
          <a:graphicData uri="http://schemas.openxmlformats.org/drawingml/2006/table">
            <a:tbl>
              <a:tblPr firstRow="1">
                <a:noFill/>
                <a:tableStyleId>{726CEF35-E87D-44F1-B121-F5B6ACD7697A}</a:tableStyleId>
              </a:tblPr>
              <a:tblGrid>
                <a:gridCol w="1767925"/>
                <a:gridCol w="3905150"/>
                <a:gridCol w="3303575"/>
              </a:tblGrid>
              <a:tr h="2454875">
                <a:tc>
                  <a:txBody>
                    <a:bodyPr/>
                    <a:lstStyle/>
                    <a:p>
                      <a:pPr indent="0" lvl="0" marL="0" marR="0" rtl="0" algn="l">
                        <a:spcBef>
                          <a:spcPts val="0"/>
                        </a:spcBef>
                        <a:spcAft>
                          <a:spcPts val="0"/>
                        </a:spcAft>
                        <a:buNone/>
                      </a:pPr>
                      <a:r>
                        <a:rPr b="0" lang="en-GB" sz="900">
                          <a:solidFill>
                            <a:srgbClr val="000000"/>
                          </a:solidFill>
                        </a:rPr>
                        <a:t>Proposed</a:t>
                      </a:r>
                      <a:r>
                        <a:rPr b="0" lang="en-GB" sz="900">
                          <a:solidFill>
                            <a:srgbClr val="000000"/>
                          </a:solidFill>
                        </a:rPr>
                        <a:t> Business Case</a:t>
                      </a:r>
                      <a:r>
                        <a:rPr b="0" lang="en-GB" sz="900">
                          <a:solidFill>
                            <a:srgbClr val="000000"/>
                          </a:solidFill>
                        </a:rPr>
                        <a:t> / Readiness of Candidate</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t/>
                      </a:r>
                      <a:endParaRPr b="0" sz="900">
                        <a:solidFill>
                          <a:srgbClr val="000000"/>
                        </a:solidFill>
                      </a:endParaRPr>
                    </a:p>
                    <a:p>
                      <a:pPr indent="0" lvl="0" marL="0" marR="0" rtl="0" algn="l">
                        <a:spcBef>
                          <a:spcPts val="0"/>
                        </a:spcBef>
                        <a:spcAft>
                          <a:spcPts val="0"/>
                        </a:spcAft>
                        <a:buNone/>
                      </a:pPr>
                      <a:r>
                        <a:rPr b="0" lang="en-GB" sz="900">
                          <a:solidFill>
                            <a:srgbClr val="000000"/>
                          </a:solidFill>
                        </a:rPr>
                        <a:t> </a:t>
                      </a:r>
                      <a:endParaRPr b="0" sz="900">
                        <a:solidFill>
                          <a:srgbClr val="000000"/>
                        </a:solidFill>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700">
                          <a:solidFill>
                            <a:schemeClr val="dk1"/>
                          </a:solidFill>
                          <a:latin typeface="Georgia"/>
                          <a:ea typeface="Georgia"/>
                          <a:cs typeface="Georgia"/>
                          <a:sym typeface="Georgia"/>
                        </a:rPr>
                        <a:t>1. </a:t>
                      </a:r>
                      <a:r>
                        <a:rPr b="0" lang="en-GB" sz="700">
                          <a:solidFill>
                            <a:schemeClr val="dk1"/>
                          </a:solidFill>
                          <a:latin typeface="Georgia"/>
                          <a:ea typeface="Georgia"/>
                          <a:cs typeface="Georgia"/>
                          <a:sym typeface="Georgia"/>
                        </a:rPr>
                        <a:t>Ore is currently</a:t>
                      </a:r>
                      <a:r>
                        <a:rPr lang="en-GB" sz="700">
                          <a:solidFill>
                            <a:schemeClr val="dk1"/>
                          </a:solidFill>
                          <a:latin typeface="Georgia"/>
                          <a:ea typeface="Georgia"/>
                          <a:cs typeface="Georgia"/>
                          <a:sym typeface="Georgia"/>
                        </a:rPr>
                        <a:t> the lead “acting” Director for Finance transformation  at a CFT growth client (Aries) that is in year 1 of a 3 year (71 country) new business launch - first wave go live planned for October 2020, second wave in mid to late 2021</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In FY 20 Ore grew CFT revenues from $0 to $4M; and supported broader x-los additional revenue of $7M related to this specific business transformation. (total $13M cross-los)</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For FY 21 Ore has a pipeline of $6-$7M (of which $1M is already signed (June to August). With the client having an October go live   </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Owned relationship with the BU Controller (project sponsor), established new relationships with the BU Head of Treasury, and supported existing relationship with the BU CFO</a:t>
                      </a:r>
                      <a:endParaRPr b="0" sz="700">
                        <a:solidFill>
                          <a:schemeClr val="dk1"/>
                        </a:solidFill>
                        <a:latin typeface="Georgia"/>
                        <a:ea typeface="Georgia"/>
                        <a:cs typeface="Georgia"/>
                        <a:sym typeface="Georgia"/>
                      </a:endParaRPr>
                    </a:p>
                    <a:p>
                      <a:pPr indent="0" lvl="0" marL="0" rtl="0" algn="l">
                        <a:spcBef>
                          <a:spcPts val="0"/>
                        </a:spcBef>
                        <a:spcAft>
                          <a:spcPts val="0"/>
                        </a:spcAft>
                        <a:buNone/>
                      </a:pPr>
                      <a:r>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lang="en-GB" sz="700">
                          <a:solidFill>
                            <a:schemeClr val="dk1"/>
                          </a:solidFill>
                          <a:latin typeface="Georgia"/>
                          <a:ea typeface="Georgia"/>
                          <a:cs typeface="Georgia"/>
                          <a:sym typeface="Georgia"/>
                        </a:rPr>
                        <a:t>Deals</a:t>
                      </a:r>
                      <a:endParaRPr sz="700">
                        <a:solidFill>
                          <a:schemeClr val="dk1"/>
                        </a:solidFill>
                        <a:latin typeface="Georgia"/>
                        <a:ea typeface="Georgia"/>
                        <a:cs typeface="Georgia"/>
                        <a:sym typeface="Georgia"/>
                      </a:endParaRPr>
                    </a:p>
                    <a:p>
                      <a:pPr indent="-273050" lvl="0" marL="457200" rtl="0" algn="l">
                        <a:spcBef>
                          <a:spcPts val="0"/>
                        </a:spcBef>
                        <a:spcAft>
                          <a:spcPts val="0"/>
                        </a:spcAft>
                        <a:buClr>
                          <a:schemeClr val="dk1"/>
                        </a:buClr>
                        <a:buSzPts val="700"/>
                        <a:buFont typeface="Georgia"/>
                        <a:buAutoNum type="arabicPeriod"/>
                      </a:pPr>
                      <a:r>
                        <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CFT currently has $0 in revenues from the FinTech industry. However as of Year 2020 the industry has more than 30 players worth &gt;$1B. Ore has successfully grown CFT revenue at Aries from $0 to $4M billed in 14 months and built an active pipeline of $5M through solid relationships with Aries FS BU Controller and CFO.</a:t>
                      </a:r>
                      <a:endParaRPr b="0"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b="0"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0" lang="en-GB" sz="700">
                          <a:solidFill>
                            <a:schemeClr val="dk1"/>
                          </a:solidFill>
                          <a:latin typeface="Georgia"/>
                          <a:ea typeface="Georgia"/>
                          <a:cs typeface="Georgia"/>
                          <a:sym typeface="Georgia"/>
                        </a:rPr>
                        <a:t> Like Aries and Leo, other FinTechs/Techs are expanding more deeply into the Financial Services space and requiring Finance function transformation as follows:</a:t>
                      </a:r>
                      <a:endParaRPr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Op model definitions: Tech/FinTech Players are unfamiliar with staffing #s and structure required to scale up to support high transaction volume FS operations </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Process design: Design of FS centric process that center around a flow of funds/monetary assets (digital or cash) where asset values change frequently and are highly liquid to cash </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Risk+controls design: Assistance in understanding risk and control environment in recognition of greater regulatory scrutiny in FS than traditional tech  </a:t>
                      </a:r>
                      <a:endParaRPr b="0" sz="700">
                        <a:solidFill>
                          <a:schemeClr val="dk1"/>
                        </a:solidFill>
                        <a:latin typeface="Georgia"/>
                        <a:ea typeface="Georgia"/>
                        <a:cs typeface="Georgia"/>
                        <a:sym typeface="Georgia"/>
                      </a:endParaRPr>
                    </a:p>
                    <a:p>
                      <a:pPr indent="-94851" lvl="0" marL="1368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Program Mgmt: Deep experience managing FS specific initiatives which tend to be more global and more complex than traditional tech programs </a:t>
                      </a:r>
                      <a:endParaRPr b="0"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b="0" i="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i="1" lang="en-GB" sz="700">
                          <a:solidFill>
                            <a:srgbClr val="000000"/>
                          </a:solidFill>
                          <a:latin typeface="Georgia"/>
                          <a:ea typeface="Georgia"/>
                          <a:cs typeface="Georgia"/>
                          <a:sym typeface="Georgia"/>
                        </a:rPr>
                        <a:t>As a future director at the firm, Ore is strategically positioned to:</a:t>
                      </a:r>
                      <a:endParaRPr i="1" sz="700">
                        <a:solidFill>
                          <a:srgbClr val="000000"/>
                        </a:solidFill>
                        <a:latin typeface="Georgia"/>
                        <a:ea typeface="Georgia"/>
                        <a:cs typeface="Georgia"/>
                        <a:sym typeface="Georgia"/>
                      </a:endParaRPr>
                    </a:p>
                    <a:p>
                      <a:pPr indent="-116450" lvl="0" marL="144000" rtl="0" algn="l">
                        <a:spcBef>
                          <a:spcPts val="0"/>
                        </a:spcBef>
                        <a:spcAft>
                          <a:spcPts val="0"/>
                        </a:spcAft>
                        <a:buClr>
                          <a:srgbClr val="000000"/>
                        </a:buClr>
                        <a:buSzPts val="700"/>
                        <a:buFont typeface="Georgia"/>
                        <a:buAutoNum type="arabicPeriod"/>
                      </a:pPr>
                      <a:r>
                        <a:rPr b="0" i="1" lang="en-GB" sz="700">
                          <a:solidFill>
                            <a:srgbClr val="000000"/>
                          </a:solidFill>
                          <a:latin typeface="Georgia"/>
                          <a:ea typeface="Georgia"/>
                          <a:cs typeface="Georgia"/>
                          <a:sym typeface="Georgia"/>
                        </a:rPr>
                        <a:t>Drive further expansion of CFT’s footprint within Client Aries - delivering on $1M of already signed work and managing a $5M+ pipeline in FY21 </a:t>
                      </a:r>
                      <a:endParaRPr b="0" i="1" sz="700">
                        <a:solidFill>
                          <a:srgbClr val="000000"/>
                        </a:solidFill>
                        <a:latin typeface="Georgia"/>
                        <a:ea typeface="Georgia"/>
                        <a:cs typeface="Georgia"/>
                        <a:sym typeface="Georgia"/>
                      </a:endParaRPr>
                    </a:p>
                    <a:p>
                      <a:pPr indent="-116450" lvl="0" marL="144000" rtl="0" algn="l">
                        <a:spcBef>
                          <a:spcPts val="0"/>
                        </a:spcBef>
                        <a:spcAft>
                          <a:spcPts val="0"/>
                        </a:spcAft>
                        <a:buClr>
                          <a:srgbClr val="000000"/>
                        </a:buClr>
                        <a:buSzPts val="700"/>
                        <a:buFont typeface="Georgia"/>
                        <a:buAutoNum type="arabicPeriod"/>
                      </a:pPr>
                      <a:r>
                        <a:rPr b="0" i="1" lang="en-GB" sz="700">
                          <a:solidFill>
                            <a:srgbClr val="000000"/>
                          </a:solidFill>
                          <a:latin typeface="Georgia"/>
                          <a:ea typeface="Georgia"/>
                          <a:cs typeface="Georgia"/>
                          <a:sym typeface="Georgia"/>
                        </a:rPr>
                        <a:t>Pursue, win and deliver op model, process design, risk + controls and pmo engagements at FinTechs as he is currently performing at Client Aries </a:t>
                      </a:r>
                      <a:endParaRPr b="0" i="1" sz="700">
                        <a:solidFill>
                          <a:srgbClr val="000000"/>
                        </a:solidFill>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GB" sz="700">
                          <a:solidFill>
                            <a:schemeClr val="dk1"/>
                          </a:solidFill>
                          <a:latin typeface="Georgia"/>
                          <a:ea typeface="Georgia"/>
                          <a:cs typeface="Georgia"/>
                          <a:sym typeface="Georgia"/>
                        </a:rPr>
                        <a:t>Current Revenue </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0" i="1" lang="en-GB" sz="700">
                          <a:solidFill>
                            <a:schemeClr val="dk1"/>
                          </a:solidFill>
                          <a:latin typeface="Georgia"/>
                          <a:ea typeface="Georgia"/>
                          <a:cs typeface="Georgia"/>
                          <a:sym typeface="Georgia"/>
                        </a:rPr>
                        <a:t>Revenue Actuals</a:t>
                      </a:r>
                      <a:r>
                        <a:rPr lang="en-GB" sz="700">
                          <a:solidFill>
                            <a:schemeClr val="dk1"/>
                          </a:solidFill>
                          <a:latin typeface="Georgia"/>
                          <a:ea typeface="Georgia"/>
                          <a:cs typeface="Georgia"/>
                          <a:sym typeface="Georgia"/>
                        </a:rPr>
                        <a:t> </a:t>
                      </a:r>
                      <a:r>
                        <a:rPr b="0" lang="en-GB" sz="700">
                          <a:solidFill>
                            <a:schemeClr val="dk1"/>
                          </a:solidFill>
                          <a:latin typeface="Georgia"/>
                          <a:ea typeface="Georgia"/>
                          <a:cs typeface="Georgia"/>
                          <a:sym typeface="Georgia"/>
                        </a:rPr>
                        <a:t>(~$5M)</a:t>
                      </a:r>
                      <a:endParaRPr b="0" i="1"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 20 $4M in CFT billed revenue as Acting Director at Client Aries and Client Leo (by June 2020)</a:t>
                      </a:r>
                      <a:endParaRPr b="0"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 21 $1M CFT signed SOWs in progress as Acting Director at Client Aries and Client Leo </a:t>
                      </a:r>
                      <a:endParaRPr b="0"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Also supporting additional &gt;$7M x-los (Tax and CMAAS) opportunities at Aries</a:t>
                      </a:r>
                      <a:endParaRPr b="0"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b="0" i="1" lang="en-GB" sz="700">
                          <a:solidFill>
                            <a:schemeClr val="dk1"/>
                          </a:solidFill>
                          <a:latin typeface="Georgia"/>
                          <a:ea typeface="Georgia"/>
                          <a:cs typeface="Georgia"/>
                          <a:sym typeface="Georgia"/>
                        </a:rPr>
                        <a:t>Revenue Pipeline ($5M+)</a:t>
                      </a:r>
                      <a:endParaRPr b="0" i="1"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 21 $5M in CFT pursuit pipeline at Client Aries (September </a:t>
                      </a:r>
                      <a:endParaRPr b="0"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Plan to support additional $6-8M x-los (Tax, CMAAS) opportunities at Aries</a:t>
                      </a:r>
                      <a:endParaRPr b="0"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i="1" lang="en-GB" sz="700">
                          <a:solidFill>
                            <a:schemeClr val="dk1"/>
                          </a:solidFill>
                          <a:latin typeface="Georgia"/>
                          <a:ea typeface="Georgia"/>
                          <a:cs typeface="Georgia"/>
                          <a:sym typeface="Georgia"/>
                        </a:rPr>
                        <a:t>Historic Revenue Expansion</a:t>
                      </a:r>
                      <a:endParaRPr i="1"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FY20 @Aries and Leo expanded managed revenue from $200K to $4M by establishing strong relationships with BU Controller and CFO </a:t>
                      </a:r>
                      <a:endParaRPr b="0"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FY19 supported &gt;$6M in new project wins at Visa, State Street, Digital Realty, Citadel </a:t>
                      </a:r>
                      <a:endParaRPr b="0"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FY15-19@ICE contributed to &gt;$20M in CFT revenue expansion over 5 years</a:t>
                      </a:r>
                      <a:endParaRPr b="0" sz="700">
                        <a:solidFill>
                          <a:schemeClr val="dk1"/>
                        </a:solidFill>
                        <a:latin typeface="Georgia"/>
                        <a:ea typeface="Georgia"/>
                        <a:cs typeface="Georgia"/>
                        <a:sym typeface="Georgia"/>
                      </a:endParaRPr>
                    </a:p>
                    <a:p>
                      <a:pPr indent="-80449" lvl="0" marL="100799" rtl="0" algn="l">
                        <a:spcBef>
                          <a:spcPts val="0"/>
                        </a:spcBef>
                        <a:spcAft>
                          <a:spcPts val="0"/>
                        </a:spcAft>
                        <a:buClr>
                          <a:schemeClr val="dk1"/>
                        </a:buClr>
                        <a:buSzPts val="700"/>
                        <a:buFont typeface="Georgia"/>
                        <a:buChar char="●"/>
                      </a:pPr>
                      <a:r>
                        <a:rPr b="0" lang="en-GB" sz="700">
                          <a:solidFill>
                            <a:schemeClr val="dk1"/>
                          </a:solidFill>
                          <a:latin typeface="Georgia"/>
                          <a:ea typeface="Georgia"/>
                          <a:cs typeface="Georgia"/>
                          <a:sym typeface="Georgia"/>
                        </a:rPr>
                        <a:t>FY18-19 supported billing transformation proposals at Western Union, Moneygram, Visa CSS, Varo Money</a:t>
                      </a:r>
                      <a:endParaRPr sz="700">
                        <a:solidFill>
                          <a:schemeClr val="dk1"/>
                        </a:solidFill>
                        <a:latin typeface="Georgia"/>
                        <a:ea typeface="Georgia"/>
                        <a:cs typeface="Georgia"/>
                        <a:sym typeface="Georgia"/>
                      </a:endParaRPr>
                    </a:p>
                    <a:p>
                      <a:pPr indent="0" lvl="0" marL="0" rtl="0" algn="l">
                        <a:spcBef>
                          <a:spcPts val="0"/>
                        </a:spcBef>
                        <a:spcAft>
                          <a:spcPts val="0"/>
                        </a:spcAft>
                        <a:buNone/>
                      </a:pPr>
                      <a:r>
                        <a:t/>
                      </a:r>
                      <a:endParaRPr b="0" i="1" sz="700">
                        <a:solidFill>
                          <a:srgbClr val="980000"/>
                        </a:solidFill>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77325">
                <a:tc>
                  <a:txBody>
                    <a:bodyPr/>
                    <a:lstStyle/>
                    <a:p>
                      <a:pPr indent="0" lvl="0" marL="0" marR="0" rtl="0" algn="l">
                        <a:spcBef>
                          <a:spcPts val="0"/>
                        </a:spcBef>
                        <a:spcAft>
                          <a:spcPts val="0"/>
                        </a:spcAft>
                        <a:buNone/>
                      </a:pPr>
                      <a:r>
                        <a:rPr lang="en-GB" sz="900"/>
                        <a:t>Key Clients</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Current &amp; Prior: </a:t>
                      </a:r>
                      <a:r>
                        <a:rPr lang="en-GB" sz="700">
                          <a:solidFill>
                            <a:schemeClr val="dk1"/>
                          </a:solidFill>
                          <a:latin typeface="Georgia"/>
                          <a:ea typeface="Georgia"/>
                          <a:cs typeface="Georgia"/>
                          <a:sym typeface="Georgia"/>
                        </a:rPr>
                        <a:t>Served 15+ clients across 3 industries - FS, FinTech, Tech</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Current: Aries  (Digital Currency Venture), Leo (FinTech)</a:t>
                      </a:r>
                      <a:endParaRPr b="1"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FS: ICE, NT, Fidelity, USBank, Ameriprise, BMO, GMAC, </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Prior Tech/FinTech: Intuit, Visa, Lawson, Microsoft, Imation</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Future</a:t>
                      </a:r>
                      <a:endParaRPr b="1"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Aries (Digital Currency Venture @ FinTech/Tech) - expected 80%</a:t>
                      </a:r>
                      <a:endParaRPr sz="700">
                        <a:solidFill>
                          <a:schemeClr val="dk1"/>
                        </a:solidFill>
                        <a:latin typeface="Georgia"/>
                        <a:ea typeface="Georgia"/>
                        <a:cs typeface="Georgia"/>
                        <a:sym typeface="Georgia"/>
                      </a:endParaRPr>
                    </a:p>
                    <a:p>
                      <a:pPr indent="-209550" lvl="0" marL="342900"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FinTechs:  Paypal, Stripe, SoFi, Coinbase, Visa - pursuit 20%</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61075">
                <a:tc>
                  <a:txBody>
                    <a:bodyPr/>
                    <a:lstStyle/>
                    <a:p>
                      <a:pPr indent="0" lvl="0" marL="0" marR="0" rtl="0" algn="l">
                        <a:spcBef>
                          <a:spcPts val="0"/>
                        </a:spcBef>
                        <a:spcAft>
                          <a:spcPts val="0"/>
                        </a:spcAft>
                        <a:buNone/>
                      </a:pPr>
                      <a:r>
                        <a:rPr lang="en-GB" sz="900"/>
                        <a:t>Distinctive Experiences</a:t>
                      </a:r>
                      <a:endParaRPr sz="900"/>
                    </a:p>
                    <a:p>
                      <a:pPr indent="0" lvl="0" marL="0" marR="0" rtl="0" algn="l">
                        <a:spcBef>
                          <a:spcPts val="0"/>
                        </a:spcBef>
                        <a:spcAft>
                          <a:spcPts val="0"/>
                        </a:spcAft>
                        <a:buNone/>
                      </a:pPr>
                      <a:r>
                        <a:t/>
                      </a:r>
                      <a:endParaRPr sz="900"/>
                    </a:p>
                    <a:p>
                      <a:pPr indent="0" lvl="0" marL="0" marR="0" rtl="0" algn="l">
                        <a:spcBef>
                          <a:spcPts val="0"/>
                        </a:spcBef>
                        <a:spcAft>
                          <a:spcPts val="0"/>
                        </a:spcAft>
                        <a:buNone/>
                      </a:pPr>
                      <a:r>
                        <a:t/>
                      </a:r>
                      <a:endParaRPr sz="900"/>
                    </a:p>
                    <a:p>
                      <a:pPr indent="0" lvl="0" marL="0" marR="0" rtl="0" algn="l">
                        <a:spcBef>
                          <a:spcPts val="0"/>
                        </a:spcBef>
                        <a:spcAft>
                          <a:spcPts val="0"/>
                        </a:spcAft>
                        <a:buNone/>
                      </a:pPr>
                      <a:r>
                        <a:t/>
                      </a:r>
                      <a:endParaRPr sz="900"/>
                    </a:p>
                    <a:p>
                      <a:pPr indent="0" lvl="0" marL="0" marR="0" rtl="0" algn="l">
                        <a:spcBef>
                          <a:spcPts val="0"/>
                        </a:spcBef>
                        <a:spcAft>
                          <a:spcPts val="0"/>
                        </a:spcAft>
                        <a:buNone/>
                      </a:pPr>
                      <a:r>
                        <a:t/>
                      </a:r>
                      <a:endParaRPr sz="900"/>
                    </a:p>
                    <a:p>
                      <a:pPr indent="0" lvl="0" marL="0" marR="0" rtl="0" algn="l">
                        <a:spcBef>
                          <a:spcPts val="0"/>
                        </a:spcBef>
                        <a:spcAft>
                          <a:spcPts val="0"/>
                        </a:spcAft>
                        <a:buNone/>
                      </a:pPr>
                      <a:r>
                        <a:t/>
                      </a:r>
                      <a:endParaRPr sz="900"/>
                    </a:p>
                    <a:p>
                      <a:pPr indent="0" lvl="0" marL="0" marR="0" rtl="0" algn="l">
                        <a:spcBef>
                          <a:spcPts val="0"/>
                        </a:spcBef>
                        <a:spcAft>
                          <a:spcPts val="0"/>
                        </a:spcAft>
                        <a:buNone/>
                      </a:pPr>
                      <a:r>
                        <a:t/>
                      </a:r>
                      <a:endParaRPr sz="9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SzPts val="600"/>
                        <a:buNone/>
                      </a:pPr>
                      <a:r>
                        <a:rPr b="1" lang="en-GB" sz="700">
                          <a:solidFill>
                            <a:schemeClr val="dk1"/>
                          </a:solidFill>
                          <a:latin typeface="Georgia"/>
                          <a:ea typeface="Georgia"/>
                          <a:cs typeface="Georgia"/>
                          <a:sym typeface="Georgia"/>
                        </a:rPr>
                        <a:t>1. Distinctive Digital Currency Finance Transformation Leadership Experience - </a:t>
                      </a:r>
                      <a:r>
                        <a:rPr lang="en-GB" sz="700">
                          <a:solidFill>
                            <a:schemeClr val="dk1"/>
                          </a:solidFill>
                          <a:latin typeface="Georgia"/>
                          <a:ea typeface="Georgia"/>
                          <a:cs typeface="Georgia"/>
                          <a:sym typeface="Georgia"/>
                        </a:rPr>
                        <a:t>Accounting Operations/Treasury/FP&amp;A/Finance PMO/Tech (2019 - 2020): </a:t>
                      </a:r>
                      <a:endParaRPr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Acting Director leading delivery of CFT transformation (Acct Operations, FP&amp;A and Treasury) engagement in which we are defining key finance processes and technology to support for </a:t>
                      </a:r>
                      <a:r>
                        <a:rPr b="1" lang="en-GB" sz="700">
                          <a:solidFill>
                            <a:schemeClr val="dk1"/>
                          </a:solidFill>
                          <a:latin typeface="Georgia"/>
                          <a:ea typeface="Georgia"/>
                          <a:cs typeface="Georgia"/>
                          <a:sym typeface="Georgia"/>
                        </a:rPr>
                        <a:t>first of its kind Blockchain Digital Currency</a:t>
                      </a:r>
                      <a:r>
                        <a:rPr lang="en-GB" sz="700">
                          <a:solidFill>
                            <a:schemeClr val="dk1"/>
                          </a:solidFill>
                          <a:latin typeface="Georgia"/>
                          <a:ea typeface="Georgia"/>
                          <a:cs typeface="Georgia"/>
                          <a:sym typeface="Georgia"/>
                        </a:rPr>
                        <a:t> initiative. Working closely Key PwC Switzerland Blockchain and Stable Coin experts to define client communication for international regulatory body leading digital currency regulations </a:t>
                      </a:r>
                      <a:endParaRPr b="1" sz="7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600"/>
                        <a:buFont typeface="Arial"/>
                        <a:buNone/>
                      </a:pPr>
                      <a:r>
                        <a:rPr b="1" lang="en-GB" sz="700">
                          <a:solidFill>
                            <a:schemeClr val="dk1"/>
                          </a:solidFill>
                          <a:latin typeface="Georgia"/>
                          <a:ea typeface="Georgia"/>
                          <a:cs typeface="Georgia"/>
                          <a:sym typeface="Georgia"/>
                        </a:rPr>
                        <a:t>2. Unique International (US and EMEA) Finance Transformation Leadership Experience - </a:t>
                      </a:r>
                      <a:r>
                        <a:rPr lang="en-GB" sz="700">
                          <a:solidFill>
                            <a:schemeClr val="dk1"/>
                          </a:solidFill>
                          <a:latin typeface="Georgia"/>
                          <a:ea typeface="Georgia"/>
                          <a:cs typeface="Georgia"/>
                          <a:sym typeface="Georgia"/>
                        </a:rPr>
                        <a:t>Order to Cash</a:t>
                      </a:r>
                      <a:r>
                        <a:rPr b="1" lang="en-GB" sz="700">
                          <a:solidFill>
                            <a:schemeClr val="dk1"/>
                          </a:solidFill>
                          <a:latin typeface="Georgia"/>
                          <a:ea typeface="Georgia"/>
                          <a:cs typeface="Georgia"/>
                          <a:sym typeface="Georgia"/>
                        </a:rPr>
                        <a:t> (2015 - 2017)</a:t>
                      </a:r>
                      <a:endParaRPr b="1" sz="700">
                        <a:solidFill>
                          <a:schemeClr val="dk1"/>
                        </a:solidFill>
                        <a:latin typeface="Georgia"/>
                        <a:ea typeface="Georgia"/>
                        <a:cs typeface="Georgia"/>
                        <a:sym typeface="Georgia"/>
                      </a:endParaRPr>
                    </a:p>
                    <a:p>
                      <a:pPr indent="-98449" lvl="0" marL="107999" rtl="0" algn="l">
                        <a:spcBef>
                          <a:spcPts val="0"/>
                        </a:spcBef>
                        <a:spcAft>
                          <a:spcPts val="0"/>
                        </a:spcAft>
                        <a:buClr>
                          <a:schemeClr val="dk1"/>
                        </a:buClr>
                        <a:buSzPts val="700"/>
                        <a:buFont typeface="Georgia"/>
                        <a:buChar char="●"/>
                      </a:pPr>
                      <a:r>
                        <a:rPr lang="en-GB" sz="700">
                          <a:solidFill>
                            <a:schemeClr val="dk1"/>
                          </a:solidFill>
                          <a:latin typeface="Georgia"/>
                          <a:ea typeface="Georgia"/>
                          <a:cs typeface="Georgia"/>
                          <a:sym typeface="Georgia"/>
                        </a:rPr>
                        <a:t>Demonstrated ability to lead across global boundaries. Delivered on three go lives in the UK with a combined team of US and UK staff while also maintaining leadership of 1 US implementation. Oversaw go lives and support in countries incld  UK, Italy, Israel along with 12 month relocation to UK.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b="1" i="1" lang="en-GB" sz="700">
                          <a:solidFill>
                            <a:schemeClr val="dk1"/>
                          </a:solidFill>
                          <a:latin typeface="Georgia"/>
                          <a:ea typeface="Georgia"/>
                          <a:cs typeface="Georgia"/>
                          <a:sym typeface="Georgia"/>
                        </a:rPr>
                        <a:t>3. Finance Org and Process Design Expertise </a:t>
                      </a:r>
                      <a:r>
                        <a:rPr i="1" lang="en-GB" sz="700">
                          <a:solidFill>
                            <a:schemeClr val="dk1"/>
                          </a:solidFill>
                          <a:latin typeface="Georgia"/>
                          <a:ea typeface="Georgia"/>
                          <a:cs typeface="Georgia"/>
                          <a:sym typeface="Georgia"/>
                        </a:rPr>
                        <a:t>(2014 - Date)</a:t>
                      </a:r>
                      <a:r>
                        <a:rPr b="1" i="1" lang="en-GB" sz="700">
                          <a:solidFill>
                            <a:schemeClr val="dk1"/>
                          </a:solidFill>
                          <a:latin typeface="Georgia"/>
                          <a:ea typeface="Georgia"/>
                          <a:cs typeface="Georgia"/>
                          <a:sym typeface="Georgia"/>
                        </a:rPr>
                        <a:t> </a:t>
                      </a:r>
                      <a:endParaRPr b="1" i="1"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i="1" lang="en-GB" sz="700">
                          <a:solidFill>
                            <a:schemeClr val="dk1"/>
                          </a:solidFill>
                          <a:latin typeface="Georgia"/>
                          <a:ea typeface="Georgia"/>
                          <a:cs typeface="Georgia"/>
                          <a:sym typeface="Georgia"/>
                        </a:rPr>
                        <a:t>Based on the following experiences (a)</a:t>
                      </a:r>
                      <a:r>
                        <a:rPr b="1" lang="en-GB" sz="700">
                          <a:solidFill>
                            <a:schemeClr val="dk1"/>
                          </a:solidFill>
                          <a:latin typeface="Georgia"/>
                          <a:ea typeface="Georgia"/>
                          <a:cs typeface="Georgia"/>
                          <a:sym typeface="Georgia"/>
                        </a:rPr>
                        <a:t> </a:t>
                      </a:r>
                      <a:r>
                        <a:rPr lang="en-GB" sz="700">
                          <a:solidFill>
                            <a:schemeClr val="dk1"/>
                          </a:solidFill>
                          <a:latin typeface="Georgia"/>
                          <a:ea typeface="Georgia"/>
                          <a:cs typeface="Georgia"/>
                          <a:sym typeface="Georgia"/>
                        </a:rPr>
                        <a:t>USBank, Org Structure, Op model, Process Design for new FS venture (cb) @ Visa CSS BU, Services Business Redesign (c) @Aries, Finance op model and finance function standup for new FS venture (d) @ ICE, drove Order to Cash process and tech integration resulting from several acquisitions </a:t>
                      </a:r>
                      <a:endParaRPr sz="700">
                        <a:solidFill>
                          <a:schemeClr val="dk1"/>
                        </a:solidFill>
                        <a:latin typeface="Georgia"/>
                        <a:ea typeface="Georgia"/>
                        <a:cs typeface="Georgia"/>
                        <a:sym typeface="Georgia"/>
                      </a:endParaRPr>
                    </a:p>
                    <a:p>
                      <a:pPr indent="0" lvl="0" marL="0" rtl="0" algn="l">
                        <a:spcBef>
                          <a:spcPts val="0"/>
                        </a:spcBef>
                        <a:spcAft>
                          <a:spcPts val="0"/>
                        </a:spcAft>
                        <a:buNone/>
                      </a:pPr>
                      <a:r>
                        <a:rPr b="1" i="1" lang="en-GB" sz="700">
                          <a:solidFill>
                            <a:schemeClr val="dk1"/>
                          </a:solidFill>
                          <a:latin typeface="Georgia"/>
                          <a:ea typeface="Georgia"/>
                          <a:cs typeface="Georgia"/>
                          <a:sym typeface="Georgia"/>
                        </a:rPr>
                        <a:t>4. Robust Finance Risk and Controls Expertise </a:t>
                      </a:r>
                      <a:r>
                        <a:rPr i="1" lang="en-GB" sz="700">
                          <a:solidFill>
                            <a:schemeClr val="dk1"/>
                          </a:solidFill>
                          <a:latin typeface="Georgia"/>
                          <a:ea typeface="Georgia"/>
                          <a:cs typeface="Georgia"/>
                          <a:sym typeface="Georgia"/>
                        </a:rPr>
                        <a:t>(2006 - 2013)</a:t>
                      </a:r>
                      <a:r>
                        <a:rPr b="1" i="1" lang="en-GB" sz="700">
                          <a:solidFill>
                            <a:schemeClr val="dk1"/>
                          </a:solidFill>
                          <a:latin typeface="Georgia"/>
                          <a:ea typeface="Georgia"/>
                          <a:cs typeface="Georgia"/>
                          <a:sym typeface="Georgia"/>
                        </a:rPr>
                        <a:t>: </a:t>
                      </a:r>
                      <a:endParaRPr b="1" i="1" sz="700">
                        <a:solidFill>
                          <a:schemeClr val="dk1"/>
                        </a:solidFill>
                        <a:latin typeface="Georgia"/>
                        <a:ea typeface="Georgia"/>
                        <a:cs typeface="Georgia"/>
                        <a:sym typeface="Georgia"/>
                      </a:endParaRPr>
                    </a:p>
                    <a:p>
                      <a:pPr indent="-116450" lvl="0" marL="144000" rtl="0" algn="l">
                        <a:spcBef>
                          <a:spcPts val="0"/>
                        </a:spcBef>
                        <a:spcAft>
                          <a:spcPts val="0"/>
                        </a:spcAft>
                        <a:buClr>
                          <a:schemeClr val="dk1"/>
                        </a:buClr>
                        <a:buSzPts val="700"/>
                        <a:buFont typeface="Georgia"/>
                        <a:buChar char="●"/>
                      </a:pPr>
                      <a:r>
                        <a:rPr i="1" lang="en-GB" sz="700">
                          <a:solidFill>
                            <a:schemeClr val="dk1"/>
                          </a:solidFill>
                          <a:latin typeface="Georgia"/>
                          <a:ea typeface="Georgia"/>
                          <a:cs typeface="Georgia"/>
                          <a:sym typeface="Georgia"/>
                        </a:rPr>
                        <a:t>Based on </a:t>
                      </a:r>
                      <a:r>
                        <a:rPr lang="en-GB" sz="700">
                          <a:solidFill>
                            <a:schemeClr val="dk1"/>
                          </a:solidFill>
                          <a:latin typeface="Georgia"/>
                          <a:ea typeface="Georgia"/>
                          <a:cs typeface="Georgia"/>
                          <a:sym typeface="Georgia"/>
                        </a:rPr>
                        <a:t>execution of risk and controls assessment and design engagements/workstreams @FS+Tech clients including Ameriprise, BMO, Microsoft, Lawson, Imation</a:t>
                      </a:r>
                      <a:endParaRPr sz="700">
                        <a:latin typeface="Georgia"/>
                        <a:ea typeface="Georgia"/>
                        <a:cs typeface="Georgia"/>
                        <a:sym typeface="Georgia"/>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txBox="1"/>
          <p:nvPr>
            <p:ph type="title"/>
          </p:nvPr>
        </p:nvSpPr>
        <p:spPr>
          <a:xfrm>
            <a:off x="533400" y="685800"/>
            <a:ext cx="8077200" cy="9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Ore’s Practice Development 2014 - 2019 </a:t>
            </a:r>
            <a:endParaRPr/>
          </a:p>
        </p:txBody>
      </p:sp>
      <p:sp>
        <p:nvSpPr>
          <p:cNvPr id="306" name="Google Shape;306;p30"/>
          <p:cNvSpPr txBox="1"/>
          <p:nvPr>
            <p:ph idx="12" type="sldNum"/>
          </p:nvPr>
        </p:nvSpPr>
        <p:spPr>
          <a:xfrm>
            <a:off x="7086600" y="6477000"/>
            <a:ext cx="1527000" cy="1524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07" name="Google Shape;307;p30"/>
          <p:cNvGraphicFramePr/>
          <p:nvPr/>
        </p:nvGraphicFramePr>
        <p:xfrm>
          <a:off x="495300" y="1219200"/>
          <a:ext cx="3000000" cy="3000000"/>
        </p:xfrm>
        <a:graphic>
          <a:graphicData uri="http://schemas.openxmlformats.org/drawingml/2006/table">
            <a:tbl>
              <a:tblPr>
                <a:noFill/>
                <a:tableStyleId>{63073775-0C0F-4C1C-ADCE-2F534EA4507B}</a:tableStyleId>
              </a:tblPr>
              <a:tblGrid>
                <a:gridCol w="620675"/>
                <a:gridCol w="880900"/>
                <a:gridCol w="3863875"/>
                <a:gridCol w="2942650"/>
              </a:tblGrid>
              <a:tr h="381000">
                <a:tc>
                  <a:txBody>
                    <a:bodyPr/>
                    <a:lstStyle/>
                    <a:p>
                      <a:pPr indent="0" lvl="0" marL="0" rtl="0" algn="l">
                        <a:spcBef>
                          <a:spcPts val="0"/>
                        </a:spcBef>
                        <a:spcAft>
                          <a:spcPts val="0"/>
                        </a:spcAft>
                        <a:buNone/>
                      </a:pPr>
                      <a:r>
                        <a:rPr b="1" lang="en-GB"/>
                        <a:t>Year</a:t>
                      </a:r>
                      <a:endParaRPr b="1"/>
                    </a:p>
                  </a:txBody>
                  <a:tcPr marT="91425" marB="91425" marR="91425" marL="91425">
                    <a:lnB cap="flat" cmpd="sng" w="9525">
                      <a:solidFill>
                        <a:srgbClr val="9E9E9E"/>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b="1" lang="en-GB"/>
                        <a:t>Client</a:t>
                      </a:r>
                      <a:endParaRPr b="1"/>
                    </a:p>
                  </a:txBody>
                  <a:tcPr marT="91425" marB="91425" marR="91425" marL="91425">
                    <a:lnB cap="flat" cmpd="sng" w="9525">
                      <a:solidFill>
                        <a:srgbClr val="9E9E9E"/>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b="1" lang="en-GB"/>
                        <a:t>RI Work</a:t>
                      </a:r>
                      <a:endParaRPr b="1"/>
                    </a:p>
                  </a:txBody>
                  <a:tcPr marT="91425" marB="91425" marR="91425" marL="91425">
                    <a:lnB cap="flat" cmpd="sng" w="9525">
                      <a:solidFill>
                        <a:srgbClr val="9E9E9E"/>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b="1" lang="en-GB"/>
                        <a:t>Ore’s skills</a:t>
                      </a:r>
                      <a:endParaRPr b="1"/>
                    </a:p>
                  </a:txBody>
                  <a:tcPr marT="91425" marB="91425" marR="91425" marL="91425">
                    <a:lnB cap="flat" cmpd="sng" w="9525">
                      <a:solidFill>
                        <a:srgbClr val="9E9E9E"/>
                      </a:solidFill>
                      <a:prstDash val="solid"/>
                      <a:round/>
                      <a:headEnd len="sm" w="sm" type="none"/>
                      <a:tailEnd len="sm" w="sm" type="none"/>
                    </a:lnB>
                    <a:solidFill>
                      <a:srgbClr val="FCE5CD"/>
                    </a:solidFill>
                  </a:tcPr>
                </a:tc>
              </a:tr>
              <a:tr h="381000">
                <a:tc>
                  <a:txBody>
                    <a:bodyPr/>
                    <a:lstStyle/>
                    <a:p>
                      <a:pPr indent="0" lvl="0" marL="0" rtl="0" algn="r">
                        <a:lnSpc>
                          <a:spcPct val="115000"/>
                        </a:lnSpc>
                        <a:spcBef>
                          <a:spcPts val="0"/>
                        </a:spcBef>
                        <a:spcAft>
                          <a:spcPts val="0"/>
                        </a:spcAft>
                        <a:buNone/>
                      </a:pPr>
                      <a:r>
                        <a:rPr lang="en-GB" sz="1000"/>
                        <a:t>2018</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000"/>
                        <a:t>Proposal Wins</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13901" lvl="0" marL="136800" rtl="0" algn="l">
                        <a:lnSpc>
                          <a:spcPct val="115000"/>
                        </a:lnSpc>
                        <a:spcBef>
                          <a:spcPts val="0"/>
                        </a:spcBef>
                        <a:spcAft>
                          <a:spcPts val="0"/>
                        </a:spcAft>
                        <a:buSzPts val="1000"/>
                        <a:buChar char="●"/>
                      </a:pPr>
                      <a:r>
                        <a:rPr b="1" lang="en-GB" sz="1000"/>
                        <a:t>Visa O2C Assessment - </a:t>
                      </a:r>
                      <a:r>
                        <a:rPr lang="en-GB" sz="1000"/>
                        <a:t>Penned proposal, attended orals conf call, Delivered project health check  to Visa CIO</a:t>
                      </a:r>
                      <a:endParaRPr b="1" sz="1000"/>
                    </a:p>
                    <a:p>
                      <a:pPr indent="-113901" lvl="0" marL="136800" rtl="0" algn="l">
                        <a:lnSpc>
                          <a:spcPct val="115000"/>
                        </a:lnSpc>
                        <a:spcBef>
                          <a:spcPts val="0"/>
                        </a:spcBef>
                        <a:spcAft>
                          <a:spcPts val="0"/>
                        </a:spcAft>
                        <a:buSzPts val="1000"/>
                        <a:buChar char="●"/>
                      </a:pPr>
                      <a:r>
                        <a:rPr b="1" lang="en-GB" sz="1000"/>
                        <a:t>Digital Realty - </a:t>
                      </a:r>
                      <a:r>
                        <a:rPr lang="en-GB" sz="1000"/>
                        <a:t>Attended early stage Orals, Penned early proposals guided by TN, JB, WE before ORMB was no longer solution</a:t>
                      </a:r>
                      <a:endParaRPr b="1" sz="1000"/>
                    </a:p>
                    <a:p>
                      <a:pPr indent="-113901" lvl="0" marL="136800" rtl="0" algn="l">
                        <a:lnSpc>
                          <a:spcPct val="115000"/>
                        </a:lnSpc>
                        <a:spcBef>
                          <a:spcPts val="0"/>
                        </a:spcBef>
                        <a:spcAft>
                          <a:spcPts val="0"/>
                        </a:spcAft>
                        <a:buSzPts val="1000"/>
                        <a:buChar char="●"/>
                      </a:pPr>
                      <a:r>
                        <a:rPr b="1" lang="en-GB" sz="1000"/>
                        <a:t>State Street - </a:t>
                      </a:r>
                      <a:r>
                        <a:rPr lang="en-GB" sz="1000"/>
                        <a:t>Penned original proposal (including approach/timeline/pricing calcs) guided by JB, TN, JS and first draft SOW, attended conf calls with client</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AutoNum type="arabicPeriod"/>
                      </a:pPr>
                      <a:r>
                        <a:rPr lang="en-GB" sz="1000"/>
                        <a:t>Proposal Approach</a:t>
                      </a:r>
                      <a:endParaRPr sz="1000"/>
                    </a:p>
                    <a:p>
                      <a:pPr indent="-292100" lvl="0" marL="457200" rtl="0" algn="l">
                        <a:lnSpc>
                          <a:spcPct val="115000"/>
                        </a:lnSpc>
                        <a:spcBef>
                          <a:spcPts val="0"/>
                        </a:spcBef>
                        <a:spcAft>
                          <a:spcPts val="0"/>
                        </a:spcAft>
                        <a:buSzPts val="1000"/>
                        <a:buAutoNum type="arabicPeriod"/>
                      </a:pPr>
                      <a:r>
                        <a:rPr lang="en-GB" sz="1000"/>
                        <a:t>Orals</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1475">
                <a:tc>
                  <a:txBody>
                    <a:bodyPr/>
                    <a:lstStyle/>
                    <a:p>
                      <a:pPr indent="0" lvl="0" marL="0" rtl="0" algn="r">
                        <a:lnSpc>
                          <a:spcPct val="115000"/>
                        </a:lnSpc>
                        <a:spcBef>
                          <a:spcPts val="0"/>
                        </a:spcBef>
                        <a:spcAft>
                          <a:spcPts val="0"/>
                        </a:spcAft>
                        <a:buNone/>
                      </a:pPr>
                      <a:r>
                        <a:rPr lang="en-GB" sz="1000"/>
                        <a:t>2018</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000"/>
                        <a:t>Proposal Losses</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13901" lvl="0" marL="136800" rtl="0" algn="l">
                        <a:lnSpc>
                          <a:spcPct val="115000"/>
                        </a:lnSpc>
                        <a:spcBef>
                          <a:spcPts val="0"/>
                        </a:spcBef>
                        <a:spcAft>
                          <a:spcPts val="0"/>
                        </a:spcAft>
                        <a:buSzPts val="1000"/>
                        <a:buChar char="●"/>
                      </a:pPr>
                      <a:r>
                        <a:rPr b="1" lang="en-GB" sz="1000"/>
                        <a:t>Western Union Assessment - </a:t>
                      </a:r>
                      <a:r>
                        <a:rPr lang="en-GB" sz="1000"/>
                        <a:t>Lead conf call orals, penned proposal supported by Joe/Warren</a:t>
                      </a:r>
                      <a:endParaRPr b="1" sz="1000"/>
                    </a:p>
                    <a:p>
                      <a:pPr indent="-113901" lvl="0" marL="136800" rtl="0" algn="l">
                        <a:lnSpc>
                          <a:spcPct val="115000"/>
                        </a:lnSpc>
                        <a:spcBef>
                          <a:spcPts val="0"/>
                        </a:spcBef>
                        <a:spcAft>
                          <a:spcPts val="0"/>
                        </a:spcAft>
                        <a:buSzPts val="1000"/>
                        <a:buChar char="●"/>
                      </a:pPr>
                      <a:r>
                        <a:rPr b="1" lang="en-GB" sz="1000"/>
                        <a:t>Moneygram -</a:t>
                      </a:r>
                      <a:r>
                        <a:rPr lang="en-GB" sz="1000"/>
                        <a:t> Penned significant portion of proposal</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AutoNum type="arabicPeriod"/>
                      </a:pPr>
                      <a:r>
                        <a:rPr lang="en-GB" sz="1000"/>
                        <a:t>Proposal Approach</a:t>
                      </a:r>
                      <a:endParaRPr sz="1000"/>
                    </a:p>
                    <a:p>
                      <a:pPr indent="-292100" lvl="0" marL="457200" rtl="0" algn="l">
                        <a:lnSpc>
                          <a:spcPct val="115000"/>
                        </a:lnSpc>
                        <a:spcBef>
                          <a:spcPts val="0"/>
                        </a:spcBef>
                        <a:spcAft>
                          <a:spcPts val="0"/>
                        </a:spcAft>
                        <a:buSzPts val="1000"/>
                        <a:buAutoNum type="arabicPeriod"/>
                      </a:pPr>
                      <a:r>
                        <a:rPr lang="en-GB" sz="1000"/>
                        <a:t>Orals</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r">
                        <a:lnSpc>
                          <a:spcPct val="115000"/>
                        </a:lnSpc>
                        <a:spcBef>
                          <a:spcPts val="0"/>
                        </a:spcBef>
                        <a:spcAft>
                          <a:spcPts val="0"/>
                        </a:spcAft>
                        <a:buNone/>
                      </a:pPr>
                      <a:r>
                        <a:rPr lang="en-GB" sz="1000"/>
                        <a:t>2018</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000"/>
                        <a:t>Revenue Optimization</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13901" lvl="0" marL="136800" rtl="0" algn="l">
                        <a:lnSpc>
                          <a:spcPct val="115000"/>
                        </a:lnSpc>
                        <a:spcBef>
                          <a:spcPts val="0"/>
                        </a:spcBef>
                        <a:spcAft>
                          <a:spcPts val="0"/>
                        </a:spcAft>
                        <a:buSzPts val="1000"/>
                        <a:buChar char="●"/>
                      </a:pPr>
                      <a:r>
                        <a:rPr b="1" lang="en-GB" sz="1000"/>
                        <a:t>Developed Revenue Optimization POV</a:t>
                      </a:r>
                      <a:r>
                        <a:rPr lang="en-GB" sz="1000"/>
                        <a:t> guided by Jamie B. resulting from experiences at ICE UK</a:t>
                      </a:r>
                      <a:endParaRPr sz="1000"/>
                    </a:p>
                    <a:p>
                      <a:pPr indent="-149900" lvl="1" marL="450000" rtl="0" algn="l">
                        <a:lnSpc>
                          <a:spcPct val="115000"/>
                        </a:lnSpc>
                        <a:spcBef>
                          <a:spcPts val="0"/>
                        </a:spcBef>
                        <a:spcAft>
                          <a:spcPts val="0"/>
                        </a:spcAft>
                        <a:buSzPts val="1000"/>
                        <a:buChar char="○"/>
                      </a:pPr>
                      <a:r>
                        <a:rPr lang="en-GB" sz="1000"/>
                        <a:t>Supported Jamie pitching to several GEPs, and internal PwC stakeholders including OCC and NASDAQ GEP, also tracking pipeline activity</a:t>
                      </a:r>
                      <a:endParaRPr b="1" sz="1000"/>
                    </a:p>
                    <a:p>
                      <a:pPr indent="-113901" lvl="0" marL="136800" rtl="0" algn="l">
                        <a:lnSpc>
                          <a:spcPct val="115000"/>
                        </a:lnSpc>
                        <a:spcBef>
                          <a:spcPts val="0"/>
                        </a:spcBef>
                        <a:spcAft>
                          <a:spcPts val="0"/>
                        </a:spcAft>
                        <a:buSzPts val="1000"/>
                        <a:buChar char="●"/>
                      </a:pPr>
                      <a:r>
                        <a:rPr b="1" lang="en-GB" sz="1000"/>
                        <a:t>Visa CSS: </a:t>
                      </a:r>
                      <a:r>
                        <a:rPr lang="en-GB" sz="1000"/>
                        <a:t>Leveraged specific POV concepts in delivering related Visa CSS Revenue Transformation 10 week project.</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AutoNum type="arabicPeriod"/>
                      </a:pPr>
                      <a:r>
                        <a:rPr lang="en-GB" sz="1000"/>
                        <a:t>POV Development</a:t>
                      </a:r>
                      <a:endParaRPr sz="1000"/>
                    </a:p>
                    <a:p>
                      <a:pPr indent="-292100" lvl="0" marL="457200" rtl="0" algn="l">
                        <a:lnSpc>
                          <a:spcPct val="115000"/>
                        </a:lnSpc>
                        <a:spcBef>
                          <a:spcPts val="0"/>
                        </a:spcBef>
                        <a:spcAft>
                          <a:spcPts val="0"/>
                        </a:spcAft>
                        <a:buSzPts val="1000"/>
                        <a:buAutoNum type="arabicPeriod"/>
                      </a:pPr>
                      <a:r>
                        <a:rPr lang="en-GB" sz="1000"/>
                        <a:t>Pipeline Mgmt</a:t>
                      </a:r>
                      <a:endParaRPr sz="1000"/>
                    </a:p>
                  </a:txBody>
                  <a:tcPr marT="19050" marB="1905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1"/>
          <p:cNvSpPr txBox="1"/>
          <p:nvPr>
            <p:ph type="title"/>
          </p:nvPr>
        </p:nvSpPr>
        <p:spPr>
          <a:xfrm>
            <a:off x="533400" y="685800"/>
            <a:ext cx="8077200" cy="9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Ore’s RI Journey from 2014 - 2019 </a:t>
            </a:r>
            <a:endParaRPr/>
          </a:p>
        </p:txBody>
      </p:sp>
      <p:sp>
        <p:nvSpPr>
          <p:cNvPr id="314" name="Google Shape;314;p31"/>
          <p:cNvSpPr txBox="1"/>
          <p:nvPr>
            <p:ph idx="12" type="sldNum"/>
          </p:nvPr>
        </p:nvSpPr>
        <p:spPr>
          <a:xfrm>
            <a:off x="7086600" y="6477000"/>
            <a:ext cx="1527000" cy="15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graphicFrame>
        <p:nvGraphicFramePr>
          <p:cNvPr id="315" name="Google Shape;315;p31"/>
          <p:cNvGraphicFramePr/>
          <p:nvPr/>
        </p:nvGraphicFramePr>
        <p:xfrm>
          <a:off x="495300" y="1219200"/>
          <a:ext cx="3000000" cy="3000000"/>
        </p:xfrm>
        <a:graphic>
          <a:graphicData uri="http://schemas.openxmlformats.org/drawingml/2006/table">
            <a:tbl>
              <a:tblPr>
                <a:noFill/>
                <a:tableStyleId>{63073775-0C0F-4C1C-ADCE-2F534EA4507B}</a:tableStyleId>
              </a:tblPr>
              <a:tblGrid>
                <a:gridCol w="620675"/>
                <a:gridCol w="880900"/>
                <a:gridCol w="3863875"/>
                <a:gridCol w="2942650"/>
              </a:tblGrid>
              <a:tr h="307900">
                <a:tc>
                  <a:txBody>
                    <a:bodyPr/>
                    <a:lstStyle/>
                    <a:p>
                      <a:pPr indent="0" lvl="0" marL="0" rtl="0" algn="l">
                        <a:spcBef>
                          <a:spcPts val="0"/>
                        </a:spcBef>
                        <a:spcAft>
                          <a:spcPts val="0"/>
                        </a:spcAft>
                        <a:buNone/>
                      </a:pPr>
                      <a:r>
                        <a:rPr b="1" lang="en-GB" sz="1000"/>
                        <a:t>Year</a:t>
                      </a:r>
                      <a:endParaRPr b="1" sz="1000"/>
                    </a:p>
                  </a:txBody>
                  <a:tcPr marT="91425" marB="91425" marR="91425" marL="91425">
                    <a:solidFill>
                      <a:srgbClr val="FCE5CD"/>
                    </a:solidFill>
                  </a:tcPr>
                </a:tc>
                <a:tc>
                  <a:txBody>
                    <a:bodyPr/>
                    <a:lstStyle/>
                    <a:p>
                      <a:pPr indent="0" lvl="0" marL="0" rtl="0" algn="l">
                        <a:spcBef>
                          <a:spcPts val="0"/>
                        </a:spcBef>
                        <a:spcAft>
                          <a:spcPts val="0"/>
                        </a:spcAft>
                        <a:buNone/>
                      </a:pPr>
                      <a:r>
                        <a:rPr b="1" lang="en-GB" sz="1000"/>
                        <a:t>Client</a:t>
                      </a:r>
                      <a:endParaRPr b="1" sz="1000"/>
                    </a:p>
                  </a:txBody>
                  <a:tcPr marT="91425" marB="91425" marR="91425" marL="91425">
                    <a:solidFill>
                      <a:srgbClr val="FCE5CD"/>
                    </a:solidFill>
                  </a:tcPr>
                </a:tc>
                <a:tc>
                  <a:txBody>
                    <a:bodyPr/>
                    <a:lstStyle/>
                    <a:p>
                      <a:pPr indent="0" lvl="0" marL="0" rtl="0" algn="l">
                        <a:spcBef>
                          <a:spcPts val="0"/>
                        </a:spcBef>
                        <a:spcAft>
                          <a:spcPts val="0"/>
                        </a:spcAft>
                        <a:buNone/>
                      </a:pPr>
                      <a:r>
                        <a:rPr b="1" lang="en-GB" sz="1000"/>
                        <a:t>RI Work</a:t>
                      </a:r>
                      <a:endParaRPr b="1" sz="1000"/>
                    </a:p>
                  </a:txBody>
                  <a:tcPr marT="91425" marB="91425" marR="91425" marL="91425">
                    <a:solidFill>
                      <a:srgbClr val="FCE5CD"/>
                    </a:solidFill>
                  </a:tcPr>
                </a:tc>
                <a:tc>
                  <a:txBody>
                    <a:bodyPr/>
                    <a:lstStyle/>
                    <a:p>
                      <a:pPr indent="0" lvl="0" marL="0" rtl="0" algn="l">
                        <a:spcBef>
                          <a:spcPts val="0"/>
                        </a:spcBef>
                        <a:spcAft>
                          <a:spcPts val="0"/>
                        </a:spcAft>
                        <a:buNone/>
                      </a:pPr>
                      <a:r>
                        <a:rPr b="1" lang="en-GB" sz="1000"/>
                        <a:t>Ore’s skills</a:t>
                      </a:r>
                      <a:endParaRPr b="1" sz="1000"/>
                    </a:p>
                  </a:txBody>
                  <a:tcPr marT="91425" marB="91425" marR="91425" marL="91425">
                    <a:solidFill>
                      <a:srgbClr val="FCE5CD"/>
                    </a:solidFill>
                  </a:tcPr>
                </a:tc>
              </a:tr>
              <a:tr h="381000">
                <a:tc>
                  <a:txBody>
                    <a:bodyPr/>
                    <a:lstStyle/>
                    <a:p>
                      <a:pPr indent="0" lvl="0" marL="0" rtl="0" algn="l">
                        <a:spcBef>
                          <a:spcPts val="0"/>
                        </a:spcBef>
                        <a:spcAft>
                          <a:spcPts val="0"/>
                        </a:spcAft>
                        <a:buNone/>
                      </a:pPr>
                      <a:r>
                        <a:rPr lang="en-GB" sz="1000"/>
                        <a:t>2013</a:t>
                      </a:r>
                      <a:endParaRPr sz="1000"/>
                    </a:p>
                  </a:txBody>
                  <a:tcPr marT="36000" marB="36000" marR="91425" marL="91425"/>
                </a:tc>
                <a:tc>
                  <a:txBody>
                    <a:bodyPr/>
                    <a:lstStyle/>
                    <a:p>
                      <a:pPr indent="0" lvl="0" marL="35999" rtl="0" algn="l">
                        <a:spcBef>
                          <a:spcPts val="0"/>
                        </a:spcBef>
                        <a:spcAft>
                          <a:spcPts val="0"/>
                        </a:spcAft>
                        <a:buNone/>
                      </a:pPr>
                      <a:r>
                        <a:rPr lang="en-GB" sz="1000"/>
                        <a:t>Intuit</a:t>
                      </a:r>
                      <a:endParaRPr sz="1000"/>
                    </a:p>
                  </a:txBody>
                  <a:tcPr marT="36000" marB="36000" marR="91425" marL="91425"/>
                </a:tc>
                <a:tc>
                  <a:txBody>
                    <a:bodyPr/>
                    <a:lstStyle/>
                    <a:p>
                      <a:pPr indent="-113899" lvl="0" marL="100799" rtl="0" algn="l">
                        <a:spcBef>
                          <a:spcPts val="0"/>
                        </a:spcBef>
                        <a:spcAft>
                          <a:spcPts val="0"/>
                        </a:spcAft>
                        <a:buSzPts val="1000"/>
                        <a:buChar char="●"/>
                      </a:pPr>
                      <a:r>
                        <a:rPr lang="en-GB" sz="1000"/>
                        <a:t>Intuit - O2C Process Design, O2C Technology Architecture, Vendor Selection (Recommended BRM) </a:t>
                      </a:r>
                      <a:r>
                        <a:rPr b="1" lang="en-GB" sz="1000"/>
                        <a:t>with Laurie Fleet</a:t>
                      </a:r>
                      <a:endParaRPr b="1" sz="1000"/>
                    </a:p>
                  </a:txBody>
                  <a:tcPr marT="36000" marB="36000" marR="91425" marL="91425"/>
                </a:tc>
                <a:tc>
                  <a:txBody>
                    <a:bodyPr/>
                    <a:lstStyle/>
                    <a:p>
                      <a:pPr indent="-292100" lvl="0" marL="457200" rtl="0" algn="l">
                        <a:spcBef>
                          <a:spcPts val="0"/>
                        </a:spcBef>
                        <a:spcAft>
                          <a:spcPts val="0"/>
                        </a:spcAft>
                        <a:buSzPts val="1000"/>
                        <a:buAutoNum type="arabicPeriod"/>
                      </a:pPr>
                      <a:r>
                        <a:rPr lang="en-GB" sz="1000"/>
                        <a:t>Vendor selection</a:t>
                      </a:r>
                      <a:endParaRPr sz="1000"/>
                    </a:p>
                    <a:p>
                      <a:pPr indent="-292100" lvl="0" marL="457200" rtl="0" algn="l">
                        <a:spcBef>
                          <a:spcPts val="0"/>
                        </a:spcBef>
                        <a:spcAft>
                          <a:spcPts val="0"/>
                        </a:spcAft>
                        <a:buSzPts val="1000"/>
                        <a:buAutoNum type="arabicPeriod"/>
                      </a:pPr>
                      <a:r>
                        <a:rPr lang="en-GB" sz="1000"/>
                        <a:t>Non tech O2C Process Design</a:t>
                      </a:r>
                      <a:endParaRPr sz="1000"/>
                    </a:p>
                    <a:p>
                      <a:pPr indent="-292100" lvl="0" marL="457200" rtl="0" algn="l">
                        <a:spcBef>
                          <a:spcPts val="0"/>
                        </a:spcBef>
                        <a:spcAft>
                          <a:spcPts val="0"/>
                        </a:spcAft>
                        <a:buSzPts val="1000"/>
                        <a:buAutoNum type="arabicPeriod"/>
                      </a:pPr>
                      <a:r>
                        <a:rPr lang="en-GB" sz="1000"/>
                        <a:t>O2C Technology Architecture</a:t>
                      </a:r>
                      <a:endParaRPr sz="1000"/>
                    </a:p>
                  </a:txBody>
                  <a:tcPr marT="36000" marB="36000" marR="91425" marL="91425"/>
                </a:tc>
              </a:tr>
              <a:tr h="508450">
                <a:tc>
                  <a:txBody>
                    <a:bodyPr/>
                    <a:lstStyle/>
                    <a:p>
                      <a:pPr indent="0" lvl="0" marL="0" rtl="0" algn="l">
                        <a:spcBef>
                          <a:spcPts val="0"/>
                        </a:spcBef>
                        <a:spcAft>
                          <a:spcPts val="0"/>
                        </a:spcAft>
                        <a:buNone/>
                      </a:pPr>
                      <a:r>
                        <a:rPr lang="en-GB" sz="1000"/>
                        <a:t>2014</a:t>
                      </a:r>
                      <a:endParaRPr sz="1000"/>
                    </a:p>
                  </a:txBody>
                  <a:tcPr marT="36000" marB="36000" marR="91425" marL="91425"/>
                </a:tc>
                <a:tc>
                  <a:txBody>
                    <a:bodyPr/>
                    <a:lstStyle/>
                    <a:p>
                      <a:pPr indent="0" lvl="0" marL="35999" rtl="0" algn="l">
                        <a:spcBef>
                          <a:spcPts val="0"/>
                        </a:spcBef>
                        <a:spcAft>
                          <a:spcPts val="0"/>
                        </a:spcAft>
                        <a:buNone/>
                      </a:pPr>
                      <a:r>
                        <a:rPr lang="en-GB" sz="1000"/>
                        <a:t>ICE</a:t>
                      </a:r>
                      <a:endParaRPr sz="1000"/>
                    </a:p>
                  </a:txBody>
                  <a:tcPr marT="36000" marB="36000" marR="91425" marL="91425"/>
                </a:tc>
                <a:tc>
                  <a:txBody>
                    <a:bodyPr/>
                    <a:lstStyle/>
                    <a:p>
                      <a:pPr indent="-113899" lvl="0" marL="100799" rtl="0" algn="l">
                        <a:spcBef>
                          <a:spcPts val="0"/>
                        </a:spcBef>
                        <a:spcAft>
                          <a:spcPts val="0"/>
                        </a:spcAft>
                        <a:buSzPts val="1000"/>
                        <a:buChar char="●"/>
                      </a:pPr>
                      <a:r>
                        <a:rPr lang="en-GB" sz="1000"/>
                        <a:t>ICE billing assessment 2 Person team (Warren and I) that started the 5 year $20M+ journey. Decision on Peoplesoft Customization vs ORMB vs Suntec. We recommended ORMB</a:t>
                      </a:r>
                      <a:endParaRPr sz="1000"/>
                    </a:p>
                  </a:txBody>
                  <a:tcPr marT="36000" marB="36000" marR="91425" marL="91425"/>
                </a:tc>
                <a:tc>
                  <a:txBody>
                    <a:bodyPr/>
                    <a:lstStyle/>
                    <a:p>
                      <a:pPr indent="-292100" lvl="0" marL="457200" rtl="0" algn="l">
                        <a:spcBef>
                          <a:spcPts val="0"/>
                        </a:spcBef>
                        <a:spcAft>
                          <a:spcPts val="0"/>
                        </a:spcAft>
                        <a:buSzPts val="1000"/>
                        <a:buAutoNum type="arabicPeriod"/>
                      </a:pPr>
                      <a:r>
                        <a:rPr lang="en-GB" sz="1000"/>
                        <a:t>Vendor selection</a:t>
                      </a:r>
                      <a:endParaRPr sz="1000"/>
                    </a:p>
                    <a:p>
                      <a:pPr indent="-292100" lvl="0" marL="457200" rtl="0" algn="l">
                        <a:spcBef>
                          <a:spcPts val="0"/>
                        </a:spcBef>
                        <a:spcAft>
                          <a:spcPts val="0"/>
                        </a:spcAft>
                        <a:buSzPts val="1000"/>
                        <a:buAutoNum type="arabicPeriod"/>
                      </a:pPr>
                      <a:r>
                        <a:rPr lang="en-GB" sz="1000"/>
                        <a:t>ORMB</a:t>
                      </a:r>
                      <a:endParaRPr sz="1000"/>
                    </a:p>
                  </a:txBody>
                  <a:tcPr marT="36000" marB="36000" marR="91425" marL="91425"/>
                </a:tc>
              </a:tr>
              <a:tr h="381000">
                <a:tc>
                  <a:txBody>
                    <a:bodyPr/>
                    <a:lstStyle/>
                    <a:p>
                      <a:pPr indent="0" lvl="0" marL="0" rtl="0" algn="l">
                        <a:spcBef>
                          <a:spcPts val="0"/>
                        </a:spcBef>
                        <a:spcAft>
                          <a:spcPts val="0"/>
                        </a:spcAft>
                        <a:buNone/>
                      </a:pPr>
                      <a:r>
                        <a:rPr lang="en-GB" sz="1000"/>
                        <a:t>2014</a:t>
                      </a:r>
                      <a:endParaRPr sz="1000"/>
                    </a:p>
                  </a:txBody>
                  <a:tcPr marT="36000" marB="36000" marR="91425" marL="91425"/>
                </a:tc>
                <a:tc>
                  <a:txBody>
                    <a:bodyPr/>
                    <a:lstStyle/>
                    <a:p>
                      <a:pPr indent="0" lvl="0" marL="35999" rtl="0" algn="l">
                        <a:spcBef>
                          <a:spcPts val="0"/>
                        </a:spcBef>
                        <a:spcAft>
                          <a:spcPts val="0"/>
                        </a:spcAft>
                        <a:buNone/>
                      </a:pPr>
                      <a:r>
                        <a:rPr lang="en-GB" sz="1000"/>
                        <a:t>Fidelity</a:t>
                      </a:r>
                      <a:endParaRPr sz="1000"/>
                    </a:p>
                  </a:txBody>
                  <a:tcPr marT="36000" marB="36000" marR="91425" marL="91425"/>
                </a:tc>
                <a:tc>
                  <a:txBody>
                    <a:bodyPr/>
                    <a:lstStyle/>
                    <a:p>
                      <a:pPr indent="-113899" lvl="0" marL="100799" rtl="0" algn="l">
                        <a:spcBef>
                          <a:spcPts val="0"/>
                        </a:spcBef>
                        <a:spcAft>
                          <a:spcPts val="0"/>
                        </a:spcAft>
                        <a:buSzPts val="1000"/>
                        <a:buChar char="●"/>
                      </a:pPr>
                      <a:r>
                        <a:rPr lang="en-GB" sz="1000"/>
                        <a:t>Fidelity O2C Assessment</a:t>
                      </a:r>
                      <a:endParaRPr sz="1000"/>
                    </a:p>
                    <a:p>
                      <a:pPr indent="-113899" lvl="0" marL="100799" rtl="0" algn="l">
                        <a:spcBef>
                          <a:spcPts val="0"/>
                        </a:spcBef>
                        <a:spcAft>
                          <a:spcPts val="0"/>
                        </a:spcAft>
                        <a:buSzPts val="1000"/>
                        <a:buChar char="●"/>
                      </a:pPr>
                      <a:r>
                        <a:rPr lang="en-GB" sz="1000"/>
                        <a:t>Two person team (Joe and I). Joe’s intro to billing</a:t>
                      </a:r>
                      <a:endParaRPr sz="1000"/>
                    </a:p>
                  </a:txBody>
                  <a:tcPr marT="36000" marB="36000" marR="91425" marL="91425"/>
                </a:tc>
                <a:tc>
                  <a:txBody>
                    <a:bodyPr/>
                    <a:lstStyle/>
                    <a:p>
                      <a:pPr indent="-292100" lvl="0" marL="457200" rtl="0" algn="l">
                        <a:spcBef>
                          <a:spcPts val="0"/>
                        </a:spcBef>
                        <a:spcAft>
                          <a:spcPts val="0"/>
                        </a:spcAft>
                        <a:buSzPts val="1000"/>
                        <a:buAutoNum type="arabicPeriod"/>
                      </a:pPr>
                      <a:r>
                        <a:rPr lang="en-GB" sz="1000">
                          <a:solidFill>
                            <a:schemeClr val="dk1"/>
                          </a:solidFill>
                        </a:rPr>
                        <a:t>O2C Assessment</a:t>
                      </a:r>
                      <a:endParaRPr sz="1000">
                        <a:solidFill>
                          <a:schemeClr val="dk1"/>
                        </a:solidFill>
                      </a:endParaRPr>
                    </a:p>
                    <a:p>
                      <a:pPr indent="-292100" lvl="0" marL="457200" rtl="0" algn="l">
                        <a:spcBef>
                          <a:spcPts val="0"/>
                        </a:spcBef>
                        <a:spcAft>
                          <a:spcPts val="0"/>
                        </a:spcAft>
                        <a:buSzPts val="1000"/>
                        <a:buAutoNum type="arabicPeriod"/>
                      </a:pPr>
                      <a:r>
                        <a:rPr lang="en-GB" sz="1000">
                          <a:solidFill>
                            <a:schemeClr val="dk1"/>
                          </a:solidFill>
                        </a:rPr>
                        <a:t>Non tech O2C Process Design</a:t>
                      </a:r>
                      <a:endParaRPr sz="1000"/>
                    </a:p>
                    <a:p>
                      <a:pPr indent="-292100" lvl="0" marL="457200" rtl="0" algn="l">
                        <a:spcBef>
                          <a:spcPts val="0"/>
                        </a:spcBef>
                        <a:spcAft>
                          <a:spcPts val="0"/>
                        </a:spcAft>
                        <a:buSzPts val="1000"/>
                        <a:buAutoNum type="arabicPeriod"/>
                      </a:pPr>
                      <a:r>
                        <a:rPr lang="en-GB" sz="1000"/>
                        <a:t>Billing Technology Consolidation </a:t>
                      </a:r>
                      <a:endParaRPr sz="1000"/>
                    </a:p>
                  </a:txBody>
                  <a:tcPr marT="36000" marB="36000" marR="91425" marL="91425"/>
                </a:tc>
              </a:tr>
              <a:tr h="429150">
                <a:tc>
                  <a:txBody>
                    <a:bodyPr/>
                    <a:lstStyle/>
                    <a:p>
                      <a:pPr indent="0" lvl="0" marL="0" rtl="0" algn="l">
                        <a:spcBef>
                          <a:spcPts val="0"/>
                        </a:spcBef>
                        <a:spcAft>
                          <a:spcPts val="0"/>
                        </a:spcAft>
                        <a:buNone/>
                      </a:pPr>
                      <a:r>
                        <a:rPr lang="en-GB" sz="1000"/>
                        <a:t>2014</a:t>
                      </a:r>
                      <a:endParaRPr sz="1000"/>
                    </a:p>
                  </a:txBody>
                  <a:tcPr marT="36000" marB="36000" marR="91425" marL="91425"/>
                </a:tc>
                <a:tc>
                  <a:txBody>
                    <a:bodyPr/>
                    <a:lstStyle/>
                    <a:p>
                      <a:pPr indent="0" lvl="0" marL="0" rtl="0" algn="l">
                        <a:spcBef>
                          <a:spcPts val="0"/>
                        </a:spcBef>
                        <a:spcAft>
                          <a:spcPts val="0"/>
                        </a:spcAft>
                        <a:buNone/>
                      </a:pPr>
                      <a:r>
                        <a:rPr lang="en-GB" sz="1000"/>
                        <a:t>ICE</a:t>
                      </a:r>
                      <a:endParaRPr sz="1000"/>
                    </a:p>
                  </a:txBody>
                  <a:tcPr marT="36000" marB="36000" marR="91425" marL="91425"/>
                </a:tc>
                <a:tc>
                  <a:txBody>
                    <a:bodyPr/>
                    <a:lstStyle/>
                    <a:p>
                      <a:pPr indent="-113899" lvl="0" marL="100799" rtl="0" algn="l">
                        <a:spcBef>
                          <a:spcPts val="0"/>
                        </a:spcBef>
                        <a:spcAft>
                          <a:spcPts val="0"/>
                        </a:spcAft>
                        <a:buSzPts val="1000"/>
                        <a:buChar char="●"/>
                      </a:pPr>
                      <a:r>
                        <a:rPr lang="en-GB" sz="1000"/>
                        <a:t>Project Launch - Warren, Joe, Myself discussing prototypes</a:t>
                      </a:r>
                      <a:endParaRPr sz="1000"/>
                    </a:p>
                    <a:p>
                      <a:pPr indent="-113899" lvl="0" marL="100799" rtl="0" algn="l">
                        <a:spcBef>
                          <a:spcPts val="0"/>
                        </a:spcBef>
                        <a:spcAft>
                          <a:spcPts val="0"/>
                        </a:spcAft>
                        <a:buSzPts val="1000"/>
                        <a:buChar char="●"/>
                      </a:pPr>
                      <a:r>
                        <a:rPr lang="en-GB" sz="1000"/>
                        <a:t>Later Sunil + team join</a:t>
                      </a:r>
                      <a:endParaRPr sz="1000"/>
                    </a:p>
                  </a:txBody>
                  <a:tcPr marT="36000" marB="36000" marR="91425" marL="91425"/>
                </a:tc>
                <a:tc>
                  <a:txBody>
                    <a:bodyPr/>
                    <a:lstStyle/>
                    <a:p>
                      <a:pPr indent="-292100" lvl="0" marL="457200" rtl="0" algn="l">
                        <a:spcBef>
                          <a:spcPts val="0"/>
                        </a:spcBef>
                        <a:spcAft>
                          <a:spcPts val="0"/>
                        </a:spcAft>
                        <a:buSzPts val="1000"/>
                        <a:buAutoNum type="arabicPeriod"/>
                      </a:pPr>
                      <a:r>
                        <a:rPr lang="en-GB" sz="1000"/>
                        <a:t>ORMB Functional</a:t>
                      </a:r>
                      <a:endParaRPr sz="1000"/>
                    </a:p>
                  </a:txBody>
                  <a:tcPr marT="36000" marB="36000" marR="91425" marL="91425"/>
                </a:tc>
              </a:tr>
              <a:tr h="566950">
                <a:tc>
                  <a:txBody>
                    <a:bodyPr/>
                    <a:lstStyle/>
                    <a:p>
                      <a:pPr indent="0" lvl="0" marL="0" rtl="0" algn="l">
                        <a:spcBef>
                          <a:spcPts val="0"/>
                        </a:spcBef>
                        <a:spcAft>
                          <a:spcPts val="0"/>
                        </a:spcAft>
                        <a:buNone/>
                      </a:pPr>
                      <a:r>
                        <a:rPr lang="en-GB" sz="1000"/>
                        <a:t>2015</a:t>
                      </a:r>
                      <a:endParaRPr sz="1000"/>
                    </a:p>
                  </a:txBody>
                  <a:tcPr marT="36000" marB="36000" marR="91425" marL="91425"/>
                </a:tc>
                <a:tc>
                  <a:txBody>
                    <a:bodyPr/>
                    <a:lstStyle/>
                    <a:p>
                      <a:pPr indent="0" lvl="0" marL="0" rtl="0" algn="l">
                        <a:spcBef>
                          <a:spcPts val="0"/>
                        </a:spcBef>
                        <a:spcAft>
                          <a:spcPts val="0"/>
                        </a:spcAft>
                        <a:buNone/>
                      </a:pPr>
                      <a:r>
                        <a:rPr lang="en-GB" sz="1000"/>
                        <a:t>ICE US/ UK</a:t>
                      </a:r>
                      <a:endParaRPr sz="1000"/>
                    </a:p>
                  </a:txBody>
                  <a:tcPr marT="36000" marB="36000" marR="91425" marL="91425"/>
                </a:tc>
                <a:tc>
                  <a:txBody>
                    <a:bodyPr/>
                    <a:lstStyle/>
                    <a:p>
                      <a:pPr indent="-113899" lvl="0" marL="100799" rtl="0" algn="l">
                        <a:spcBef>
                          <a:spcPts val="0"/>
                        </a:spcBef>
                        <a:spcAft>
                          <a:spcPts val="0"/>
                        </a:spcAft>
                        <a:buSzPts val="1000"/>
                        <a:buChar char="●"/>
                      </a:pPr>
                      <a:r>
                        <a:rPr lang="en-GB" sz="1000"/>
                        <a:t>Ore (+team of mostly contractors) leads ICE US/UK Billing vs Sunil (+team of mostly contractors) leads all ICE US/UK A/R side. Joe oversees. We go live</a:t>
                      </a:r>
                      <a:endParaRPr sz="1000"/>
                    </a:p>
                  </a:txBody>
                  <a:tcPr marT="36000" marB="36000" marR="91425" marL="91425"/>
                </a:tc>
                <a:tc>
                  <a:txBody>
                    <a:bodyPr/>
                    <a:lstStyle/>
                    <a:p>
                      <a:pPr indent="-292100" lvl="0" marL="457200" rtl="0" algn="l">
                        <a:spcBef>
                          <a:spcPts val="0"/>
                        </a:spcBef>
                        <a:spcAft>
                          <a:spcPts val="0"/>
                        </a:spcAft>
                        <a:buSzPts val="1000"/>
                        <a:buAutoNum type="arabicPeriod"/>
                      </a:pPr>
                      <a:r>
                        <a:rPr lang="en-GB" sz="1000"/>
                        <a:t>ORMB Functional</a:t>
                      </a:r>
                      <a:endParaRPr sz="1000"/>
                    </a:p>
                  </a:txBody>
                  <a:tcPr marT="36000" marB="36000" marR="91425" marL="91425"/>
                </a:tc>
              </a:tr>
              <a:tr h="381000">
                <a:tc>
                  <a:txBody>
                    <a:bodyPr/>
                    <a:lstStyle/>
                    <a:p>
                      <a:pPr indent="0" lvl="0" marL="0" rtl="0" algn="l">
                        <a:spcBef>
                          <a:spcPts val="0"/>
                        </a:spcBef>
                        <a:spcAft>
                          <a:spcPts val="0"/>
                        </a:spcAft>
                        <a:buNone/>
                      </a:pPr>
                      <a:r>
                        <a:rPr lang="en-GB" sz="1000"/>
                        <a:t>2016</a:t>
                      </a:r>
                      <a:endParaRPr sz="1000"/>
                    </a:p>
                  </a:txBody>
                  <a:tcPr marT="36000" marB="36000"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000"/>
                        <a:t>NYSE</a:t>
                      </a:r>
                      <a:endParaRPr sz="1000"/>
                    </a:p>
                  </a:txBody>
                  <a:tcPr marT="36000" marB="36000" marR="91425" marL="91425">
                    <a:lnB cap="flat" cmpd="sng" w="9525">
                      <a:solidFill>
                        <a:srgbClr val="9E9E9E"/>
                      </a:solidFill>
                      <a:prstDash val="solid"/>
                      <a:round/>
                      <a:headEnd len="sm" w="sm" type="none"/>
                      <a:tailEnd len="sm" w="sm" type="none"/>
                    </a:lnB>
                  </a:tcPr>
                </a:tc>
                <a:tc>
                  <a:txBody>
                    <a:bodyPr/>
                    <a:lstStyle/>
                    <a:p>
                      <a:pPr indent="-113899" lvl="0" marL="100799" rtl="0" algn="l">
                        <a:spcBef>
                          <a:spcPts val="0"/>
                        </a:spcBef>
                        <a:spcAft>
                          <a:spcPts val="0"/>
                        </a:spcAft>
                        <a:buSzPts val="1000"/>
                        <a:buChar char="●"/>
                      </a:pPr>
                      <a:r>
                        <a:rPr lang="en-GB" sz="1000">
                          <a:solidFill>
                            <a:schemeClr val="dk1"/>
                          </a:solidFill>
                        </a:rPr>
                        <a:t>Since A/R is built. Sunil and I (+pwc team) split NYSE Billing Revenue streams. Joe oversees. We go live</a:t>
                      </a:r>
                      <a:endParaRPr sz="1000"/>
                    </a:p>
                  </a:txBody>
                  <a:tcPr marT="36000" marB="36000" marR="91425" marL="91425">
                    <a:lnB cap="flat" cmpd="sng" w="9525">
                      <a:solidFill>
                        <a:srgbClr val="9E9E9E"/>
                      </a:solidFill>
                      <a:prstDash val="solid"/>
                      <a:round/>
                      <a:headEnd len="sm" w="sm" type="none"/>
                      <a:tailEnd len="sm" w="sm" type="none"/>
                    </a:lnB>
                  </a:tcPr>
                </a:tc>
                <a:tc>
                  <a:txBody>
                    <a:bodyPr/>
                    <a:lstStyle/>
                    <a:p>
                      <a:pPr indent="-292100" lvl="0" marL="457200" rtl="0" algn="l">
                        <a:spcBef>
                          <a:spcPts val="0"/>
                        </a:spcBef>
                        <a:spcAft>
                          <a:spcPts val="0"/>
                        </a:spcAft>
                        <a:buSzPts val="1000"/>
                        <a:buAutoNum type="arabicPeriod"/>
                      </a:pPr>
                      <a:r>
                        <a:rPr lang="en-GB" sz="1000"/>
                        <a:t>ORMB Functional</a:t>
                      </a:r>
                      <a:endParaRPr sz="1000"/>
                    </a:p>
                  </a:txBody>
                  <a:tcPr marT="36000" marB="36000" marR="91425" marL="91425">
                    <a:lnB cap="flat" cmpd="sng" w="9525">
                      <a:solidFill>
                        <a:srgbClr val="9E9E9E"/>
                      </a:solidFill>
                      <a:prstDash val="solid"/>
                      <a:round/>
                      <a:headEnd len="sm" w="sm" type="none"/>
                      <a:tailEnd len="sm" w="sm" type="none"/>
                    </a:lnB>
                  </a:tcPr>
                </a:tc>
              </a:tr>
              <a:tr h="391475">
                <a:tc>
                  <a:txBody>
                    <a:bodyPr/>
                    <a:lstStyle/>
                    <a:p>
                      <a:pPr indent="0" lvl="0" marL="0" rtl="0" algn="l">
                        <a:spcBef>
                          <a:spcPts val="0"/>
                        </a:spcBef>
                        <a:spcAft>
                          <a:spcPts val="0"/>
                        </a:spcAft>
                        <a:buNone/>
                      </a:pPr>
                      <a:r>
                        <a:rPr lang="en-GB" sz="1000"/>
                        <a:t>2016</a:t>
                      </a:r>
                      <a:endParaRPr sz="1000"/>
                    </a:p>
                  </a:txBody>
                  <a:tcPr marT="36000" marB="36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000"/>
                        <a:t>Trayport (UK Only)</a:t>
                      </a:r>
                      <a:endParaRPr sz="1000"/>
                    </a:p>
                  </a:txBody>
                  <a:tcPr marT="36000" marB="36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13899" lvl="0" marL="100799" rtl="0" algn="l">
                        <a:spcBef>
                          <a:spcPts val="0"/>
                        </a:spcBef>
                        <a:spcAft>
                          <a:spcPts val="0"/>
                        </a:spcAft>
                        <a:buClr>
                          <a:schemeClr val="dk1"/>
                        </a:buClr>
                        <a:buSzPts val="1000"/>
                        <a:buChar char="●"/>
                      </a:pPr>
                      <a:r>
                        <a:rPr lang="en-GB" sz="1000">
                          <a:solidFill>
                            <a:schemeClr val="dk1"/>
                          </a:solidFill>
                        </a:rPr>
                        <a:t>Ore leads Trayport UK Only. Also resolving some ICE UK Go live residual issues. Joe oversees. We go live</a:t>
                      </a:r>
                      <a:endParaRPr sz="1000"/>
                    </a:p>
                  </a:txBody>
                  <a:tcPr marT="36000" marB="36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rtl="0" algn="l">
                        <a:spcBef>
                          <a:spcPts val="0"/>
                        </a:spcBef>
                        <a:spcAft>
                          <a:spcPts val="0"/>
                        </a:spcAft>
                        <a:buSzPts val="1000"/>
                        <a:buAutoNum type="arabicPeriod"/>
                      </a:pPr>
                      <a:r>
                        <a:rPr lang="en-GB" sz="1000"/>
                        <a:t>International Experience</a:t>
                      </a:r>
                      <a:endParaRPr sz="1000"/>
                    </a:p>
                  </a:txBody>
                  <a:tcPr marT="36000" marB="36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000"/>
                        <a:t>2017</a:t>
                      </a:r>
                      <a:endParaRPr sz="1000"/>
                    </a:p>
                  </a:txBody>
                  <a:tcPr marT="36000" marB="36000"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sz="1000"/>
                        <a:t>IDC US/UK</a:t>
                      </a:r>
                      <a:endParaRPr sz="1000"/>
                    </a:p>
                  </a:txBody>
                  <a:tcPr marT="36000" marB="36000" marR="91425" marL="91425">
                    <a:lnT cap="flat" cmpd="sng" w="9525">
                      <a:solidFill>
                        <a:srgbClr val="9E9E9E"/>
                      </a:solidFill>
                      <a:prstDash val="solid"/>
                      <a:round/>
                      <a:headEnd len="sm" w="sm" type="none"/>
                      <a:tailEnd len="sm" w="sm" type="none"/>
                    </a:lnT>
                  </a:tcPr>
                </a:tc>
                <a:tc>
                  <a:txBody>
                    <a:bodyPr/>
                    <a:lstStyle/>
                    <a:p>
                      <a:pPr indent="-113899" lvl="0" marL="100799" rtl="0" algn="l">
                        <a:spcBef>
                          <a:spcPts val="0"/>
                        </a:spcBef>
                        <a:spcAft>
                          <a:spcPts val="0"/>
                        </a:spcAft>
                        <a:buSzPts val="1000"/>
                        <a:buChar char="●"/>
                      </a:pPr>
                      <a:r>
                        <a:rPr lang="en-GB" sz="1000"/>
                        <a:t>Ore leads IDC UK, moves to UK to lead UK team; sunil leads IDCUS. Joe oversees We go live 2017 into 2018</a:t>
                      </a:r>
                      <a:endParaRPr sz="1000"/>
                    </a:p>
                  </a:txBody>
                  <a:tcPr marT="36000" marB="36000" marR="91425" marL="91425">
                    <a:lnT cap="flat" cmpd="sng" w="9525">
                      <a:solidFill>
                        <a:srgbClr val="9E9E9E"/>
                      </a:solidFill>
                      <a:prstDash val="solid"/>
                      <a:round/>
                      <a:headEnd len="sm" w="sm" type="none"/>
                      <a:tailEnd len="sm" w="sm" type="none"/>
                    </a:lnT>
                  </a:tcPr>
                </a:tc>
                <a:tc>
                  <a:txBody>
                    <a:bodyPr/>
                    <a:lstStyle/>
                    <a:p>
                      <a:pPr indent="-292100" lvl="0" marL="457200" rtl="0" algn="l">
                        <a:spcBef>
                          <a:spcPts val="0"/>
                        </a:spcBef>
                        <a:spcAft>
                          <a:spcPts val="0"/>
                        </a:spcAft>
                        <a:buSzPts val="1000"/>
                        <a:buAutoNum type="arabicPeriod"/>
                      </a:pPr>
                      <a:r>
                        <a:rPr lang="en-GB" sz="1000"/>
                        <a:t>International Experience</a:t>
                      </a:r>
                      <a:endParaRPr sz="1000"/>
                    </a:p>
                  </a:txBody>
                  <a:tcPr marT="36000" marB="36000"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GB" sz="1000"/>
                        <a:t>2018</a:t>
                      </a:r>
                      <a:endParaRPr sz="1000"/>
                    </a:p>
                  </a:txBody>
                  <a:tcPr marT="36000" marB="36000"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000"/>
                        <a:t>Visa</a:t>
                      </a:r>
                      <a:endParaRPr sz="1000"/>
                    </a:p>
                  </a:txBody>
                  <a:tcPr marT="36000" marB="36000" marR="91425" marL="91425">
                    <a:lnB cap="flat" cmpd="sng" w="9525">
                      <a:solidFill>
                        <a:srgbClr val="9E9E9E"/>
                      </a:solidFill>
                      <a:prstDash val="solid"/>
                      <a:round/>
                      <a:headEnd len="sm" w="sm" type="none"/>
                      <a:tailEnd len="sm" w="sm" type="none"/>
                    </a:lnB>
                  </a:tcPr>
                </a:tc>
                <a:tc>
                  <a:txBody>
                    <a:bodyPr/>
                    <a:lstStyle/>
                    <a:p>
                      <a:pPr indent="-113899" lvl="0" marL="100799" rtl="0" algn="l">
                        <a:spcBef>
                          <a:spcPts val="0"/>
                        </a:spcBef>
                        <a:spcAft>
                          <a:spcPts val="0"/>
                        </a:spcAft>
                        <a:buClr>
                          <a:schemeClr val="dk1"/>
                        </a:buClr>
                        <a:buSzPts val="1000"/>
                        <a:buChar char="●"/>
                      </a:pPr>
                      <a:r>
                        <a:rPr lang="en-GB" sz="1000">
                          <a:solidFill>
                            <a:schemeClr val="dk1"/>
                          </a:solidFill>
                        </a:rPr>
                        <a:t>Visa billing transformation Assessment (Ore leads team, Directed by Dave Crowell)</a:t>
                      </a:r>
                      <a:endParaRPr sz="1000"/>
                    </a:p>
                  </a:txBody>
                  <a:tcPr marT="36000" marB="36000" marR="91425" marL="91425">
                    <a:lnB cap="flat" cmpd="sng" w="9525">
                      <a:solidFill>
                        <a:srgbClr val="9E9E9E"/>
                      </a:solidFill>
                      <a:prstDash val="solid"/>
                      <a:round/>
                      <a:headEnd len="sm" w="sm" type="none"/>
                      <a:tailEnd len="sm" w="sm" type="none"/>
                    </a:lnB>
                  </a:tcPr>
                </a:tc>
                <a:tc>
                  <a:txBody>
                    <a:bodyPr/>
                    <a:lstStyle/>
                    <a:p>
                      <a:pPr indent="-292100" lvl="0" marL="457200" rtl="0" algn="l">
                        <a:spcBef>
                          <a:spcPts val="0"/>
                        </a:spcBef>
                        <a:spcAft>
                          <a:spcPts val="0"/>
                        </a:spcAft>
                        <a:buSzPts val="1000"/>
                        <a:buAutoNum type="arabicPeriod"/>
                      </a:pPr>
                      <a:r>
                        <a:rPr lang="en-GB" sz="1000"/>
                        <a:t>O2C Assessment (some ORMB)</a:t>
                      </a:r>
                      <a:endParaRPr sz="1000"/>
                    </a:p>
                  </a:txBody>
                  <a:tcPr marT="36000" marB="36000" marR="91425" marL="91425">
                    <a:lnB cap="flat" cmpd="sng" w="9525">
                      <a:solidFill>
                        <a:srgbClr val="9E9E9E"/>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GB" sz="1000"/>
                        <a:t>  </a:t>
                      </a:r>
                      <a:r>
                        <a:rPr lang="en-GB" sz="1000"/>
                        <a:t>2019</a:t>
                      </a:r>
                      <a:endParaRPr sz="1000"/>
                    </a:p>
                  </a:txBody>
                  <a:tcPr marT="36000" marB="3600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000"/>
                        <a:t>  </a:t>
                      </a:r>
                      <a:r>
                        <a:rPr lang="en-GB" sz="1000"/>
                        <a:t>NT</a:t>
                      </a:r>
                      <a:endParaRPr sz="1000"/>
                    </a:p>
                  </a:txBody>
                  <a:tcPr marT="36000" marB="3600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13901" lvl="0" marL="136800" rtl="0" algn="l">
                        <a:lnSpc>
                          <a:spcPct val="115000"/>
                        </a:lnSpc>
                        <a:spcBef>
                          <a:spcPts val="0"/>
                        </a:spcBef>
                        <a:spcAft>
                          <a:spcPts val="0"/>
                        </a:spcAft>
                        <a:buSzPts val="1000"/>
                        <a:buChar char="●"/>
                      </a:pPr>
                      <a:r>
                        <a:rPr lang="en-GB" sz="1000"/>
                        <a:t>Functional Design - Specific Areas</a:t>
                      </a:r>
                      <a:endParaRPr sz="1000">
                        <a:solidFill>
                          <a:schemeClr val="dk1"/>
                        </a:solidFill>
                      </a:endParaRPr>
                    </a:p>
                  </a:txBody>
                  <a:tcPr marT="36000" marB="3600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AutoNum type="arabicPeriod"/>
                      </a:pPr>
                      <a:r>
                        <a:rPr lang="en-GB" sz="1000"/>
                        <a:t>ORMB</a:t>
                      </a:r>
                      <a:endParaRPr sz="1000"/>
                    </a:p>
                  </a:txBody>
                  <a:tcPr marT="36000" marB="36000" marR="28575" marL="2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Potential Ptr Candidate review form-v3">
  <a:themeElements>
    <a:clrScheme name="PwC Burgundy">
      <a:dk1>
        <a:srgbClr val="000000"/>
      </a:dk1>
      <a:lt1>
        <a:srgbClr val="FFFFFF"/>
      </a:lt1>
      <a:dk2>
        <a:srgbClr val="A32020"/>
      </a:dk2>
      <a:lt2>
        <a:srgbClr val="FFFFFF"/>
      </a:lt2>
      <a:accent1>
        <a:srgbClr val="A32020"/>
      </a:accent1>
      <a:accent2>
        <a:srgbClr val="E0301E"/>
      </a:accent2>
      <a:accent3>
        <a:srgbClr val="602320"/>
      </a:accent3>
      <a:accent4>
        <a:srgbClr val="E27588"/>
      </a:accent4>
      <a:accent5>
        <a:srgbClr val="DC6900"/>
      </a:accent5>
      <a:accent6>
        <a:srgbClr val="FFB600"/>
      </a:accent6>
      <a:hlink>
        <a:srgbClr val="0000FF"/>
      </a:hlink>
      <a:folHlink>
        <a:srgbClr val="00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